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1"/>
  </p:sldMasterIdLst>
  <p:notesMasterIdLst>
    <p:notesMasterId r:id="rId3"/>
  </p:notesMasterIdLst>
  <p:sldIdLst>
    <p:sldId id="258" r:id="rId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232"/>
    <a:srgbClr val="4F8EF7"/>
    <a:srgbClr val="66686A"/>
    <a:srgbClr val="0F1117"/>
    <a:srgbClr val="222C43"/>
    <a:srgbClr val="3ECF8E"/>
    <a:srgbClr val="42464D"/>
    <a:srgbClr val="161B22"/>
    <a:srgbClr val="363A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1836" y="7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396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DE3AB-F654-99A0-36E3-58C3A54E3C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256DA8-2E3C-B96E-1548-5A7BAC53CC6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2ABE94B-B180-DFF7-96F6-05BB08B182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E9AEDC-9C9F-6A2C-82E9-13F8D3E961EE}"/>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4762184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699F68-109C-9953-6F4E-FE1B851BDB35}"/>
              </a:ext>
            </a:extLst>
          </p:cNvPr>
          <p:cNvSpPr txBox="1"/>
          <p:nvPr userDrawn="1">
            <p:extLst>
              <p:ext uri="{1162E1C5-73C7-4A58-AE30-91384D911F3F}">
                <p184:classification xmlns:p184="http://schemas.microsoft.com/office/powerpoint/2018/4/main" val="hdr"/>
              </p:ext>
            </p:extLst>
          </p:nvPr>
        </p:nvSpPr>
        <p:spPr>
          <a:xfrm>
            <a:off x="63500" y="63500"/>
            <a:ext cx="625475" cy="152400"/>
          </a:xfrm>
          <a:prstGeom prst="rect">
            <a:avLst/>
          </a:prstGeom>
        </p:spPr>
        <p:txBody>
          <a:bodyPr horzOverflow="overflow" lIns="0" tIns="0" rIns="0" bIns="0">
            <a:spAutoFit/>
          </a:bodyPr>
          <a:lstStyle/>
          <a:p>
            <a:pPr algn="l"/>
            <a:r>
              <a:rPr lang="en-GB" sz="1000">
                <a:solidFill>
                  <a:srgbClr val="000000">
                    <a:alpha val="50000"/>
                  </a:srgbClr>
                </a:solidFill>
                <a:latin typeface="Aptos" panose="020B0004020202020204" pitchFamily="34" charset="0"/>
              </a:rPr>
              <a:t>FCA Public</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C5B5F80A-F932-BA94-817F-7449734B705B}"/>
            </a:ext>
          </a:extLst>
        </p:cNvPr>
        <p:cNvGrpSpPr/>
        <p:nvPr/>
      </p:nvGrpSpPr>
      <p:grpSpPr>
        <a:xfrm>
          <a:off x="0" y="0"/>
          <a:ext cx="0" cy="0"/>
          <a:chOff x="0" y="0"/>
          <a:chExt cx="0" cy="0"/>
        </a:xfrm>
      </p:grpSpPr>
      <p:sp>
        <p:nvSpPr>
          <p:cNvPr id="13" name="Shape 23">
            <a:extLst>
              <a:ext uri="{FF2B5EF4-FFF2-40B4-BE49-F238E27FC236}">
                <a16:creationId xmlns:a16="http://schemas.microsoft.com/office/drawing/2014/main" id="{3EF4E259-9AF9-9337-639D-5A6A85BEEF03}"/>
              </a:ext>
            </a:extLst>
          </p:cNvPr>
          <p:cNvSpPr/>
          <p:nvPr/>
        </p:nvSpPr>
        <p:spPr>
          <a:xfrm>
            <a:off x="3310128" y="1402605"/>
            <a:ext cx="2606040" cy="168402"/>
          </a:xfrm>
          <a:prstGeom prst="snip2DiagRect">
            <a:avLst>
              <a:gd name="adj1" fmla="val 45249"/>
              <a:gd name="adj2" fmla="val 16667"/>
            </a:avLst>
          </a:prstGeom>
          <a:solidFill>
            <a:srgbClr val="66686A"/>
          </a:solidFill>
          <a:ln w="3810">
            <a:noFill/>
            <a:prstDash val="solid"/>
          </a:ln>
        </p:spPr>
        <p:txBody>
          <a:bodyPr/>
          <a:lstStyle/>
          <a:p>
            <a:endParaRPr lang="en-GB" dirty="0"/>
          </a:p>
        </p:txBody>
      </p:sp>
      <p:sp>
        <p:nvSpPr>
          <p:cNvPr id="14" name="Shape 23">
            <a:extLst>
              <a:ext uri="{FF2B5EF4-FFF2-40B4-BE49-F238E27FC236}">
                <a16:creationId xmlns:a16="http://schemas.microsoft.com/office/drawing/2014/main" id="{F2023888-A584-73E2-9AFC-AD5145FE4169}"/>
              </a:ext>
            </a:extLst>
          </p:cNvPr>
          <p:cNvSpPr/>
          <p:nvPr/>
        </p:nvSpPr>
        <p:spPr>
          <a:xfrm>
            <a:off x="3310128" y="1625871"/>
            <a:ext cx="2606040" cy="168402"/>
          </a:xfrm>
          <a:prstGeom prst="snip2DiagRect">
            <a:avLst>
              <a:gd name="adj1" fmla="val 45249"/>
              <a:gd name="adj2" fmla="val 16667"/>
            </a:avLst>
          </a:prstGeom>
          <a:solidFill>
            <a:srgbClr val="66686A"/>
          </a:solidFill>
          <a:ln w="3810">
            <a:noFill/>
            <a:prstDash val="solid"/>
          </a:ln>
        </p:spPr>
        <p:txBody>
          <a:bodyPr/>
          <a:lstStyle/>
          <a:p>
            <a:endParaRPr lang="en-GB" dirty="0"/>
          </a:p>
        </p:txBody>
      </p:sp>
      <p:sp>
        <p:nvSpPr>
          <p:cNvPr id="15" name="Shape 23">
            <a:extLst>
              <a:ext uri="{FF2B5EF4-FFF2-40B4-BE49-F238E27FC236}">
                <a16:creationId xmlns:a16="http://schemas.microsoft.com/office/drawing/2014/main" id="{481D175A-9192-6C6C-897E-0B30C32497BD}"/>
              </a:ext>
            </a:extLst>
          </p:cNvPr>
          <p:cNvSpPr/>
          <p:nvPr/>
        </p:nvSpPr>
        <p:spPr>
          <a:xfrm>
            <a:off x="3310128" y="1859408"/>
            <a:ext cx="2606040" cy="168402"/>
          </a:xfrm>
          <a:prstGeom prst="snip2DiagRect">
            <a:avLst>
              <a:gd name="adj1" fmla="val 45249"/>
              <a:gd name="adj2" fmla="val 16667"/>
            </a:avLst>
          </a:prstGeom>
          <a:solidFill>
            <a:srgbClr val="66686A"/>
          </a:solidFill>
          <a:ln w="3810">
            <a:noFill/>
            <a:prstDash val="solid"/>
          </a:ln>
        </p:spPr>
        <p:txBody>
          <a:bodyPr/>
          <a:lstStyle/>
          <a:p>
            <a:endParaRPr lang="en-GB" dirty="0"/>
          </a:p>
        </p:txBody>
      </p:sp>
      <p:sp>
        <p:nvSpPr>
          <p:cNvPr id="16" name="Shape 23">
            <a:extLst>
              <a:ext uri="{FF2B5EF4-FFF2-40B4-BE49-F238E27FC236}">
                <a16:creationId xmlns:a16="http://schemas.microsoft.com/office/drawing/2014/main" id="{6FD7B75E-4E64-6D5E-D9A7-D6AB5A44CCAB}"/>
              </a:ext>
            </a:extLst>
          </p:cNvPr>
          <p:cNvSpPr/>
          <p:nvPr/>
        </p:nvSpPr>
        <p:spPr>
          <a:xfrm>
            <a:off x="3310128" y="2070607"/>
            <a:ext cx="2606040" cy="168402"/>
          </a:xfrm>
          <a:prstGeom prst="snip2DiagRect">
            <a:avLst>
              <a:gd name="adj1" fmla="val 45249"/>
              <a:gd name="adj2" fmla="val 16667"/>
            </a:avLst>
          </a:prstGeom>
          <a:solidFill>
            <a:srgbClr val="66686A"/>
          </a:solidFill>
          <a:ln w="3810">
            <a:noFill/>
            <a:prstDash val="solid"/>
          </a:ln>
        </p:spPr>
        <p:txBody>
          <a:bodyPr/>
          <a:lstStyle/>
          <a:p>
            <a:endParaRPr lang="en-GB" dirty="0"/>
          </a:p>
        </p:txBody>
      </p:sp>
      <p:sp>
        <p:nvSpPr>
          <p:cNvPr id="17" name="Shape 23">
            <a:extLst>
              <a:ext uri="{FF2B5EF4-FFF2-40B4-BE49-F238E27FC236}">
                <a16:creationId xmlns:a16="http://schemas.microsoft.com/office/drawing/2014/main" id="{B962BC18-9124-EA33-2EF8-22E5C37A4CDF}"/>
              </a:ext>
            </a:extLst>
          </p:cNvPr>
          <p:cNvSpPr/>
          <p:nvPr/>
        </p:nvSpPr>
        <p:spPr>
          <a:xfrm>
            <a:off x="3310128" y="2304034"/>
            <a:ext cx="2606040" cy="168402"/>
          </a:xfrm>
          <a:prstGeom prst="snip2DiagRect">
            <a:avLst>
              <a:gd name="adj1" fmla="val 45249"/>
              <a:gd name="adj2" fmla="val 16667"/>
            </a:avLst>
          </a:prstGeom>
          <a:solidFill>
            <a:srgbClr val="66686A"/>
          </a:solidFill>
          <a:ln w="3810">
            <a:noFill/>
            <a:prstDash val="solid"/>
          </a:ln>
        </p:spPr>
        <p:txBody>
          <a:bodyPr/>
          <a:lstStyle/>
          <a:p>
            <a:endParaRPr lang="en-GB" dirty="0"/>
          </a:p>
        </p:txBody>
      </p:sp>
      <p:sp>
        <p:nvSpPr>
          <p:cNvPr id="18" name="Shape 23">
            <a:extLst>
              <a:ext uri="{FF2B5EF4-FFF2-40B4-BE49-F238E27FC236}">
                <a16:creationId xmlns:a16="http://schemas.microsoft.com/office/drawing/2014/main" id="{99C31C12-452C-939E-EAB8-23DD5B5F8F61}"/>
              </a:ext>
            </a:extLst>
          </p:cNvPr>
          <p:cNvSpPr/>
          <p:nvPr/>
        </p:nvSpPr>
        <p:spPr>
          <a:xfrm>
            <a:off x="3310128" y="2535683"/>
            <a:ext cx="2606040" cy="168402"/>
          </a:xfrm>
          <a:prstGeom prst="snip2DiagRect">
            <a:avLst>
              <a:gd name="adj1" fmla="val 45249"/>
              <a:gd name="adj2" fmla="val 16667"/>
            </a:avLst>
          </a:prstGeom>
          <a:solidFill>
            <a:srgbClr val="66686A"/>
          </a:solidFill>
          <a:ln w="3810">
            <a:noFill/>
            <a:prstDash val="solid"/>
          </a:ln>
        </p:spPr>
        <p:txBody>
          <a:bodyPr/>
          <a:lstStyle/>
          <a:p>
            <a:endParaRPr lang="en-GB" dirty="0"/>
          </a:p>
        </p:txBody>
      </p:sp>
      <p:sp>
        <p:nvSpPr>
          <p:cNvPr id="19" name="Shape 23">
            <a:extLst>
              <a:ext uri="{FF2B5EF4-FFF2-40B4-BE49-F238E27FC236}">
                <a16:creationId xmlns:a16="http://schemas.microsoft.com/office/drawing/2014/main" id="{5A434B5A-AAE3-8DED-BD40-358DC31485BC}"/>
              </a:ext>
            </a:extLst>
          </p:cNvPr>
          <p:cNvSpPr/>
          <p:nvPr/>
        </p:nvSpPr>
        <p:spPr>
          <a:xfrm>
            <a:off x="3310128" y="2750439"/>
            <a:ext cx="2606040" cy="168402"/>
          </a:xfrm>
          <a:prstGeom prst="snip2DiagRect">
            <a:avLst>
              <a:gd name="adj1" fmla="val 45249"/>
              <a:gd name="adj2" fmla="val 16667"/>
            </a:avLst>
          </a:prstGeom>
          <a:solidFill>
            <a:srgbClr val="66686A"/>
          </a:solidFill>
          <a:ln w="3810">
            <a:noFill/>
            <a:prstDash val="solid"/>
          </a:ln>
        </p:spPr>
        <p:txBody>
          <a:bodyPr/>
          <a:lstStyle/>
          <a:p>
            <a:endParaRPr lang="en-GB" dirty="0"/>
          </a:p>
        </p:txBody>
      </p:sp>
      <p:sp>
        <p:nvSpPr>
          <p:cNvPr id="12" name="Shape 23">
            <a:extLst>
              <a:ext uri="{FF2B5EF4-FFF2-40B4-BE49-F238E27FC236}">
                <a16:creationId xmlns:a16="http://schemas.microsoft.com/office/drawing/2014/main" id="{078747CE-CB69-8223-1086-2A188F5CC4E5}"/>
              </a:ext>
            </a:extLst>
          </p:cNvPr>
          <p:cNvSpPr/>
          <p:nvPr/>
        </p:nvSpPr>
        <p:spPr>
          <a:xfrm>
            <a:off x="3310128" y="1183386"/>
            <a:ext cx="2606040" cy="168402"/>
          </a:xfrm>
          <a:prstGeom prst="snip2DiagRect">
            <a:avLst>
              <a:gd name="adj1" fmla="val 45249"/>
              <a:gd name="adj2" fmla="val 16667"/>
            </a:avLst>
          </a:prstGeom>
          <a:solidFill>
            <a:srgbClr val="66686A"/>
          </a:solidFill>
          <a:ln w="3810">
            <a:noFill/>
            <a:prstDash val="solid"/>
          </a:ln>
        </p:spPr>
        <p:txBody>
          <a:bodyPr/>
          <a:lstStyle/>
          <a:p>
            <a:endParaRPr lang="en-GB" dirty="0"/>
          </a:p>
        </p:txBody>
      </p:sp>
      <p:sp>
        <p:nvSpPr>
          <p:cNvPr id="2" name="Shape 0">
            <a:extLst>
              <a:ext uri="{FF2B5EF4-FFF2-40B4-BE49-F238E27FC236}">
                <a16:creationId xmlns:a16="http://schemas.microsoft.com/office/drawing/2014/main" id="{0697C9E9-8385-EA2E-8D0F-686C1027A63E}"/>
              </a:ext>
            </a:extLst>
          </p:cNvPr>
          <p:cNvSpPr/>
          <p:nvPr/>
        </p:nvSpPr>
        <p:spPr>
          <a:xfrm>
            <a:off x="0" y="-18288"/>
            <a:ext cx="9144000" cy="506983"/>
          </a:xfrm>
          <a:prstGeom prst="rect">
            <a:avLst/>
          </a:prstGeom>
          <a:solidFill>
            <a:srgbClr val="161B22"/>
          </a:solidFill>
          <a:ln w="6350">
            <a:solidFill>
              <a:srgbClr val="21262D"/>
            </a:solidFill>
            <a:prstDash val="solid"/>
          </a:ln>
        </p:spPr>
        <p:txBody>
          <a:bodyPr/>
          <a:lstStyle/>
          <a:p>
            <a:endParaRPr lang="en-GB"/>
          </a:p>
        </p:txBody>
      </p:sp>
      <p:sp>
        <p:nvSpPr>
          <p:cNvPr id="3" name="Text 1">
            <a:extLst>
              <a:ext uri="{FF2B5EF4-FFF2-40B4-BE49-F238E27FC236}">
                <a16:creationId xmlns:a16="http://schemas.microsoft.com/office/drawing/2014/main" id="{55C90D68-264E-9953-BEB8-06399DCBFC65}"/>
              </a:ext>
            </a:extLst>
          </p:cNvPr>
          <p:cNvSpPr/>
          <p:nvPr/>
        </p:nvSpPr>
        <p:spPr>
          <a:xfrm>
            <a:off x="292607" y="0"/>
            <a:ext cx="3845897" cy="477525"/>
          </a:xfrm>
          <a:prstGeom prst="rect">
            <a:avLst/>
          </a:prstGeom>
          <a:noFill/>
          <a:ln/>
        </p:spPr>
        <p:txBody>
          <a:bodyPr wrap="square" lIns="0" tIns="0" rIns="0" bIns="0" rtlCol="0" anchor="ctr"/>
          <a:lstStyle/>
          <a:p>
            <a:pPr marL="0" indent="0">
              <a:buNone/>
            </a:pPr>
            <a:r>
              <a:rPr lang="en-US" sz="2000" b="1" dirty="0">
                <a:solidFill>
                  <a:srgbClr val="E8ECF4"/>
                </a:solidFill>
                <a:latin typeface="Calibri" pitchFamily="34" charset="0"/>
                <a:ea typeface="Calibri" pitchFamily="34" charset="-122"/>
                <a:cs typeface="Calibri" pitchFamily="34" charset="-120"/>
              </a:rPr>
              <a:t>Model: Random Forest Classifier</a:t>
            </a:r>
            <a:endParaRPr lang="en-US" sz="2000" dirty="0"/>
          </a:p>
        </p:txBody>
      </p:sp>
      <p:sp>
        <p:nvSpPr>
          <p:cNvPr id="4" name="Text 2">
            <a:extLst>
              <a:ext uri="{FF2B5EF4-FFF2-40B4-BE49-F238E27FC236}">
                <a16:creationId xmlns:a16="http://schemas.microsoft.com/office/drawing/2014/main" id="{96A261BC-52F7-31E1-EFCC-FAC6481379BE}"/>
              </a:ext>
            </a:extLst>
          </p:cNvPr>
          <p:cNvSpPr/>
          <p:nvPr/>
        </p:nvSpPr>
        <p:spPr>
          <a:xfrm>
            <a:off x="3200400" y="0"/>
            <a:ext cx="5669280" cy="488695"/>
          </a:xfrm>
          <a:prstGeom prst="rect">
            <a:avLst/>
          </a:prstGeom>
          <a:noFill/>
          <a:ln/>
        </p:spPr>
        <p:txBody>
          <a:bodyPr wrap="square" lIns="0" tIns="0" rIns="0" bIns="0" rtlCol="0" anchor="ctr"/>
          <a:lstStyle/>
          <a:p>
            <a:pPr marL="0" indent="0" algn="r">
              <a:buNone/>
            </a:pPr>
            <a:r>
              <a:rPr lang="en-US" sz="1100" dirty="0">
                <a:solidFill>
                  <a:srgbClr val="8892A4"/>
                </a:solidFill>
                <a:latin typeface="Calibri" pitchFamily="34" charset="0"/>
                <a:ea typeface="Calibri" pitchFamily="34" charset="-122"/>
                <a:cs typeface="Calibri" pitchFamily="34" charset="-120"/>
              </a:rPr>
              <a:t>COVID-19 Diagnosis Prediction  | L7 Hackathon</a:t>
            </a:r>
            <a:endParaRPr lang="en-US" sz="1100" dirty="0"/>
          </a:p>
        </p:txBody>
      </p:sp>
      <p:sp>
        <p:nvSpPr>
          <p:cNvPr id="5" name="Text 3">
            <a:extLst>
              <a:ext uri="{FF2B5EF4-FFF2-40B4-BE49-F238E27FC236}">
                <a16:creationId xmlns:a16="http://schemas.microsoft.com/office/drawing/2014/main" id="{DBB631BD-FD11-4F9F-07BA-EAFA908EEA1B}"/>
              </a:ext>
            </a:extLst>
          </p:cNvPr>
          <p:cNvSpPr/>
          <p:nvPr/>
        </p:nvSpPr>
        <p:spPr>
          <a:xfrm>
            <a:off x="256032" y="509397"/>
            <a:ext cx="2651760" cy="201168"/>
          </a:xfrm>
          <a:prstGeom prst="rect">
            <a:avLst/>
          </a:prstGeom>
          <a:noFill/>
          <a:ln/>
        </p:spPr>
        <p:txBody>
          <a:bodyPr wrap="square" rtlCol="0" anchor="ctr"/>
          <a:lstStyle/>
          <a:p>
            <a:pPr marL="0" indent="0">
              <a:buNone/>
            </a:pPr>
            <a:r>
              <a:rPr lang="en-US" sz="750" b="1" kern="0" spc="200" dirty="0">
                <a:solidFill>
                  <a:srgbClr val="CC3232"/>
                </a:solidFill>
                <a:latin typeface="Calibri" pitchFamily="34" charset="0"/>
                <a:ea typeface="Calibri" pitchFamily="34" charset="-122"/>
                <a:cs typeface="Calibri" pitchFamily="34" charset="-120"/>
              </a:rPr>
              <a:t>PERFORMANCE METRICS</a:t>
            </a:r>
            <a:endParaRPr lang="en-US" sz="750" b="1" dirty="0">
              <a:solidFill>
                <a:srgbClr val="CC3232"/>
              </a:solidFill>
            </a:endParaRPr>
          </a:p>
        </p:txBody>
      </p:sp>
      <p:sp>
        <p:nvSpPr>
          <p:cNvPr id="6" name="Shape 4">
            <a:extLst>
              <a:ext uri="{FF2B5EF4-FFF2-40B4-BE49-F238E27FC236}">
                <a16:creationId xmlns:a16="http://schemas.microsoft.com/office/drawing/2014/main" id="{A370294C-236F-1000-FFA3-9129AE9C633E}"/>
              </a:ext>
            </a:extLst>
          </p:cNvPr>
          <p:cNvSpPr/>
          <p:nvPr/>
        </p:nvSpPr>
        <p:spPr>
          <a:xfrm>
            <a:off x="246888" y="753825"/>
            <a:ext cx="2670048" cy="831222"/>
          </a:xfrm>
          <a:prstGeom prst="roundRect">
            <a:avLst/>
          </a:prstGeom>
          <a:solidFill>
            <a:srgbClr val="161B22"/>
          </a:solidFill>
          <a:ln w="12700">
            <a:solidFill>
              <a:srgbClr val="161B22"/>
            </a:solidFill>
            <a:prstDash val="solid"/>
          </a:ln>
        </p:spPr>
        <p:txBody>
          <a:bodyPr/>
          <a:lstStyle/>
          <a:p>
            <a:endParaRPr lang="en-GB"/>
          </a:p>
        </p:txBody>
      </p:sp>
      <p:sp>
        <p:nvSpPr>
          <p:cNvPr id="7" name="Text 5">
            <a:extLst>
              <a:ext uri="{FF2B5EF4-FFF2-40B4-BE49-F238E27FC236}">
                <a16:creationId xmlns:a16="http://schemas.microsoft.com/office/drawing/2014/main" id="{1E6B4381-4601-154A-2EDC-B2FE698A0C04}"/>
              </a:ext>
            </a:extLst>
          </p:cNvPr>
          <p:cNvSpPr/>
          <p:nvPr/>
        </p:nvSpPr>
        <p:spPr>
          <a:xfrm>
            <a:off x="256032" y="810051"/>
            <a:ext cx="2651760" cy="527010"/>
          </a:xfrm>
          <a:prstGeom prst="rect">
            <a:avLst/>
          </a:prstGeom>
          <a:noFill/>
          <a:ln/>
        </p:spPr>
        <p:txBody>
          <a:bodyPr wrap="square" rtlCol="0" anchor="ctr"/>
          <a:lstStyle/>
          <a:p>
            <a:pPr marL="0" indent="0" algn="ctr">
              <a:buNone/>
            </a:pPr>
            <a:r>
              <a:rPr lang="en-US" sz="3800" b="1" dirty="0">
                <a:solidFill>
                  <a:srgbClr val="4F8EF7"/>
                </a:solidFill>
                <a:latin typeface="Calibri" pitchFamily="34" charset="0"/>
                <a:ea typeface="Calibri" pitchFamily="34" charset="-122"/>
                <a:cs typeface="Calibri" pitchFamily="34" charset="-120"/>
              </a:rPr>
              <a:t>0.9102</a:t>
            </a:r>
            <a:endParaRPr lang="en-US" sz="3800" dirty="0"/>
          </a:p>
        </p:txBody>
      </p:sp>
      <p:sp>
        <p:nvSpPr>
          <p:cNvPr id="8" name="Text 6">
            <a:extLst>
              <a:ext uri="{FF2B5EF4-FFF2-40B4-BE49-F238E27FC236}">
                <a16:creationId xmlns:a16="http://schemas.microsoft.com/office/drawing/2014/main" id="{02EAD47F-7BC1-49F4-17CC-767DFAFDD5C5}"/>
              </a:ext>
            </a:extLst>
          </p:cNvPr>
          <p:cNvSpPr/>
          <p:nvPr/>
        </p:nvSpPr>
        <p:spPr>
          <a:xfrm>
            <a:off x="256032" y="1278855"/>
            <a:ext cx="2651760" cy="274320"/>
          </a:xfrm>
          <a:prstGeom prst="rect">
            <a:avLst/>
          </a:prstGeom>
          <a:noFill/>
          <a:ln/>
        </p:spPr>
        <p:txBody>
          <a:bodyPr wrap="square" rtlCol="0" anchor="ctr"/>
          <a:lstStyle/>
          <a:p>
            <a:pPr marL="0" indent="0" algn="ctr">
              <a:buNone/>
            </a:pPr>
            <a:r>
              <a:rPr lang="en-US" sz="900" dirty="0">
                <a:solidFill>
                  <a:srgbClr val="8892A4"/>
                </a:solidFill>
                <a:latin typeface="Calibri" pitchFamily="34" charset="0"/>
                <a:ea typeface="Calibri" pitchFamily="34" charset="-122"/>
                <a:cs typeface="Calibri" pitchFamily="34" charset="-120"/>
              </a:rPr>
              <a:t>ROC-AUC  | 55k Test Set | 0.25 Decision Threshold</a:t>
            </a:r>
            <a:endParaRPr lang="en-US" sz="900" dirty="0"/>
          </a:p>
        </p:txBody>
      </p:sp>
      <p:sp>
        <p:nvSpPr>
          <p:cNvPr id="9" name="Shape 7">
            <a:extLst>
              <a:ext uri="{FF2B5EF4-FFF2-40B4-BE49-F238E27FC236}">
                <a16:creationId xmlns:a16="http://schemas.microsoft.com/office/drawing/2014/main" id="{B8EA2632-4B9F-CA85-48AB-9E878F94F1DA}"/>
              </a:ext>
            </a:extLst>
          </p:cNvPr>
          <p:cNvSpPr/>
          <p:nvPr/>
        </p:nvSpPr>
        <p:spPr>
          <a:xfrm>
            <a:off x="256032" y="1679195"/>
            <a:ext cx="620268" cy="385630"/>
          </a:xfrm>
          <a:prstGeom prst="roundRect">
            <a:avLst/>
          </a:prstGeom>
          <a:solidFill>
            <a:srgbClr val="42464D">
              <a:alpha val="90000"/>
            </a:srgbClr>
          </a:solidFill>
          <a:ln w="6350">
            <a:noFill/>
            <a:prstDash val="solid"/>
          </a:ln>
        </p:spPr>
        <p:txBody>
          <a:bodyPr/>
          <a:lstStyle/>
          <a:p>
            <a:endParaRPr lang="en-GB"/>
          </a:p>
        </p:txBody>
      </p:sp>
      <p:sp>
        <p:nvSpPr>
          <p:cNvPr id="10" name="Text 8">
            <a:extLst>
              <a:ext uri="{FF2B5EF4-FFF2-40B4-BE49-F238E27FC236}">
                <a16:creationId xmlns:a16="http://schemas.microsoft.com/office/drawing/2014/main" id="{DD2AFA8C-85DA-5EF9-0B83-70927DFCAA7E}"/>
              </a:ext>
            </a:extLst>
          </p:cNvPr>
          <p:cNvSpPr/>
          <p:nvPr/>
        </p:nvSpPr>
        <p:spPr>
          <a:xfrm>
            <a:off x="256032" y="1657251"/>
            <a:ext cx="620268" cy="329184"/>
          </a:xfrm>
          <a:prstGeom prst="rect">
            <a:avLst/>
          </a:prstGeom>
          <a:noFill/>
          <a:ln/>
        </p:spPr>
        <p:txBody>
          <a:bodyPr wrap="square"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0.680</a:t>
            </a:r>
            <a:endParaRPr lang="en-US" sz="1400" dirty="0">
              <a:solidFill>
                <a:schemeClr val="bg1"/>
              </a:solidFill>
            </a:endParaRPr>
          </a:p>
        </p:txBody>
      </p:sp>
      <p:sp>
        <p:nvSpPr>
          <p:cNvPr id="11" name="Text 9">
            <a:extLst>
              <a:ext uri="{FF2B5EF4-FFF2-40B4-BE49-F238E27FC236}">
                <a16:creationId xmlns:a16="http://schemas.microsoft.com/office/drawing/2014/main" id="{734A54EC-6FCA-1F91-8761-0B883692C3C7}"/>
              </a:ext>
            </a:extLst>
          </p:cNvPr>
          <p:cNvSpPr/>
          <p:nvPr/>
        </p:nvSpPr>
        <p:spPr>
          <a:xfrm>
            <a:off x="256032" y="1880683"/>
            <a:ext cx="620268" cy="201168"/>
          </a:xfrm>
          <a:prstGeom prst="rect">
            <a:avLst/>
          </a:prstGeom>
          <a:noFill/>
          <a:ln/>
        </p:spPr>
        <p:txBody>
          <a:bodyPr wrap="square" rtlCol="0" anchor="ctr"/>
          <a:lstStyle/>
          <a:p>
            <a:pPr marL="0" indent="0" algn="ctr">
              <a:buNone/>
            </a:pPr>
            <a:r>
              <a:rPr lang="en-US" sz="850" dirty="0">
                <a:solidFill>
                  <a:schemeClr val="bg1"/>
                </a:solidFill>
                <a:latin typeface="Calibri" pitchFamily="34" charset="0"/>
                <a:ea typeface="Calibri" pitchFamily="34" charset="-122"/>
                <a:cs typeface="Calibri" pitchFamily="34" charset="-120"/>
              </a:rPr>
              <a:t>PR-AUC</a:t>
            </a:r>
            <a:endParaRPr lang="en-US" sz="850" dirty="0">
              <a:solidFill>
                <a:schemeClr val="bg1"/>
              </a:solidFill>
            </a:endParaRPr>
          </a:p>
        </p:txBody>
      </p:sp>
      <p:sp>
        <p:nvSpPr>
          <p:cNvPr id="22" name="Text 20">
            <a:extLst>
              <a:ext uri="{FF2B5EF4-FFF2-40B4-BE49-F238E27FC236}">
                <a16:creationId xmlns:a16="http://schemas.microsoft.com/office/drawing/2014/main" id="{A3768AF1-6D75-76AC-9C8C-0A6D1BE912F3}"/>
              </a:ext>
            </a:extLst>
          </p:cNvPr>
          <p:cNvSpPr/>
          <p:nvPr/>
        </p:nvSpPr>
        <p:spPr>
          <a:xfrm>
            <a:off x="256032" y="2135200"/>
            <a:ext cx="2651760" cy="201168"/>
          </a:xfrm>
          <a:prstGeom prst="rect">
            <a:avLst/>
          </a:prstGeom>
          <a:noFill/>
          <a:ln/>
        </p:spPr>
        <p:txBody>
          <a:bodyPr wrap="square" rtlCol="0" anchor="ctr"/>
          <a:lstStyle/>
          <a:p>
            <a:pPr marL="0" indent="0">
              <a:buNone/>
            </a:pPr>
            <a:r>
              <a:rPr lang="en-US" sz="750" b="1" kern="0" spc="200" dirty="0">
                <a:solidFill>
                  <a:srgbClr val="CC3232"/>
                </a:solidFill>
                <a:latin typeface="Calibri" pitchFamily="34" charset="0"/>
                <a:ea typeface="Calibri" pitchFamily="34" charset="-122"/>
                <a:cs typeface="Calibri" pitchFamily="34" charset="-120"/>
              </a:rPr>
              <a:t>CONFUSION MATRIX</a:t>
            </a:r>
            <a:endParaRPr lang="en-US" sz="750" dirty="0">
              <a:solidFill>
                <a:srgbClr val="CC3232"/>
              </a:solidFill>
            </a:endParaRPr>
          </a:p>
        </p:txBody>
      </p:sp>
      <p:graphicFrame>
        <p:nvGraphicFramePr>
          <p:cNvPr id="23" name="Table 0">
            <a:extLst>
              <a:ext uri="{FF2B5EF4-FFF2-40B4-BE49-F238E27FC236}">
                <a16:creationId xmlns:a16="http://schemas.microsoft.com/office/drawing/2014/main" id="{2D3607D8-A7CF-BBDE-1293-08135C220D62}"/>
              </a:ext>
            </a:extLst>
          </p:cNvPr>
          <p:cNvGraphicFramePr>
            <a:graphicFrameLocks noGrp="1"/>
          </p:cNvGraphicFramePr>
          <p:nvPr>
            <p:extLst>
              <p:ext uri="{D42A27DB-BD31-4B8C-83A1-F6EECF244321}">
                <p14:modId xmlns:p14="http://schemas.microsoft.com/office/powerpoint/2010/main" val="3196222547"/>
              </p:ext>
            </p:extLst>
          </p:nvPr>
        </p:nvGraphicFramePr>
        <p:xfrm>
          <a:off x="256032" y="2354656"/>
          <a:ext cx="2651760" cy="868680"/>
        </p:xfrm>
        <a:graphic>
          <a:graphicData uri="http://schemas.openxmlformats.org/drawingml/2006/table">
            <a:tbl>
              <a:tblPr/>
              <a:tblGrid>
                <a:gridCol w="6400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187452">
                <a:tc>
                  <a:txBody>
                    <a:bodyPr/>
                    <a:lstStyle/>
                    <a:p>
                      <a:pPr marL="0" indent="0" algn="ctr">
                        <a:buNone/>
                      </a:pPr>
                      <a:endParaRPr lang="en-US" sz="700" dirty="0"/>
                    </a:p>
                  </a:txBody>
                  <a:tcP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indent="0" algn="ctr">
                        <a:buNone/>
                      </a:pPr>
                      <a:r>
                        <a:rPr lang="en-US" sz="700" b="1" dirty="0">
                          <a:solidFill>
                            <a:schemeClr val="bg1"/>
                          </a:solidFill>
                        </a:rPr>
                        <a:t>Predicted Negative</a:t>
                      </a:r>
                      <a:endParaRPr lang="en-US" sz="700" dirty="0">
                        <a:solidFill>
                          <a:schemeClr val="bg1"/>
                        </a:solidFill>
                      </a:endParaRPr>
                    </a:p>
                  </a:txBody>
                  <a:tcP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161B22"/>
                    </a:solidFill>
                  </a:tcPr>
                </a:tc>
                <a:tc>
                  <a:txBody>
                    <a:bodyPr/>
                    <a:lstStyle/>
                    <a:p>
                      <a:pPr marL="0" indent="0" algn="ctr">
                        <a:buNone/>
                      </a:pPr>
                      <a:r>
                        <a:rPr lang="en-US" sz="700" b="1" dirty="0">
                          <a:solidFill>
                            <a:schemeClr val="bg1"/>
                          </a:solidFill>
                        </a:rPr>
                        <a:t>Predicted Positive</a:t>
                      </a:r>
                      <a:endParaRPr lang="en-US" sz="700" dirty="0">
                        <a:solidFill>
                          <a:schemeClr val="bg1"/>
                        </a:solidFill>
                      </a:endParaRPr>
                    </a:p>
                  </a:txBody>
                  <a:tcP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161B22"/>
                    </a:solidFill>
                  </a:tcPr>
                </a:tc>
                <a:extLst>
                  <a:ext uri="{0D108BD9-81ED-4DB2-BD59-A6C34878D82A}">
                    <a16:rowId xmlns:a16="http://schemas.microsoft.com/office/drawing/2014/main" val="10000"/>
                  </a:ext>
                </a:extLst>
              </a:tr>
              <a:tr h="329184">
                <a:tc>
                  <a:txBody>
                    <a:bodyPr/>
                    <a:lstStyle/>
                    <a:p>
                      <a:pPr marL="0" indent="0" algn="ctr">
                        <a:buNone/>
                      </a:pPr>
                      <a:r>
                        <a:rPr lang="en-US" sz="700" b="1" dirty="0">
                          <a:solidFill>
                            <a:schemeClr val="bg1"/>
                          </a:solidFill>
                        </a:rPr>
                        <a:t>Actual Negative</a:t>
                      </a:r>
                    </a:p>
                  </a:txBody>
                  <a:tcP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161B22"/>
                    </a:solidFill>
                  </a:tcPr>
                </a:tc>
                <a:tc>
                  <a:txBody>
                    <a:bodyPr/>
                    <a:lstStyle/>
                    <a:p>
                      <a:pPr marL="0" indent="0" algn="ctr">
                        <a:buNone/>
                      </a:pPr>
                      <a:r>
                        <a:rPr lang="en-US" sz="800" b="1" dirty="0">
                          <a:solidFill>
                            <a:srgbClr val="3ECF8E"/>
                          </a:solidFill>
                        </a:rPr>
                        <a:t>True Negative</a:t>
                      </a:r>
                    </a:p>
                    <a:p>
                      <a:pPr marL="0" indent="0" algn="ctr">
                        <a:buNone/>
                      </a:pPr>
                      <a:r>
                        <a:rPr lang="en-US" sz="800" b="1" dirty="0">
                          <a:solidFill>
                            <a:srgbClr val="3ECF8E"/>
                          </a:solidFill>
                        </a:rPr>
                        <a:t>51,090 | 92.90%</a:t>
                      </a:r>
                      <a:endParaRPr lang="en-US" sz="800" dirty="0"/>
                    </a:p>
                  </a:txBody>
                  <a:tcP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0D2B1F"/>
                    </a:solidFill>
                  </a:tcPr>
                </a:tc>
                <a:tc>
                  <a:txBody>
                    <a:bodyPr/>
                    <a:lstStyle/>
                    <a:p>
                      <a:pPr marL="0" indent="0" algn="ctr">
                        <a:buNone/>
                      </a:pPr>
                      <a:r>
                        <a:rPr lang="en-US" sz="800" b="1" dirty="0">
                          <a:solidFill>
                            <a:srgbClr val="F76B6B"/>
                          </a:solidFill>
                        </a:rPr>
                        <a:t>False Positive</a:t>
                      </a:r>
                    </a:p>
                    <a:p>
                      <a:pPr marL="0" indent="0" algn="ctr">
                        <a:buNone/>
                      </a:pPr>
                      <a:r>
                        <a:rPr lang="en-US" sz="800" b="1" dirty="0">
                          <a:solidFill>
                            <a:srgbClr val="F76B6B"/>
                          </a:solidFill>
                        </a:rPr>
                        <a:t>956 | 1.74%</a:t>
                      </a:r>
                      <a:endParaRPr lang="en-US" sz="800" dirty="0"/>
                    </a:p>
                  </a:txBody>
                  <a:tcP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2B0D0D"/>
                    </a:solidFill>
                  </a:tcPr>
                </a:tc>
                <a:extLst>
                  <a:ext uri="{0D108BD9-81ED-4DB2-BD59-A6C34878D82A}">
                    <a16:rowId xmlns:a16="http://schemas.microsoft.com/office/drawing/2014/main" val="10001"/>
                  </a:ext>
                </a:extLst>
              </a:tr>
              <a:tr h="329184">
                <a:tc>
                  <a:txBody>
                    <a:bodyPr/>
                    <a:lstStyle/>
                    <a:p>
                      <a:pPr marL="0" indent="0" algn="ctr">
                        <a:buNone/>
                      </a:pPr>
                      <a:r>
                        <a:rPr lang="en-US" sz="700" b="1" dirty="0">
                          <a:solidFill>
                            <a:schemeClr val="bg1"/>
                          </a:solidFill>
                        </a:rPr>
                        <a:t>Actual Positive</a:t>
                      </a:r>
                    </a:p>
                  </a:txBody>
                  <a:tcP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161B22"/>
                    </a:solidFill>
                  </a:tcPr>
                </a:tc>
                <a:tc>
                  <a:txBody>
                    <a:bodyPr/>
                    <a:lstStyle/>
                    <a:p>
                      <a:pPr marL="0" indent="0" algn="ctr">
                        <a:buNone/>
                      </a:pPr>
                      <a:r>
                        <a:rPr lang="en-US" sz="800" b="1" dirty="0">
                          <a:solidFill>
                            <a:srgbClr val="F76B6B"/>
                          </a:solidFill>
                        </a:rPr>
                        <a:t>False Negative </a:t>
                      </a:r>
                    </a:p>
                    <a:p>
                      <a:pPr marL="0" indent="0" algn="ctr">
                        <a:buNone/>
                      </a:pPr>
                      <a:r>
                        <a:rPr lang="en-US" sz="800" b="1" dirty="0">
                          <a:solidFill>
                            <a:srgbClr val="F76B6B"/>
                          </a:solidFill>
                        </a:rPr>
                        <a:t>928 | 1.69%</a:t>
                      </a:r>
                      <a:endParaRPr lang="en-US" sz="800" dirty="0"/>
                    </a:p>
                  </a:txBody>
                  <a:tcP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2B0D0D"/>
                    </a:solidFill>
                  </a:tcPr>
                </a:tc>
                <a:tc>
                  <a:txBody>
                    <a:bodyPr/>
                    <a:lstStyle/>
                    <a:p>
                      <a:pPr marL="0" indent="0" algn="ctr">
                        <a:buNone/>
                      </a:pPr>
                      <a:r>
                        <a:rPr lang="en-US" sz="800" b="1" dirty="0">
                          <a:solidFill>
                            <a:srgbClr val="3ECF8E"/>
                          </a:solidFill>
                        </a:rPr>
                        <a:t>True Positive</a:t>
                      </a:r>
                    </a:p>
                    <a:p>
                      <a:pPr marL="0" indent="0" algn="ctr">
                        <a:buNone/>
                      </a:pPr>
                      <a:r>
                        <a:rPr lang="en-US" sz="800" b="1" dirty="0">
                          <a:solidFill>
                            <a:srgbClr val="3ECF8E"/>
                          </a:solidFill>
                        </a:rPr>
                        <a:t>2,018 | 92.9%</a:t>
                      </a:r>
                      <a:endParaRPr lang="en-US" sz="800" dirty="0"/>
                    </a:p>
                  </a:txBody>
                  <a:tcP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0D2B1F"/>
                    </a:solidFill>
                  </a:tcPr>
                </a:tc>
                <a:extLst>
                  <a:ext uri="{0D108BD9-81ED-4DB2-BD59-A6C34878D82A}">
                    <a16:rowId xmlns:a16="http://schemas.microsoft.com/office/drawing/2014/main" val="10002"/>
                  </a:ext>
                </a:extLst>
              </a:tr>
            </a:tbl>
          </a:graphicData>
        </a:graphic>
      </p:graphicFrame>
      <p:sp>
        <p:nvSpPr>
          <p:cNvPr id="24" name="Shape 21">
            <a:extLst>
              <a:ext uri="{FF2B5EF4-FFF2-40B4-BE49-F238E27FC236}">
                <a16:creationId xmlns:a16="http://schemas.microsoft.com/office/drawing/2014/main" id="{7B6BD71B-E958-F6B1-0823-1578126AE061}"/>
              </a:ext>
            </a:extLst>
          </p:cNvPr>
          <p:cNvSpPr/>
          <p:nvPr/>
        </p:nvSpPr>
        <p:spPr>
          <a:xfrm>
            <a:off x="3127248" y="740664"/>
            <a:ext cx="0" cy="4224528"/>
          </a:xfrm>
          <a:prstGeom prst="line">
            <a:avLst/>
          </a:prstGeom>
          <a:noFill/>
          <a:ln w="19050">
            <a:solidFill>
              <a:srgbClr val="21262D"/>
            </a:solidFill>
            <a:prstDash val="solid"/>
          </a:ln>
        </p:spPr>
        <p:txBody>
          <a:bodyPr/>
          <a:lstStyle/>
          <a:p>
            <a:endParaRPr lang="en-GB"/>
          </a:p>
        </p:txBody>
      </p:sp>
      <p:sp>
        <p:nvSpPr>
          <p:cNvPr id="25" name="Text 22">
            <a:extLst>
              <a:ext uri="{FF2B5EF4-FFF2-40B4-BE49-F238E27FC236}">
                <a16:creationId xmlns:a16="http://schemas.microsoft.com/office/drawing/2014/main" id="{13AAA877-839A-FA3F-87F7-7E2DFF5927F4}"/>
              </a:ext>
            </a:extLst>
          </p:cNvPr>
          <p:cNvSpPr/>
          <p:nvPr/>
        </p:nvSpPr>
        <p:spPr>
          <a:xfrm>
            <a:off x="3310128" y="509397"/>
            <a:ext cx="2606040" cy="201168"/>
          </a:xfrm>
          <a:prstGeom prst="rect">
            <a:avLst/>
          </a:prstGeom>
          <a:noFill/>
          <a:ln/>
        </p:spPr>
        <p:txBody>
          <a:bodyPr wrap="square" rtlCol="0" anchor="ctr"/>
          <a:lstStyle/>
          <a:p>
            <a:pPr marL="0" indent="0">
              <a:buNone/>
            </a:pPr>
            <a:r>
              <a:rPr lang="en-US" sz="750" b="1" kern="0" spc="200" dirty="0">
                <a:solidFill>
                  <a:srgbClr val="CC3232"/>
                </a:solidFill>
                <a:latin typeface="Calibri" pitchFamily="34" charset="0"/>
                <a:ea typeface="Calibri" pitchFamily="34" charset="-122"/>
                <a:cs typeface="Calibri" pitchFamily="34" charset="-120"/>
              </a:rPr>
              <a:t>MODEL PARAMETERS</a:t>
            </a:r>
            <a:endParaRPr lang="en-US" sz="750" dirty="0">
              <a:solidFill>
                <a:srgbClr val="CC3232"/>
              </a:solidFill>
            </a:endParaRPr>
          </a:p>
        </p:txBody>
      </p:sp>
      <p:grpSp>
        <p:nvGrpSpPr>
          <p:cNvPr id="126" name="Group 125">
            <a:extLst>
              <a:ext uri="{FF2B5EF4-FFF2-40B4-BE49-F238E27FC236}">
                <a16:creationId xmlns:a16="http://schemas.microsoft.com/office/drawing/2014/main" id="{2648F7D1-5D86-CB09-C85C-D078753BB2F0}"/>
              </a:ext>
            </a:extLst>
          </p:cNvPr>
          <p:cNvGrpSpPr/>
          <p:nvPr/>
        </p:nvGrpSpPr>
        <p:grpSpPr>
          <a:xfrm>
            <a:off x="3310128" y="955548"/>
            <a:ext cx="2606040" cy="168402"/>
            <a:chOff x="3310128" y="946023"/>
            <a:chExt cx="2606040" cy="168402"/>
          </a:xfrm>
        </p:grpSpPr>
        <p:sp>
          <p:nvSpPr>
            <p:cNvPr id="26" name="Shape 23">
              <a:extLst>
                <a:ext uri="{FF2B5EF4-FFF2-40B4-BE49-F238E27FC236}">
                  <a16:creationId xmlns:a16="http://schemas.microsoft.com/office/drawing/2014/main" id="{DB502EF8-7997-894E-2531-18A48A295161}"/>
                </a:ext>
              </a:extLst>
            </p:cNvPr>
            <p:cNvSpPr/>
            <p:nvPr/>
          </p:nvSpPr>
          <p:spPr>
            <a:xfrm>
              <a:off x="3310128" y="946023"/>
              <a:ext cx="2606040" cy="168402"/>
            </a:xfrm>
            <a:prstGeom prst="snip2DiagRect">
              <a:avLst>
                <a:gd name="adj1" fmla="val 45249"/>
                <a:gd name="adj2" fmla="val 16667"/>
              </a:avLst>
            </a:prstGeom>
            <a:solidFill>
              <a:srgbClr val="66686A"/>
            </a:solidFill>
            <a:ln w="3810">
              <a:noFill/>
              <a:prstDash val="solid"/>
            </a:ln>
          </p:spPr>
          <p:txBody>
            <a:bodyPr/>
            <a:lstStyle/>
            <a:p>
              <a:endParaRPr lang="en-GB" dirty="0"/>
            </a:p>
          </p:txBody>
        </p:sp>
        <p:sp>
          <p:nvSpPr>
            <p:cNvPr id="27" name="Text 24">
              <a:extLst>
                <a:ext uri="{FF2B5EF4-FFF2-40B4-BE49-F238E27FC236}">
                  <a16:creationId xmlns:a16="http://schemas.microsoft.com/office/drawing/2014/main" id="{93CEB68E-F19D-6533-6EF4-EE1F66CBF5C1}"/>
                </a:ext>
              </a:extLst>
            </p:cNvPr>
            <p:cNvSpPr/>
            <p:nvPr/>
          </p:nvSpPr>
          <p:spPr>
            <a:xfrm>
              <a:off x="3401568" y="966216"/>
              <a:ext cx="1615745" cy="128016"/>
            </a:xfrm>
            <a:prstGeom prst="rect">
              <a:avLst/>
            </a:prstGeom>
            <a:noFill/>
            <a:ln/>
          </p:spPr>
          <p:txBody>
            <a:bodyPr wrap="square" rtlCol="0" anchor="ctr"/>
            <a:lstStyle/>
            <a:p>
              <a:pPr marL="0" indent="0">
                <a:buNone/>
              </a:pPr>
              <a:r>
                <a:rPr lang="en-US" sz="850" dirty="0">
                  <a:solidFill>
                    <a:schemeClr val="bg1"/>
                  </a:solidFill>
                  <a:latin typeface="Calibri" pitchFamily="34" charset="0"/>
                  <a:ea typeface="Calibri" pitchFamily="34" charset="-122"/>
                  <a:cs typeface="Calibri" pitchFamily="34" charset="-120"/>
                </a:rPr>
                <a:t>criterion</a:t>
              </a:r>
              <a:endParaRPr lang="en-US" sz="850" dirty="0">
                <a:solidFill>
                  <a:schemeClr val="bg1"/>
                </a:solidFill>
              </a:endParaRPr>
            </a:p>
          </p:txBody>
        </p:sp>
        <p:sp>
          <p:nvSpPr>
            <p:cNvPr id="28" name="Text 25">
              <a:extLst>
                <a:ext uri="{FF2B5EF4-FFF2-40B4-BE49-F238E27FC236}">
                  <a16:creationId xmlns:a16="http://schemas.microsoft.com/office/drawing/2014/main" id="{41338BEE-FF2A-8342-241C-E41D4FAF9C3E}"/>
                </a:ext>
              </a:extLst>
            </p:cNvPr>
            <p:cNvSpPr/>
            <p:nvPr/>
          </p:nvSpPr>
          <p:spPr>
            <a:xfrm>
              <a:off x="4925873" y="966216"/>
              <a:ext cx="912114" cy="128016"/>
            </a:xfrm>
            <a:prstGeom prst="rect">
              <a:avLst/>
            </a:prstGeom>
            <a:noFill/>
            <a:ln/>
          </p:spPr>
          <p:txBody>
            <a:bodyPr wrap="square" rtlCol="0" anchor="ctr"/>
            <a:lstStyle/>
            <a:p>
              <a:pPr marL="0" indent="0" algn="r">
                <a:buNone/>
              </a:pPr>
              <a:r>
                <a:rPr lang="en-US" sz="850" b="1" dirty="0">
                  <a:solidFill>
                    <a:srgbClr val="E8ECF4"/>
                  </a:solidFill>
                  <a:latin typeface="Calibri" pitchFamily="34" charset="0"/>
                  <a:ea typeface="Calibri" pitchFamily="34" charset="-122"/>
                  <a:cs typeface="Calibri" pitchFamily="34" charset="-120"/>
                </a:rPr>
                <a:t>entropy</a:t>
              </a:r>
              <a:endParaRPr lang="en-US" sz="850" dirty="0"/>
            </a:p>
          </p:txBody>
        </p:sp>
      </p:grpSp>
      <p:sp>
        <p:nvSpPr>
          <p:cNvPr id="53" name="Text 50">
            <a:extLst>
              <a:ext uri="{FF2B5EF4-FFF2-40B4-BE49-F238E27FC236}">
                <a16:creationId xmlns:a16="http://schemas.microsoft.com/office/drawing/2014/main" id="{FF62CB7B-1AD9-EE03-4424-70B5DA3DE088}"/>
              </a:ext>
            </a:extLst>
          </p:cNvPr>
          <p:cNvSpPr/>
          <p:nvPr/>
        </p:nvSpPr>
        <p:spPr>
          <a:xfrm>
            <a:off x="3310128" y="665607"/>
            <a:ext cx="2606040" cy="256032"/>
          </a:xfrm>
          <a:prstGeom prst="rect">
            <a:avLst/>
          </a:prstGeom>
          <a:noFill/>
          <a:ln/>
        </p:spPr>
        <p:txBody>
          <a:bodyPr wrap="square" rtlCol="0" anchor="ctr"/>
          <a:lstStyle/>
          <a:p>
            <a:pPr marL="0" indent="0">
              <a:buNone/>
            </a:pPr>
            <a:r>
              <a:rPr lang="en-US" sz="750" dirty="0">
                <a:latin typeface="Calibri" pitchFamily="34" charset="0"/>
                <a:ea typeface="Calibri" pitchFamily="34" charset="-122"/>
                <a:cs typeface="Calibri" pitchFamily="34" charset="-120"/>
              </a:rPr>
              <a:t>Tuned via RandomizedSearchCV  with </a:t>
            </a:r>
            <a:r>
              <a:rPr lang="en-US" sz="750" dirty="0" err="1">
                <a:latin typeface="Calibri" pitchFamily="34" charset="0"/>
                <a:ea typeface="Calibri" pitchFamily="34" charset="-122"/>
                <a:cs typeface="Calibri" pitchFamily="34" charset="-120"/>
              </a:rPr>
              <a:t>StratifiedKFold</a:t>
            </a:r>
            <a:r>
              <a:rPr lang="en-US" sz="750" dirty="0">
                <a:latin typeface="Calibri" pitchFamily="34" charset="0"/>
                <a:ea typeface="Calibri" pitchFamily="34" charset="-122"/>
                <a:cs typeface="Calibri" pitchFamily="34" charset="-120"/>
              </a:rPr>
              <a:t> (3 splits)  with 35 iterations</a:t>
            </a:r>
            <a:endParaRPr lang="en-US" sz="750" dirty="0"/>
          </a:p>
        </p:txBody>
      </p:sp>
      <p:sp>
        <p:nvSpPr>
          <p:cNvPr id="57" name="Shape 54">
            <a:extLst>
              <a:ext uri="{FF2B5EF4-FFF2-40B4-BE49-F238E27FC236}">
                <a16:creationId xmlns:a16="http://schemas.microsoft.com/office/drawing/2014/main" id="{C88966F5-275C-C15C-8215-9D7E210B2A97}"/>
              </a:ext>
            </a:extLst>
          </p:cNvPr>
          <p:cNvSpPr/>
          <p:nvPr/>
        </p:nvSpPr>
        <p:spPr>
          <a:xfrm>
            <a:off x="6126480" y="768096"/>
            <a:ext cx="0" cy="4224528"/>
          </a:xfrm>
          <a:prstGeom prst="line">
            <a:avLst/>
          </a:prstGeom>
          <a:noFill/>
          <a:ln w="19050">
            <a:solidFill>
              <a:srgbClr val="21262D"/>
            </a:solidFill>
            <a:prstDash val="solid"/>
          </a:ln>
        </p:spPr>
        <p:txBody>
          <a:bodyPr/>
          <a:lstStyle/>
          <a:p>
            <a:endParaRPr lang="en-GB"/>
          </a:p>
        </p:txBody>
      </p:sp>
      <p:grpSp>
        <p:nvGrpSpPr>
          <p:cNvPr id="97" name="Group 96">
            <a:extLst>
              <a:ext uri="{FF2B5EF4-FFF2-40B4-BE49-F238E27FC236}">
                <a16:creationId xmlns:a16="http://schemas.microsoft.com/office/drawing/2014/main" id="{3242B1FB-DBDF-D87E-E740-456EA947B161}"/>
              </a:ext>
            </a:extLst>
          </p:cNvPr>
          <p:cNvGrpSpPr/>
          <p:nvPr/>
        </p:nvGrpSpPr>
        <p:grpSpPr>
          <a:xfrm>
            <a:off x="3401568" y="1199182"/>
            <a:ext cx="2436419" cy="128016"/>
            <a:chOff x="3401568" y="1177671"/>
            <a:chExt cx="2436419" cy="128016"/>
          </a:xfrm>
        </p:grpSpPr>
        <p:sp>
          <p:nvSpPr>
            <p:cNvPr id="95" name="Text 24">
              <a:extLst>
                <a:ext uri="{FF2B5EF4-FFF2-40B4-BE49-F238E27FC236}">
                  <a16:creationId xmlns:a16="http://schemas.microsoft.com/office/drawing/2014/main" id="{0EB18768-7D23-8771-1C65-4C6E53C2942F}"/>
                </a:ext>
              </a:extLst>
            </p:cNvPr>
            <p:cNvSpPr/>
            <p:nvPr/>
          </p:nvSpPr>
          <p:spPr>
            <a:xfrm>
              <a:off x="3401568" y="1177671"/>
              <a:ext cx="1615745" cy="128016"/>
            </a:xfrm>
            <a:prstGeom prst="rect">
              <a:avLst/>
            </a:prstGeom>
            <a:noFill/>
            <a:ln/>
          </p:spPr>
          <p:txBody>
            <a:bodyPr wrap="square" rtlCol="0" anchor="ctr"/>
            <a:lstStyle/>
            <a:p>
              <a:r>
                <a:rPr lang="en-US" sz="850" dirty="0">
                  <a:solidFill>
                    <a:schemeClr val="bg1"/>
                  </a:solidFill>
                  <a:latin typeface="Calibri" pitchFamily="34" charset="0"/>
                  <a:ea typeface="Calibri" pitchFamily="34" charset="-122"/>
                  <a:cs typeface="Calibri" pitchFamily="34" charset="-120"/>
                </a:rPr>
                <a:t>max_depth</a:t>
              </a:r>
            </a:p>
          </p:txBody>
        </p:sp>
        <p:sp>
          <p:nvSpPr>
            <p:cNvPr id="96" name="Text 25">
              <a:extLst>
                <a:ext uri="{FF2B5EF4-FFF2-40B4-BE49-F238E27FC236}">
                  <a16:creationId xmlns:a16="http://schemas.microsoft.com/office/drawing/2014/main" id="{89F4206C-3099-091B-058C-FCC9C5DF0220}"/>
                </a:ext>
              </a:extLst>
            </p:cNvPr>
            <p:cNvSpPr/>
            <p:nvPr/>
          </p:nvSpPr>
          <p:spPr>
            <a:xfrm>
              <a:off x="4925873" y="1177671"/>
              <a:ext cx="912114" cy="128016"/>
            </a:xfrm>
            <a:prstGeom prst="rect">
              <a:avLst/>
            </a:prstGeom>
            <a:noFill/>
            <a:ln/>
          </p:spPr>
          <p:txBody>
            <a:bodyPr wrap="square" rtlCol="0" anchor="ctr"/>
            <a:lstStyle/>
            <a:p>
              <a:pPr marL="0" indent="0" algn="r">
                <a:buNone/>
              </a:pPr>
              <a:r>
                <a:rPr lang="en-US" sz="850" b="1" dirty="0">
                  <a:solidFill>
                    <a:srgbClr val="E8ECF4"/>
                  </a:solidFill>
                  <a:latin typeface="Calibri" pitchFamily="34" charset="0"/>
                  <a:ea typeface="Calibri" pitchFamily="34" charset="-122"/>
                  <a:cs typeface="Calibri" pitchFamily="34" charset="-120"/>
                </a:rPr>
                <a:t>11</a:t>
              </a:r>
              <a:endParaRPr lang="en-US" sz="850" dirty="0"/>
            </a:p>
          </p:txBody>
        </p:sp>
      </p:grpSp>
      <p:grpSp>
        <p:nvGrpSpPr>
          <p:cNvPr id="98" name="Group 97">
            <a:extLst>
              <a:ext uri="{FF2B5EF4-FFF2-40B4-BE49-F238E27FC236}">
                <a16:creationId xmlns:a16="http://schemas.microsoft.com/office/drawing/2014/main" id="{8644B714-24DC-1537-17AA-E624443E0015}"/>
              </a:ext>
            </a:extLst>
          </p:cNvPr>
          <p:cNvGrpSpPr/>
          <p:nvPr/>
        </p:nvGrpSpPr>
        <p:grpSpPr>
          <a:xfrm>
            <a:off x="3401568" y="1422623"/>
            <a:ext cx="2436419" cy="128016"/>
            <a:chOff x="3401568" y="1177671"/>
            <a:chExt cx="2436419" cy="128016"/>
          </a:xfrm>
        </p:grpSpPr>
        <p:sp>
          <p:nvSpPr>
            <p:cNvPr id="100" name="Text 24">
              <a:extLst>
                <a:ext uri="{FF2B5EF4-FFF2-40B4-BE49-F238E27FC236}">
                  <a16:creationId xmlns:a16="http://schemas.microsoft.com/office/drawing/2014/main" id="{B28BB0F0-A7FA-D0ED-B990-5FC36462A16E}"/>
                </a:ext>
              </a:extLst>
            </p:cNvPr>
            <p:cNvSpPr/>
            <p:nvPr/>
          </p:nvSpPr>
          <p:spPr>
            <a:xfrm>
              <a:off x="3401568" y="1177671"/>
              <a:ext cx="1615745" cy="128016"/>
            </a:xfrm>
            <a:prstGeom prst="rect">
              <a:avLst/>
            </a:prstGeom>
            <a:noFill/>
            <a:ln/>
          </p:spPr>
          <p:txBody>
            <a:bodyPr wrap="square" rtlCol="0" anchor="ctr"/>
            <a:lstStyle/>
            <a:p>
              <a:r>
                <a:rPr lang="en-US" sz="850" dirty="0">
                  <a:solidFill>
                    <a:schemeClr val="bg1"/>
                  </a:solidFill>
                  <a:latin typeface="Calibri" pitchFamily="34" charset="0"/>
                  <a:ea typeface="Calibri" pitchFamily="34" charset="-122"/>
                  <a:cs typeface="Calibri" pitchFamily="34" charset="-120"/>
                </a:rPr>
                <a:t>max_features</a:t>
              </a:r>
            </a:p>
          </p:txBody>
        </p:sp>
        <p:sp>
          <p:nvSpPr>
            <p:cNvPr id="101" name="Text 25">
              <a:extLst>
                <a:ext uri="{FF2B5EF4-FFF2-40B4-BE49-F238E27FC236}">
                  <a16:creationId xmlns:a16="http://schemas.microsoft.com/office/drawing/2014/main" id="{BC456ED2-9BE2-D6D2-0E83-08CBD2DAB118}"/>
                </a:ext>
              </a:extLst>
            </p:cNvPr>
            <p:cNvSpPr/>
            <p:nvPr/>
          </p:nvSpPr>
          <p:spPr>
            <a:xfrm>
              <a:off x="4925873" y="1177671"/>
              <a:ext cx="912114" cy="128016"/>
            </a:xfrm>
            <a:prstGeom prst="rect">
              <a:avLst/>
            </a:prstGeom>
            <a:noFill/>
            <a:ln/>
          </p:spPr>
          <p:txBody>
            <a:bodyPr wrap="square" rtlCol="0" anchor="ctr"/>
            <a:lstStyle/>
            <a:p>
              <a:pPr marL="0" indent="0" algn="r">
                <a:buNone/>
              </a:pPr>
              <a:r>
                <a:rPr lang="en-US" sz="850" b="1" dirty="0">
                  <a:solidFill>
                    <a:srgbClr val="E8ECF4"/>
                  </a:solidFill>
                  <a:latin typeface="Calibri" pitchFamily="34" charset="0"/>
                  <a:ea typeface="Calibri" pitchFamily="34" charset="-122"/>
                  <a:cs typeface="Calibri" pitchFamily="34" charset="-120"/>
                </a:rPr>
                <a:t>18 (of 21)</a:t>
              </a:r>
              <a:endParaRPr lang="en-US" sz="850" dirty="0"/>
            </a:p>
          </p:txBody>
        </p:sp>
      </p:grpSp>
      <p:grpSp>
        <p:nvGrpSpPr>
          <p:cNvPr id="102" name="Group 101">
            <a:extLst>
              <a:ext uri="{FF2B5EF4-FFF2-40B4-BE49-F238E27FC236}">
                <a16:creationId xmlns:a16="http://schemas.microsoft.com/office/drawing/2014/main" id="{BF45EC3D-D0E4-E9E1-4C06-28F924251013}"/>
              </a:ext>
            </a:extLst>
          </p:cNvPr>
          <p:cNvGrpSpPr/>
          <p:nvPr/>
        </p:nvGrpSpPr>
        <p:grpSpPr>
          <a:xfrm>
            <a:off x="3401568" y="1625871"/>
            <a:ext cx="2436419" cy="128016"/>
            <a:chOff x="3401568" y="1177671"/>
            <a:chExt cx="2436419" cy="128016"/>
          </a:xfrm>
        </p:grpSpPr>
        <p:sp>
          <p:nvSpPr>
            <p:cNvPr id="104" name="Text 24">
              <a:extLst>
                <a:ext uri="{FF2B5EF4-FFF2-40B4-BE49-F238E27FC236}">
                  <a16:creationId xmlns:a16="http://schemas.microsoft.com/office/drawing/2014/main" id="{03C28FA4-9975-A949-298F-F015D0188D30}"/>
                </a:ext>
              </a:extLst>
            </p:cNvPr>
            <p:cNvSpPr/>
            <p:nvPr/>
          </p:nvSpPr>
          <p:spPr>
            <a:xfrm>
              <a:off x="3401568" y="1177671"/>
              <a:ext cx="1615745" cy="128016"/>
            </a:xfrm>
            <a:prstGeom prst="rect">
              <a:avLst/>
            </a:prstGeom>
            <a:noFill/>
            <a:ln/>
          </p:spPr>
          <p:txBody>
            <a:bodyPr wrap="square" rtlCol="0" anchor="ctr"/>
            <a:lstStyle/>
            <a:p>
              <a:r>
                <a:rPr lang="en-US" sz="850" dirty="0">
                  <a:solidFill>
                    <a:schemeClr val="bg1"/>
                  </a:solidFill>
                  <a:latin typeface="Calibri" pitchFamily="34" charset="0"/>
                  <a:ea typeface="Calibri" pitchFamily="34" charset="-122"/>
                  <a:cs typeface="Calibri" pitchFamily="34" charset="-120"/>
                </a:rPr>
                <a:t>n_estimators</a:t>
              </a:r>
            </a:p>
          </p:txBody>
        </p:sp>
        <p:sp>
          <p:nvSpPr>
            <p:cNvPr id="105" name="Text 25">
              <a:extLst>
                <a:ext uri="{FF2B5EF4-FFF2-40B4-BE49-F238E27FC236}">
                  <a16:creationId xmlns:a16="http://schemas.microsoft.com/office/drawing/2014/main" id="{241C7E2B-10D9-C5C3-46CE-ED1528C0E29F}"/>
                </a:ext>
              </a:extLst>
            </p:cNvPr>
            <p:cNvSpPr/>
            <p:nvPr/>
          </p:nvSpPr>
          <p:spPr>
            <a:xfrm>
              <a:off x="4925873" y="1177671"/>
              <a:ext cx="912114" cy="128016"/>
            </a:xfrm>
            <a:prstGeom prst="rect">
              <a:avLst/>
            </a:prstGeom>
            <a:noFill/>
            <a:ln/>
          </p:spPr>
          <p:txBody>
            <a:bodyPr wrap="square" rtlCol="0" anchor="ctr"/>
            <a:lstStyle/>
            <a:p>
              <a:pPr marL="0" indent="0" algn="r">
                <a:buNone/>
              </a:pPr>
              <a:r>
                <a:rPr lang="en-US" sz="850" b="1" dirty="0">
                  <a:solidFill>
                    <a:srgbClr val="E8ECF4"/>
                  </a:solidFill>
                  <a:latin typeface="Calibri" pitchFamily="34" charset="0"/>
                  <a:ea typeface="Calibri" pitchFamily="34" charset="-122"/>
                  <a:cs typeface="Calibri" pitchFamily="34" charset="-120"/>
                </a:rPr>
                <a:t>25</a:t>
              </a:r>
              <a:endParaRPr lang="en-US" sz="850" dirty="0"/>
            </a:p>
          </p:txBody>
        </p:sp>
      </p:grpSp>
      <p:grpSp>
        <p:nvGrpSpPr>
          <p:cNvPr id="106" name="Group 105">
            <a:extLst>
              <a:ext uri="{FF2B5EF4-FFF2-40B4-BE49-F238E27FC236}">
                <a16:creationId xmlns:a16="http://schemas.microsoft.com/office/drawing/2014/main" id="{30DC4688-E40A-BE5D-BA6A-350AD9208105}"/>
              </a:ext>
            </a:extLst>
          </p:cNvPr>
          <p:cNvGrpSpPr/>
          <p:nvPr/>
        </p:nvGrpSpPr>
        <p:grpSpPr>
          <a:xfrm>
            <a:off x="3401568" y="1869505"/>
            <a:ext cx="2436419" cy="128016"/>
            <a:chOff x="3401568" y="1177671"/>
            <a:chExt cx="2436419" cy="128016"/>
          </a:xfrm>
        </p:grpSpPr>
        <p:sp>
          <p:nvSpPr>
            <p:cNvPr id="108" name="Text 24">
              <a:extLst>
                <a:ext uri="{FF2B5EF4-FFF2-40B4-BE49-F238E27FC236}">
                  <a16:creationId xmlns:a16="http://schemas.microsoft.com/office/drawing/2014/main" id="{B27F70D4-E6E7-897C-3473-AEB663563AD9}"/>
                </a:ext>
              </a:extLst>
            </p:cNvPr>
            <p:cNvSpPr/>
            <p:nvPr/>
          </p:nvSpPr>
          <p:spPr>
            <a:xfrm>
              <a:off x="3401568" y="1177671"/>
              <a:ext cx="1615745" cy="128016"/>
            </a:xfrm>
            <a:prstGeom prst="rect">
              <a:avLst/>
            </a:prstGeom>
            <a:noFill/>
            <a:ln/>
          </p:spPr>
          <p:txBody>
            <a:bodyPr wrap="square" rtlCol="0" anchor="ctr"/>
            <a:lstStyle/>
            <a:p>
              <a:r>
                <a:rPr lang="en-US" sz="850" dirty="0">
                  <a:solidFill>
                    <a:schemeClr val="bg1"/>
                  </a:solidFill>
                  <a:latin typeface="Calibri" pitchFamily="34" charset="0"/>
                  <a:ea typeface="Calibri" pitchFamily="34" charset="-122"/>
                  <a:cs typeface="Calibri" pitchFamily="34" charset="-120"/>
                </a:rPr>
                <a:t>min_samples_leaf</a:t>
              </a:r>
            </a:p>
          </p:txBody>
        </p:sp>
        <p:sp>
          <p:nvSpPr>
            <p:cNvPr id="109" name="Text 25">
              <a:extLst>
                <a:ext uri="{FF2B5EF4-FFF2-40B4-BE49-F238E27FC236}">
                  <a16:creationId xmlns:a16="http://schemas.microsoft.com/office/drawing/2014/main" id="{1505B6D9-298F-6A22-A2C2-3A43F0800382}"/>
                </a:ext>
              </a:extLst>
            </p:cNvPr>
            <p:cNvSpPr/>
            <p:nvPr/>
          </p:nvSpPr>
          <p:spPr>
            <a:xfrm>
              <a:off x="4925873" y="1177671"/>
              <a:ext cx="912114" cy="128016"/>
            </a:xfrm>
            <a:prstGeom prst="rect">
              <a:avLst/>
            </a:prstGeom>
            <a:noFill/>
            <a:ln/>
          </p:spPr>
          <p:txBody>
            <a:bodyPr wrap="square" rtlCol="0" anchor="ctr"/>
            <a:lstStyle/>
            <a:p>
              <a:pPr marL="0" indent="0" algn="r">
                <a:buNone/>
              </a:pPr>
              <a:r>
                <a:rPr lang="en-US" sz="850" b="1" dirty="0">
                  <a:solidFill>
                    <a:srgbClr val="E8ECF4"/>
                  </a:solidFill>
                  <a:latin typeface="Calibri" pitchFamily="34" charset="0"/>
                  <a:ea typeface="Calibri" pitchFamily="34" charset="-122"/>
                  <a:cs typeface="Calibri" pitchFamily="34" charset="-120"/>
                </a:rPr>
                <a:t>9</a:t>
              </a:r>
              <a:endParaRPr lang="en-US" sz="850" dirty="0"/>
            </a:p>
          </p:txBody>
        </p:sp>
      </p:grpSp>
      <p:grpSp>
        <p:nvGrpSpPr>
          <p:cNvPr id="110" name="Group 109">
            <a:extLst>
              <a:ext uri="{FF2B5EF4-FFF2-40B4-BE49-F238E27FC236}">
                <a16:creationId xmlns:a16="http://schemas.microsoft.com/office/drawing/2014/main" id="{700B4B11-5F3F-86B0-E247-C65184AB7D26}"/>
              </a:ext>
            </a:extLst>
          </p:cNvPr>
          <p:cNvGrpSpPr/>
          <p:nvPr/>
        </p:nvGrpSpPr>
        <p:grpSpPr>
          <a:xfrm>
            <a:off x="3401568" y="2092946"/>
            <a:ext cx="2436419" cy="128016"/>
            <a:chOff x="3401568" y="1177671"/>
            <a:chExt cx="2436419" cy="128016"/>
          </a:xfrm>
        </p:grpSpPr>
        <p:sp>
          <p:nvSpPr>
            <p:cNvPr id="112" name="Text 24">
              <a:extLst>
                <a:ext uri="{FF2B5EF4-FFF2-40B4-BE49-F238E27FC236}">
                  <a16:creationId xmlns:a16="http://schemas.microsoft.com/office/drawing/2014/main" id="{CBDE01A7-AD83-B0AE-4943-1AE976F74EBB}"/>
                </a:ext>
              </a:extLst>
            </p:cNvPr>
            <p:cNvSpPr/>
            <p:nvPr/>
          </p:nvSpPr>
          <p:spPr>
            <a:xfrm>
              <a:off x="3401568" y="1177671"/>
              <a:ext cx="1615745" cy="128016"/>
            </a:xfrm>
            <a:prstGeom prst="rect">
              <a:avLst/>
            </a:prstGeom>
            <a:noFill/>
            <a:ln/>
          </p:spPr>
          <p:txBody>
            <a:bodyPr wrap="square" rtlCol="0" anchor="ctr"/>
            <a:lstStyle/>
            <a:p>
              <a:r>
                <a:rPr lang="en-US" sz="850" dirty="0">
                  <a:solidFill>
                    <a:schemeClr val="bg1"/>
                  </a:solidFill>
                  <a:latin typeface="Calibri" pitchFamily="34" charset="0"/>
                  <a:ea typeface="Calibri" pitchFamily="34" charset="-122"/>
                  <a:cs typeface="Calibri" pitchFamily="34" charset="-120"/>
                </a:rPr>
                <a:t>min_samples_split</a:t>
              </a:r>
            </a:p>
          </p:txBody>
        </p:sp>
        <p:sp>
          <p:nvSpPr>
            <p:cNvPr id="113" name="Text 25">
              <a:extLst>
                <a:ext uri="{FF2B5EF4-FFF2-40B4-BE49-F238E27FC236}">
                  <a16:creationId xmlns:a16="http://schemas.microsoft.com/office/drawing/2014/main" id="{DFFFD032-73A3-7E89-A7EE-96A13F54B82D}"/>
                </a:ext>
              </a:extLst>
            </p:cNvPr>
            <p:cNvSpPr/>
            <p:nvPr/>
          </p:nvSpPr>
          <p:spPr>
            <a:xfrm>
              <a:off x="4925873" y="1177671"/>
              <a:ext cx="912114" cy="128016"/>
            </a:xfrm>
            <a:prstGeom prst="rect">
              <a:avLst/>
            </a:prstGeom>
            <a:noFill/>
            <a:ln/>
          </p:spPr>
          <p:txBody>
            <a:bodyPr wrap="square" rtlCol="0" anchor="ctr"/>
            <a:lstStyle/>
            <a:p>
              <a:pPr marL="0" indent="0" algn="r">
                <a:buNone/>
              </a:pPr>
              <a:r>
                <a:rPr lang="en-US" sz="850" b="1" dirty="0">
                  <a:solidFill>
                    <a:srgbClr val="E8ECF4"/>
                  </a:solidFill>
                  <a:latin typeface="Calibri" pitchFamily="34" charset="0"/>
                  <a:ea typeface="Calibri" pitchFamily="34" charset="-122"/>
                  <a:cs typeface="Calibri" pitchFamily="34" charset="-120"/>
                </a:rPr>
                <a:t>9</a:t>
              </a:r>
              <a:endParaRPr lang="en-US" sz="850" dirty="0"/>
            </a:p>
          </p:txBody>
        </p:sp>
      </p:grpSp>
      <p:grpSp>
        <p:nvGrpSpPr>
          <p:cNvPr id="114" name="Group 113">
            <a:extLst>
              <a:ext uri="{FF2B5EF4-FFF2-40B4-BE49-F238E27FC236}">
                <a16:creationId xmlns:a16="http://schemas.microsoft.com/office/drawing/2014/main" id="{4A5C5A5E-528B-226C-BD30-143DC444EED1}"/>
              </a:ext>
            </a:extLst>
          </p:cNvPr>
          <p:cNvGrpSpPr/>
          <p:nvPr/>
        </p:nvGrpSpPr>
        <p:grpSpPr>
          <a:xfrm>
            <a:off x="3401568" y="2316387"/>
            <a:ext cx="2436419" cy="128016"/>
            <a:chOff x="3401568" y="1177671"/>
            <a:chExt cx="2436419" cy="128016"/>
          </a:xfrm>
        </p:grpSpPr>
        <p:sp>
          <p:nvSpPr>
            <p:cNvPr id="116" name="Text 24">
              <a:extLst>
                <a:ext uri="{FF2B5EF4-FFF2-40B4-BE49-F238E27FC236}">
                  <a16:creationId xmlns:a16="http://schemas.microsoft.com/office/drawing/2014/main" id="{342C85DD-761D-E393-4E38-452A10BEF0F1}"/>
                </a:ext>
              </a:extLst>
            </p:cNvPr>
            <p:cNvSpPr/>
            <p:nvPr/>
          </p:nvSpPr>
          <p:spPr>
            <a:xfrm>
              <a:off x="3401568" y="1177671"/>
              <a:ext cx="1615745" cy="128016"/>
            </a:xfrm>
            <a:prstGeom prst="rect">
              <a:avLst/>
            </a:prstGeom>
            <a:noFill/>
            <a:ln/>
          </p:spPr>
          <p:txBody>
            <a:bodyPr wrap="square" rtlCol="0" anchor="ctr"/>
            <a:lstStyle/>
            <a:p>
              <a:r>
                <a:rPr lang="en-US" sz="850" dirty="0">
                  <a:solidFill>
                    <a:schemeClr val="bg1"/>
                  </a:solidFill>
                  <a:latin typeface="Calibri" pitchFamily="34" charset="0"/>
                  <a:ea typeface="Calibri" pitchFamily="34" charset="-122"/>
                  <a:cs typeface="Calibri" pitchFamily="34" charset="-120"/>
                </a:rPr>
                <a:t>min_impurity_decrease</a:t>
              </a:r>
            </a:p>
          </p:txBody>
        </p:sp>
        <p:sp>
          <p:nvSpPr>
            <p:cNvPr id="117" name="Text 25">
              <a:extLst>
                <a:ext uri="{FF2B5EF4-FFF2-40B4-BE49-F238E27FC236}">
                  <a16:creationId xmlns:a16="http://schemas.microsoft.com/office/drawing/2014/main" id="{D3022CCF-BFDC-22E5-02E5-F0059E26750B}"/>
                </a:ext>
              </a:extLst>
            </p:cNvPr>
            <p:cNvSpPr/>
            <p:nvPr/>
          </p:nvSpPr>
          <p:spPr>
            <a:xfrm>
              <a:off x="4925873" y="1177671"/>
              <a:ext cx="912114" cy="128016"/>
            </a:xfrm>
            <a:prstGeom prst="rect">
              <a:avLst/>
            </a:prstGeom>
            <a:noFill/>
            <a:ln/>
          </p:spPr>
          <p:txBody>
            <a:bodyPr wrap="square" rtlCol="0" anchor="ctr"/>
            <a:lstStyle/>
            <a:p>
              <a:pPr marL="0" indent="0" algn="r">
                <a:buNone/>
              </a:pPr>
              <a:r>
                <a:rPr lang="en-US" sz="850" b="1" dirty="0">
                  <a:solidFill>
                    <a:schemeClr val="bg1"/>
                  </a:solidFill>
                </a:rPr>
                <a:t>0.00015</a:t>
              </a:r>
            </a:p>
          </p:txBody>
        </p:sp>
      </p:grpSp>
      <p:grpSp>
        <p:nvGrpSpPr>
          <p:cNvPr id="118" name="Group 117">
            <a:extLst>
              <a:ext uri="{FF2B5EF4-FFF2-40B4-BE49-F238E27FC236}">
                <a16:creationId xmlns:a16="http://schemas.microsoft.com/office/drawing/2014/main" id="{325F5F1B-53AB-2066-5084-3BB3EC0143EA}"/>
              </a:ext>
            </a:extLst>
          </p:cNvPr>
          <p:cNvGrpSpPr/>
          <p:nvPr/>
        </p:nvGrpSpPr>
        <p:grpSpPr>
          <a:xfrm>
            <a:off x="3401568" y="2539828"/>
            <a:ext cx="2436419" cy="128016"/>
            <a:chOff x="3401568" y="1177671"/>
            <a:chExt cx="2436419" cy="128016"/>
          </a:xfrm>
        </p:grpSpPr>
        <p:sp>
          <p:nvSpPr>
            <p:cNvPr id="120" name="Text 24">
              <a:extLst>
                <a:ext uri="{FF2B5EF4-FFF2-40B4-BE49-F238E27FC236}">
                  <a16:creationId xmlns:a16="http://schemas.microsoft.com/office/drawing/2014/main" id="{32C1697B-D4AA-1D52-2E7C-A6CA74DDAFA7}"/>
                </a:ext>
              </a:extLst>
            </p:cNvPr>
            <p:cNvSpPr/>
            <p:nvPr/>
          </p:nvSpPr>
          <p:spPr>
            <a:xfrm>
              <a:off x="3401568" y="1177671"/>
              <a:ext cx="1615745" cy="128016"/>
            </a:xfrm>
            <a:prstGeom prst="rect">
              <a:avLst/>
            </a:prstGeom>
            <a:noFill/>
            <a:ln/>
          </p:spPr>
          <p:txBody>
            <a:bodyPr wrap="square" rtlCol="0" anchor="ctr"/>
            <a:lstStyle/>
            <a:p>
              <a:r>
                <a:rPr lang="en-US" sz="850" dirty="0">
                  <a:solidFill>
                    <a:schemeClr val="bg1"/>
                  </a:solidFill>
                  <a:latin typeface="Calibri" pitchFamily="34" charset="0"/>
                  <a:ea typeface="Calibri" pitchFamily="34" charset="-122"/>
                  <a:cs typeface="Calibri" pitchFamily="34" charset="-120"/>
                </a:rPr>
                <a:t>min_impurity_decrease</a:t>
              </a:r>
            </a:p>
          </p:txBody>
        </p:sp>
        <p:sp>
          <p:nvSpPr>
            <p:cNvPr id="121" name="Text 25">
              <a:extLst>
                <a:ext uri="{FF2B5EF4-FFF2-40B4-BE49-F238E27FC236}">
                  <a16:creationId xmlns:a16="http://schemas.microsoft.com/office/drawing/2014/main" id="{3BB2DCBA-7891-903D-98E6-8467A4C200AE}"/>
                </a:ext>
              </a:extLst>
            </p:cNvPr>
            <p:cNvSpPr/>
            <p:nvPr/>
          </p:nvSpPr>
          <p:spPr>
            <a:xfrm>
              <a:off x="4925873" y="1177671"/>
              <a:ext cx="912114" cy="128016"/>
            </a:xfrm>
            <a:prstGeom prst="rect">
              <a:avLst/>
            </a:prstGeom>
            <a:noFill/>
            <a:ln/>
          </p:spPr>
          <p:txBody>
            <a:bodyPr wrap="square" rtlCol="0" anchor="ctr"/>
            <a:lstStyle/>
            <a:p>
              <a:pPr marL="0" indent="0" algn="r">
                <a:buNone/>
              </a:pPr>
              <a:r>
                <a:rPr lang="en-US" sz="850" b="1" dirty="0">
                  <a:solidFill>
                    <a:schemeClr val="bg1"/>
                  </a:solidFill>
                </a:rPr>
                <a:t>0.00015</a:t>
              </a:r>
            </a:p>
          </p:txBody>
        </p:sp>
      </p:grpSp>
      <p:grpSp>
        <p:nvGrpSpPr>
          <p:cNvPr id="122" name="Group 121">
            <a:extLst>
              <a:ext uri="{FF2B5EF4-FFF2-40B4-BE49-F238E27FC236}">
                <a16:creationId xmlns:a16="http://schemas.microsoft.com/office/drawing/2014/main" id="{BE5F4BD0-14D4-2A95-117E-FA763E2BC850}"/>
              </a:ext>
            </a:extLst>
          </p:cNvPr>
          <p:cNvGrpSpPr/>
          <p:nvPr/>
        </p:nvGrpSpPr>
        <p:grpSpPr>
          <a:xfrm>
            <a:off x="3401568" y="2763266"/>
            <a:ext cx="2436419" cy="128016"/>
            <a:chOff x="3401568" y="1177671"/>
            <a:chExt cx="2436419" cy="128016"/>
          </a:xfrm>
        </p:grpSpPr>
        <p:sp>
          <p:nvSpPr>
            <p:cNvPr id="124" name="Text 24">
              <a:extLst>
                <a:ext uri="{FF2B5EF4-FFF2-40B4-BE49-F238E27FC236}">
                  <a16:creationId xmlns:a16="http://schemas.microsoft.com/office/drawing/2014/main" id="{A02A9538-4D80-DCE8-E650-1AB530A80BF7}"/>
                </a:ext>
              </a:extLst>
            </p:cNvPr>
            <p:cNvSpPr/>
            <p:nvPr/>
          </p:nvSpPr>
          <p:spPr>
            <a:xfrm>
              <a:off x="3401568" y="1177671"/>
              <a:ext cx="1757172" cy="128016"/>
            </a:xfrm>
            <a:prstGeom prst="rect">
              <a:avLst/>
            </a:prstGeom>
            <a:noFill/>
            <a:ln/>
          </p:spPr>
          <p:txBody>
            <a:bodyPr wrap="square" rtlCol="0" anchor="ctr"/>
            <a:lstStyle/>
            <a:p>
              <a:r>
                <a:rPr lang="en-US" sz="850" dirty="0">
                  <a:solidFill>
                    <a:schemeClr val="bg1"/>
                  </a:solidFill>
                  <a:latin typeface="Calibri" pitchFamily="34" charset="0"/>
                  <a:ea typeface="Calibri" pitchFamily="34" charset="-122"/>
                  <a:cs typeface="Calibri" pitchFamily="34" charset="-120"/>
                </a:rPr>
                <a:t>RSCV Best Score on Training Data</a:t>
              </a:r>
            </a:p>
          </p:txBody>
        </p:sp>
        <p:sp>
          <p:nvSpPr>
            <p:cNvPr id="125" name="Text 25">
              <a:extLst>
                <a:ext uri="{FF2B5EF4-FFF2-40B4-BE49-F238E27FC236}">
                  <a16:creationId xmlns:a16="http://schemas.microsoft.com/office/drawing/2014/main" id="{C28F4717-C4EB-970D-042F-DE197CF4FF97}"/>
                </a:ext>
              </a:extLst>
            </p:cNvPr>
            <p:cNvSpPr/>
            <p:nvPr/>
          </p:nvSpPr>
          <p:spPr>
            <a:xfrm>
              <a:off x="4925873" y="1177671"/>
              <a:ext cx="912114" cy="128016"/>
            </a:xfrm>
            <a:prstGeom prst="rect">
              <a:avLst/>
            </a:prstGeom>
            <a:noFill/>
            <a:ln/>
          </p:spPr>
          <p:txBody>
            <a:bodyPr wrap="square" rtlCol="0" anchor="ctr"/>
            <a:lstStyle/>
            <a:p>
              <a:pPr algn="r"/>
              <a:r>
                <a:rPr lang="en-US" sz="850" b="1" dirty="0">
                  <a:solidFill>
                    <a:srgbClr val="E8ECF4"/>
                  </a:solidFill>
                  <a:latin typeface="Calibri" pitchFamily="34" charset="0"/>
                  <a:ea typeface="Calibri" pitchFamily="34" charset="-122"/>
                  <a:cs typeface="Calibri" pitchFamily="34" charset="-120"/>
                </a:rPr>
                <a:t>0.9707</a:t>
              </a:r>
              <a:endParaRPr lang="en-US" sz="850" dirty="0"/>
            </a:p>
          </p:txBody>
        </p:sp>
      </p:grpSp>
      <p:sp>
        <p:nvSpPr>
          <p:cNvPr id="148" name="Shape 7">
            <a:extLst>
              <a:ext uri="{FF2B5EF4-FFF2-40B4-BE49-F238E27FC236}">
                <a16:creationId xmlns:a16="http://schemas.microsoft.com/office/drawing/2014/main" id="{FCDF4931-4116-E948-02B6-72B387C696C2}"/>
              </a:ext>
            </a:extLst>
          </p:cNvPr>
          <p:cNvSpPr/>
          <p:nvPr/>
        </p:nvSpPr>
        <p:spPr>
          <a:xfrm>
            <a:off x="937260" y="1679195"/>
            <a:ext cx="620268" cy="385630"/>
          </a:xfrm>
          <a:prstGeom prst="roundRect">
            <a:avLst/>
          </a:prstGeom>
          <a:solidFill>
            <a:srgbClr val="42464D">
              <a:alpha val="90000"/>
            </a:srgbClr>
          </a:solidFill>
          <a:ln w="6350">
            <a:noFill/>
            <a:prstDash val="solid"/>
          </a:ln>
        </p:spPr>
        <p:txBody>
          <a:bodyPr/>
          <a:lstStyle/>
          <a:p>
            <a:endParaRPr lang="en-GB"/>
          </a:p>
        </p:txBody>
      </p:sp>
      <p:sp>
        <p:nvSpPr>
          <p:cNvPr id="149" name="Text 8">
            <a:extLst>
              <a:ext uri="{FF2B5EF4-FFF2-40B4-BE49-F238E27FC236}">
                <a16:creationId xmlns:a16="http://schemas.microsoft.com/office/drawing/2014/main" id="{CA4B3F27-B502-1AB3-F37E-E1005D024CE8}"/>
              </a:ext>
            </a:extLst>
          </p:cNvPr>
          <p:cNvSpPr/>
          <p:nvPr/>
        </p:nvSpPr>
        <p:spPr>
          <a:xfrm>
            <a:off x="937260" y="1657251"/>
            <a:ext cx="620268" cy="329184"/>
          </a:xfrm>
          <a:prstGeom prst="rect">
            <a:avLst/>
          </a:prstGeom>
          <a:noFill/>
          <a:ln/>
        </p:spPr>
        <p:txBody>
          <a:bodyPr wrap="square"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0.682</a:t>
            </a:r>
            <a:endParaRPr lang="en-US" sz="1400" dirty="0">
              <a:solidFill>
                <a:schemeClr val="bg1"/>
              </a:solidFill>
            </a:endParaRPr>
          </a:p>
        </p:txBody>
      </p:sp>
      <p:sp>
        <p:nvSpPr>
          <p:cNvPr id="150" name="Text 9">
            <a:extLst>
              <a:ext uri="{FF2B5EF4-FFF2-40B4-BE49-F238E27FC236}">
                <a16:creationId xmlns:a16="http://schemas.microsoft.com/office/drawing/2014/main" id="{F6E45B7F-DEBD-93A2-FF5E-9C1FA370167A}"/>
              </a:ext>
            </a:extLst>
          </p:cNvPr>
          <p:cNvSpPr/>
          <p:nvPr/>
        </p:nvSpPr>
        <p:spPr>
          <a:xfrm>
            <a:off x="937260" y="1880683"/>
            <a:ext cx="620268" cy="201168"/>
          </a:xfrm>
          <a:prstGeom prst="rect">
            <a:avLst/>
          </a:prstGeom>
          <a:noFill/>
          <a:ln/>
        </p:spPr>
        <p:txBody>
          <a:bodyPr wrap="square" rtlCol="0" anchor="ctr"/>
          <a:lstStyle/>
          <a:p>
            <a:pPr algn="ctr"/>
            <a:r>
              <a:rPr lang="en-US" sz="850" dirty="0">
                <a:solidFill>
                  <a:schemeClr val="bg1"/>
                </a:solidFill>
                <a:latin typeface="Calibri" pitchFamily="34" charset="0"/>
                <a:ea typeface="Calibri" pitchFamily="34" charset="-122"/>
                <a:cs typeface="Calibri" pitchFamily="34" charset="-120"/>
              </a:rPr>
              <a:t>F1 Score</a:t>
            </a:r>
            <a:endParaRPr lang="en-US" sz="850" dirty="0">
              <a:solidFill>
                <a:schemeClr val="bg1"/>
              </a:solidFill>
            </a:endParaRPr>
          </a:p>
        </p:txBody>
      </p:sp>
      <p:sp>
        <p:nvSpPr>
          <p:cNvPr id="151" name="Shape 7">
            <a:extLst>
              <a:ext uri="{FF2B5EF4-FFF2-40B4-BE49-F238E27FC236}">
                <a16:creationId xmlns:a16="http://schemas.microsoft.com/office/drawing/2014/main" id="{B5B508DF-1525-E901-5DE1-9E7462625C36}"/>
              </a:ext>
            </a:extLst>
          </p:cNvPr>
          <p:cNvSpPr/>
          <p:nvPr/>
        </p:nvSpPr>
        <p:spPr>
          <a:xfrm>
            <a:off x="1630680" y="1679195"/>
            <a:ext cx="620268" cy="385630"/>
          </a:xfrm>
          <a:prstGeom prst="roundRect">
            <a:avLst/>
          </a:prstGeom>
          <a:solidFill>
            <a:srgbClr val="42464D">
              <a:alpha val="90000"/>
            </a:srgbClr>
          </a:solidFill>
          <a:ln w="6350">
            <a:noFill/>
            <a:prstDash val="solid"/>
          </a:ln>
        </p:spPr>
        <p:txBody>
          <a:bodyPr/>
          <a:lstStyle/>
          <a:p>
            <a:endParaRPr lang="en-GB"/>
          </a:p>
        </p:txBody>
      </p:sp>
      <p:sp>
        <p:nvSpPr>
          <p:cNvPr id="152" name="Text 8">
            <a:extLst>
              <a:ext uri="{FF2B5EF4-FFF2-40B4-BE49-F238E27FC236}">
                <a16:creationId xmlns:a16="http://schemas.microsoft.com/office/drawing/2014/main" id="{952D151E-C031-F79C-A79E-0B4207FA6339}"/>
              </a:ext>
            </a:extLst>
          </p:cNvPr>
          <p:cNvSpPr/>
          <p:nvPr/>
        </p:nvSpPr>
        <p:spPr>
          <a:xfrm>
            <a:off x="1630680" y="1657251"/>
            <a:ext cx="620268" cy="329184"/>
          </a:xfrm>
          <a:prstGeom prst="rect">
            <a:avLst/>
          </a:prstGeom>
          <a:noFill/>
          <a:ln/>
        </p:spPr>
        <p:txBody>
          <a:bodyPr wrap="square" rtlCol="0" anchor="ctr"/>
          <a:lstStyle/>
          <a:p>
            <a:pPr algn="ctr"/>
            <a:r>
              <a:rPr lang="en-US" sz="1400" b="1" dirty="0">
                <a:solidFill>
                  <a:schemeClr val="bg1"/>
                </a:solidFill>
                <a:latin typeface="Calibri" pitchFamily="34" charset="0"/>
                <a:ea typeface="Calibri" pitchFamily="34" charset="-122"/>
                <a:cs typeface="Calibri" pitchFamily="34" charset="-120"/>
              </a:rPr>
              <a:t>0.685</a:t>
            </a:r>
            <a:endParaRPr lang="en-US" sz="1400" dirty="0">
              <a:solidFill>
                <a:schemeClr val="bg1"/>
              </a:solidFill>
            </a:endParaRPr>
          </a:p>
        </p:txBody>
      </p:sp>
      <p:sp>
        <p:nvSpPr>
          <p:cNvPr id="153" name="Text 9">
            <a:extLst>
              <a:ext uri="{FF2B5EF4-FFF2-40B4-BE49-F238E27FC236}">
                <a16:creationId xmlns:a16="http://schemas.microsoft.com/office/drawing/2014/main" id="{C8616350-E87A-894B-DD8B-58CC2BB2CA80}"/>
              </a:ext>
            </a:extLst>
          </p:cNvPr>
          <p:cNvSpPr/>
          <p:nvPr/>
        </p:nvSpPr>
        <p:spPr>
          <a:xfrm>
            <a:off x="1630680" y="1880683"/>
            <a:ext cx="620268" cy="201168"/>
          </a:xfrm>
          <a:prstGeom prst="rect">
            <a:avLst/>
          </a:prstGeom>
          <a:noFill/>
          <a:ln/>
        </p:spPr>
        <p:txBody>
          <a:bodyPr wrap="square" rtlCol="0" anchor="ctr"/>
          <a:lstStyle/>
          <a:p>
            <a:pPr algn="ctr"/>
            <a:r>
              <a:rPr lang="en-US" sz="850" dirty="0">
                <a:solidFill>
                  <a:schemeClr val="bg1"/>
                </a:solidFill>
                <a:latin typeface="Calibri" pitchFamily="34" charset="0"/>
                <a:ea typeface="Calibri" pitchFamily="34" charset="-122"/>
                <a:cs typeface="Calibri" pitchFamily="34" charset="-120"/>
              </a:rPr>
              <a:t>Recall</a:t>
            </a:r>
            <a:endParaRPr lang="en-US" sz="850" dirty="0">
              <a:solidFill>
                <a:schemeClr val="bg1"/>
              </a:solidFill>
            </a:endParaRPr>
          </a:p>
        </p:txBody>
      </p:sp>
      <p:sp>
        <p:nvSpPr>
          <p:cNvPr id="154" name="Shape 7">
            <a:extLst>
              <a:ext uri="{FF2B5EF4-FFF2-40B4-BE49-F238E27FC236}">
                <a16:creationId xmlns:a16="http://schemas.microsoft.com/office/drawing/2014/main" id="{2DE19896-C6D4-D600-F668-E3111E4E044D}"/>
              </a:ext>
            </a:extLst>
          </p:cNvPr>
          <p:cNvSpPr/>
          <p:nvPr/>
        </p:nvSpPr>
        <p:spPr>
          <a:xfrm>
            <a:off x="2296668" y="1679195"/>
            <a:ext cx="620268" cy="385630"/>
          </a:xfrm>
          <a:prstGeom prst="roundRect">
            <a:avLst/>
          </a:prstGeom>
          <a:solidFill>
            <a:srgbClr val="42464D">
              <a:alpha val="90000"/>
            </a:srgbClr>
          </a:solidFill>
          <a:ln w="6350">
            <a:noFill/>
            <a:prstDash val="solid"/>
          </a:ln>
        </p:spPr>
        <p:txBody>
          <a:bodyPr/>
          <a:lstStyle/>
          <a:p>
            <a:endParaRPr lang="en-GB"/>
          </a:p>
        </p:txBody>
      </p:sp>
      <p:sp>
        <p:nvSpPr>
          <p:cNvPr id="155" name="Text 8">
            <a:extLst>
              <a:ext uri="{FF2B5EF4-FFF2-40B4-BE49-F238E27FC236}">
                <a16:creationId xmlns:a16="http://schemas.microsoft.com/office/drawing/2014/main" id="{4EED4004-6DC8-B38F-BABA-3BD9B8A7FE0C}"/>
              </a:ext>
            </a:extLst>
          </p:cNvPr>
          <p:cNvSpPr/>
          <p:nvPr/>
        </p:nvSpPr>
        <p:spPr>
          <a:xfrm>
            <a:off x="2296668" y="1657251"/>
            <a:ext cx="620268" cy="329184"/>
          </a:xfrm>
          <a:prstGeom prst="rect">
            <a:avLst/>
          </a:prstGeom>
          <a:noFill/>
          <a:ln/>
        </p:spPr>
        <p:txBody>
          <a:bodyPr wrap="square" rtlCol="0" anchor="ctr"/>
          <a:lstStyle/>
          <a:p>
            <a:pPr algn="ctr"/>
            <a:r>
              <a:rPr lang="en-US" sz="1400" b="1" dirty="0">
                <a:solidFill>
                  <a:srgbClr val="E8ECF4"/>
                </a:solidFill>
                <a:latin typeface="Calibri" pitchFamily="34" charset="0"/>
                <a:ea typeface="Calibri" pitchFamily="34" charset="-122"/>
                <a:cs typeface="Calibri" pitchFamily="34" charset="-120"/>
              </a:rPr>
              <a:t>0.679</a:t>
            </a:r>
            <a:endParaRPr lang="en-US" sz="1400" dirty="0"/>
          </a:p>
        </p:txBody>
      </p:sp>
      <p:sp>
        <p:nvSpPr>
          <p:cNvPr id="156" name="Text 9">
            <a:extLst>
              <a:ext uri="{FF2B5EF4-FFF2-40B4-BE49-F238E27FC236}">
                <a16:creationId xmlns:a16="http://schemas.microsoft.com/office/drawing/2014/main" id="{A30FE154-5134-E2D5-8B97-A613223182C4}"/>
              </a:ext>
            </a:extLst>
          </p:cNvPr>
          <p:cNvSpPr/>
          <p:nvPr/>
        </p:nvSpPr>
        <p:spPr>
          <a:xfrm>
            <a:off x="2296668" y="1880683"/>
            <a:ext cx="620268" cy="201168"/>
          </a:xfrm>
          <a:prstGeom prst="rect">
            <a:avLst/>
          </a:prstGeom>
          <a:noFill/>
          <a:ln/>
        </p:spPr>
        <p:txBody>
          <a:bodyPr wrap="square" rtlCol="0" anchor="ctr"/>
          <a:lstStyle/>
          <a:p>
            <a:pPr algn="ctr"/>
            <a:r>
              <a:rPr lang="en-US" sz="850" dirty="0">
                <a:solidFill>
                  <a:schemeClr val="bg1"/>
                </a:solidFill>
                <a:latin typeface="Calibri" pitchFamily="34" charset="0"/>
                <a:ea typeface="Calibri" pitchFamily="34" charset="-122"/>
                <a:cs typeface="Calibri" pitchFamily="34" charset="-120"/>
              </a:rPr>
              <a:t>Precision</a:t>
            </a:r>
            <a:endParaRPr lang="en-US" sz="850" dirty="0">
              <a:solidFill>
                <a:schemeClr val="bg1"/>
              </a:solidFill>
            </a:endParaRPr>
          </a:p>
        </p:txBody>
      </p:sp>
      <p:pic>
        <p:nvPicPr>
          <p:cNvPr id="1026" name="Picture 2">
            <a:extLst>
              <a:ext uri="{FF2B5EF4-FFF2-40B4-BE49-F238E27FC236}">
                <a16:creationId xmlns:a16="http://schemas.microsoft.com/office/drawing/2014/main" id="{DFABD145-7C19-C1AC-8D0B-2EC3F35AA48F}"/>
              </a:ext>
            </a:extLst>
          </p:cNvPr>
          <p:cNvPicPr>
            <a:picLocks noChangeAspect="1" noChangeArrowheads="1"/>
          </p:cNvPicPr>
          <p:nvPr/>
        </p:nvPicPr>
        <p:blipFill>
          <a:blip r:embed="rId3"/>
          <a:srcRect/>
          <a:stretch/>
        </p:blipFill>
        <p:spPr bwMode="auto">
          <a:xfrm>
            <a:off x="266831" y="3487378"/>
            <a:ext cx="2640961" cy="1505246"/>
          </a:xfrm>
          <a:prstGeom prst="rect">
            <a:avLst/>
          </a:prstGeom>
          <a:noFill/>
          <a:extLst>
            <a:ext uri="{909E8E84-426E-40DD-AFC4-6F175D3DCCD1}">
              <a14:hiddenFill xmlns:a14="http://schemas.microsoft.com/office/drawing/2010/main">
                <a:solidFill>
                  <a:srgbClr val="FFFFFF"/>
                </a:solidFill>
              </a14:hiddenFill>
            </a:ext>
          </a:extLst>
        </p:spPr>
      </p:pic>
      <p:sp>
        <p:nvSpPr>
          <p:cNvPr id="20" name="Text 20">
            <a:extLst>
              <a:ext uri="{FF2B5EF4-FFF2-40B4-BE49-F238E27FC236}">
                <a16:creationId xmlns:a16="http://schemas.microsoft.com/office/drawing/2014/main" id="{2D793D67-79BD-1CE6-5538-2544515BC1D4}"/>
              </a:ext>
            </a:extLst>
          </p:cNvPr>
          <p:cNvSpPr/>
          <p:nvPr/>
        </p:nvSpPr>
        <p:spPr>
          <a:xfrm>
            <a:off x="256032" y="3273552"/>
            <a:ext cx="2651760" cy="201168"/>
          </a:xfrm>
          <a:prstGeom prst="rect">
            <a:avLst/>
          </a:prstGeom>
          <a:noFill/>
          <a:ln/>
        </p:spPr>
        <p:txBody>
          <a:bodyPr wrap="square" rtlCol="0" anchor="ctr"/>
          <a:lstStyle/>
          <a:p>
            <a:pPr marL="0" indent="0">
              <a:buNone/>
            </a:pPr>
            <a:r>
              <a:rPr lang="en-US" sz="750" b="1" kern="0" spc="200" dirty="0">
                <a:solidFill>
                  <a:srgbClr val="CC3232"/>
                </a:solidFill>
                <a:latin typeface="Calibri" pitchFamily="34" charset="0"/>
                <a:ea typeface="Calibri" pitchFamily="34" charset="-122"/>
                <a:cs typeface="Calibri" pitchFamily="34" charset="-120"/>
              </a:rPr>
              <a:t>ROC CURVE</a:t>
            </a:r>
            <a:endParaRPr lang="en-US" sz="750" dirty="0">
              <a:solidFill>
                <a:srgbClr val="CC3232"/>
              </a:solidFill>
            </a:endParaRPr>
          </a:p>
        </p:txBody>
      </p:sp>
      <p:sp>
        <p:nvSpPr>
          <p:cNvPr id="29" name="Rectangle: Rounded Corners 28">
            <a:extLst>
              <a:ext uri="{FF2B5EF4-FFF2-40B4-BE49-F238E27FC236}">
                <a16:creationId xmlns:a16="http://schemas.microsoft.com/office/drawing/2014/main" id="{3A37D2DD-33CC-0B05-EA53-A1DC4B0461C2}"/>
              </a:ext>
            </a:extLst>
          </p:cNvPr>
          <p:cNvSpPr/>
          <p:nvPr/>
        </p:nvSpPr>
        <p:spPr>
          <a:xfrm>
            <a:off x="771525" y="3877056"/>
            <a:ext cx="504826" cy="133223"/>
          </a:xfrm>
          <a:prstGeom prst="roundRect">
            <a:avLst/>
          </a:prstGeom>
          <a:noFill/>
          <a:ln w="9525">
            <a:solidFill>
              <a:srgbClr val="3ECF8E"/>
            </a:solidFill>
          </a:ln>
        </p:spPr>
        <p:style>
          <a:lnRef idx="2">
            <a:schemeClr val="accent1">
              <a:shade val="15000"/>
            </a:schemeClr>
          </a:lnRef>
          <a:fillRef idx="1">
            <a:schemeClr val="accent1"/>
          </a:fillRef>
          <a:effectRef idx="0">
            <a:schemeClr val="accent1"/>
          </a:effectRef>
          <a:fontRef idx="minor">
            <a:schemeClr val="lt1"/>
          </a:fontRef>
        </p:style>
        <p:txBody>
          <a:bodyPr lIns="18000" rIns="0" rtlCol="0" anchor="ctr"/>
          <a:lstStyle/>
          <a:p>
            <a:r>
              <a:rPr lang="en-GB" sz="600" b="1" dirty="0"/>
              <a:t>0.25 threshold</a:t>
            </a:r>
          </a:p>
        </p:txBody>
      </p:sp>
      <p:sp>
        <p:nvSpPr>
          <p:cNvPr id="31" name="Rectangle: Rounded Corners 30">
            <a:extLst>
              <a:ext uri="{FF2B5EF4-FFF2-40B4-BE49-F238E27FC236}">
                <a16:creationId xmlns:a16="http://schemas.microsoft.com/office/drawing/2014/main" id="{C34A810F-D293-C3BF-4D33-D1D2D2139486}"/>
              </a:ext>
            </a:extLst>
          </p:cNvPr>
          <p:cNvSpPr/>
          <p:nvPr/>
        </p:nvSpPr>
        <p:spPr>
          <a:xfrm>
            <a:off x="1448371" y="4489704"/>
            <a:ext cx="504826" cy="133223"/>
          </a:xfrm>
          <a:prstGeom prst="roundRect">
            <a:avLst/>
          </a:prstGeom>
          <a:noFill/>
          <a:ln w="95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0" rtlCol="0" anchor="ctr"/>
          <a:lstStyle/>
          <a:p>
            <a:pPr algn="ctr"/>
            <a:r>
              <a:rPr lang="en-GB" sz="600" b="1" dirty="0"/>
              <a:t>AUC = 0.910</a:t>
            </a:r>
          </a:p>
        </p:txBody>
      </p:sp>
      <p:sp>
        <p:nvSpPr>
          <p:cNvPr id="33" name="Text 22">
            <a:extLst>
              <a:ext uri="{FF2B5EF4-FFF2-40B4-BE49-F238E27FC236}">
                <a16:creationId xmlns:a16="http://schemas.microsoft.com/office/drawing/2014/main" id="{74B4EAD7-115C-53E7-B591-256788716ED8}"/>
              </a:ext>
            </a:extLst>
          </p:cNvPr>
          <p:cNvSpPr/>
          <p:nvPr/>
        </p:nvSpPr>
        <p:spPr>
          <a:xfrm>
            <a:off x="6231179" y="509397"/>
            <a:ext cx="2606040" cy="201168"/>
          </a:xfrm>
          <a:prstGeom prst="rect">
            <a:avLst/>
          </a:prstGeom>
          <a:noFill/>
          <a:ln/>
        </p:spPr>
        <p:txBody>
          <a:bodyPr wrap="square" rtlCol="0" anchor="ctr"/>
          <a:lstStyle/>
          <a:p>
            <a:r>
              <a:rPr lang="en-US" sz="750" b="1" kern="0" spc="200" dirty="0">
                <a:solidFill>
                  <a:srgbClr val="CC3232"/>
                </a:solidFill>
                <a:latin typeface="Calibri" pitchFamily="34" charset="0"/>
                <a:ea typeface="Calibri" pitchFamily="34" charset="-122"/>
                <a:cs typeface="Calibri" pitchFamily="34" charset="-120"/>
              </a:rPr>
              <a:t>FEATURES &amp; PRE-PROCESSING</a:t>
            </a:r>
            <a:endParaRPr lang="en-US" sz="750" dirty="0">
              <a:solidFill>
                <a:srgbClr val="CC3232"/>
              </a:solidFill>
            </a:endParaRPr>
          </a:p>
        </p:txBody>
      </p:sp>
      <p:grpSp>
        <p:nvGrpSpPr>
          <p:cNvPr id="35" name="Group 34">
            <a:extLst>
              <a:ext uri="{FF2B5EF4-FFF2-40B4-BE49-F238E27FC236}">
                <a16:creationId xmlns:a16="http://schemas.microsoft.com/office/drawing/2014/main" id="{9EC8048F-FFCC-3692-6E34-FE04D657DE7E}"/>
              </a:ext>
            </a:extLst>
          </p:cNvPr>
          <p:cNvGrpSpPr/>
          <p:nvPr/>
        </p:nvGrpSpPr>
        <p:grpSpPr>
          <a:xfrm>
            <a:off x="6271257" y="723696"/>
            <a:ext cx="2688334" cy="301752"/>
            <a:chOff x="6309360" y="723696"/>
            <a:chExt cx="2688334" cy="301752"/>
          </a:xfrm>
        </p:grpSpPr>
        <p:sp>
          <p:nvSpPr>
            <p:cNvPr id="74" name="Text 71">
              <a:extLst>
                <a:ext uri="{FF2B5EF4-FFF2-40B4-BE49-F238E27FC236}">
                  <a16:creationId xmlns:a16="http://schemas.microsoft.com/office/drawing/2014/main" id="{D67E3BDB-7E51-717D-77C8-40DBE8D64029}"/>
                </a:ext>
              </a:extLst>
            </p:cNvPr>
            <p:cNvSpPr/>
            <p:nvPr/>
          </p:nvSpPr>
          <p:spPr>
            <a:xfrm>
              <a:off x="6419087" y="842568"/>
              <a:ext cx="2578607" cy="182880"/>
            </a:xfrm>
            <a:prstGeom prst="rect">
              <a:avLst/>
            </a:prstGeom>
            <a:noFill/>
            <a:ln/>
          </p:spPr>
          <p:txBody>
            <a:bodyPr wrap="square" lIns="18000" rtlCol="0" anchor="ctr"/>
            <a:lstStyle/>
            <a:p>
              <a:pPr marL="0" indent="0">
                <a:buNone/>
              </a:pPr>
              <a:r>
                <a:rPr lang="en-US" sz="750" dirty="0">
                  <a:latin typeface="Calibri" pitchFamily="34" charset="0"/>
                  <a:ea typeface="Calibri" pitchFamily="34" charset="-122"/>
                  <a:cs typeface="Calibri" pitchFamily="34" charset="-120"/>
                </a:rPr>
                <a:t>cough, fever, sore_throat, shortness_of_breath, head_ache</a:t>
              </a:r>
              <a:endParaRPr lang="en-US" sz="750" dirty="0"/>
            </a:p>
          </p:txBody>
        </p:sp>
        <p:sp>
          <p:nvSpPr>
            <p:cNvPr id="87" name="Shape 84">
              <a:extLst>
                <a:ext uri="{FF2B5EF4-FFF2-40B4-BE49-F238E27FC236}">
                  <a16:creationId xmlns:a16="http://schemas.microsoft.com/office/drawing/2014/main" id="{B767BE3A-572F-F985-7765-298D0277B6FA}"/>
                </a:ext>
              </a:extLst>
            </p:cNvPr>
            <p:cNvSpPr/>
            <p:nvPr/>
          </p:nvSpPr>
          <p:spPr>
            <a:xfrm>
              <a:off x="6309360" y="749807"/>
              <a:ext cx="54864" cy="271653"/>
            </a:xfrm>
            <a:prstGeom prst="rect">
              <a:avLst/>
            </a:prstGeom>
            <a:solidFill>
              <a:srgbClr val="4F8EF7"/>
            </a:solidFill>
            <a:ln w="12700">
              <a:solidFill>
                <a:srgbClr val="4F8EF7"/>
              </a:solidFill>
              <a:prstDash val="solid"/>
            </a:ln>
          </p:spPr>
          <p:txBody>
            <a:bodyPr/>
            <a:lstStyle/>
            <a:p>
              <a:endParaRPr lang="en-GB"/>
            </a:p>
          </p:txBody>
        </p:sp>
        <p:sp>
          <p:nvSpPr>
            <p:cNvPr id="34" name="Text 70">
              <a:extLst>
                <a:ext uri="{FF2B5EF4-FFF2-40B4-BE49-F238E27FC236}">
                  <a16:creationId xmlns:a16="http://schemas.microsoft.com/office/drawing/2014/main" id="{3EFFB37E-E1F5-D249-D227-D97143B7765D}"/>
                </a:ext>
              </a:extLst>
            </p:cNvPr>
            <p:cNvSpPr/>
            <p:nvPr/>
          </p:nvSpPr>
          <p:spPr>
            <a:xfrm>
              <a:off x="6419088" y="723696"/>
              <a:ext cx="2468880" cy="164592"/>
            </a:xfrm>
            <a:prstGeom prst="rect">
              <a:avLst/>
            </a:prstGeom>
            <a:noFill/>
            <a:ln/>
          </p:spPr>
          <p:txBody>
            <a:bodyPr wrap="square" lIns="18000" rtlCol="0" anchor="ctr"/>
            <a:lstStyle/>
            <a:p>
              <a:pPr marL="0" indent="0">
                <a:buNone/>
              </a:pPr>
              <a:r>
                <a:rPr lang="en-US" sz="850" b="1" dirty="0">
                  <a:solidFill>
                    <a:srgbClr val="66686A"/>
                  </a:solidFill>
                  <a:latin typeface="Calibri" pitchFamily="34" charset="0"/>
                  <a:ea typeface="Calibri" pitchFamily="34" charset="-122"/>
                  <a:cs typeface="Calibri" pitchFamily="34" charset="-120"/>
                </a:rPr>
                <a:t>Symptoms – Raw Boolean values</a:t>
              </a:r>
              <a:endParaRPr lang="en-US" sz="850" dirty="0">
                <a:solidFill>
                  <a:srgbClr val="66686A"/>
                </a:solidFill>
              </a:endParaRPr>
            </a:p>
          </p:txBody>
        </p:sp>
      </p:grpSp>
      <p:grpSp>
        <p:nvGrpSpPr>
          <p:cNvPr id="36" name="Group 35">
            <a:extLst>
              <a:ext uri="{FF2B5EF4-FFF2-40B4-BE49-F238E27FC236}">
                <a16:creationId xmlns:a16="http://schemas.microsoft.com/office/drawing/2014/main" id="{7456ADD6-4513-A311-59C5-C57691D1F220}"/>
              </a:ext>
            </a:extLst>
          </p:cNvPr>
          <p:cNvGrpSpPr/>
          <p:nvPr/>
        </p:nvGrpSpPr>
        <p:grpSpPr>
          <a:xfrm>
            <a:off x="6271257" y="1104051"/>
            <a:ext cx="2688334" cy="301752"/>
            <a:chOff x="6309360" y="723696"/>
            <a:chExt cx="2688334" cy="301752"/>
          </a:xfrm>
        </p:grpSpPr>
        <p:sp>
          <p:nvSpPr>
            <p:cNvPr id="37" name="Text 71">
              <a:extLst>
                <a:ext uri="{FF2B5EF4-FFF2-40B4-BE49-F238E27FC236}">
                  <a16:creationId xmlns:a16="http://schemas.microsoft.com/office/drawing/2014/main" id="{8C503A2B-4036-D784-B3AC-7E6D9660E80B}"/>
                </a:ext>
              </a:extLst>
            </p:cNvPr>
            <p:cNvSpPr/>
            <p:nvPr/>
          </p:nvSpPr>
          <p:spPr>
            <a:xfrm>
              <a:off x="6419087" y="842568"/>
              <a:ext cx="2578607" cy="182880"/>
            </a:xfrm>
            <a:prstGeom prst="rect">
              <a:avLst/>
            </a:prstGeom>
            <a:noFill/>
            <a:ln/>
          </p:spPr>
          <p:txBody>
            <a:bodyPr wrap="square" lIns="18000" rtlCol="0" anchor="ctr"/>
            <a:lstStyle/>
            <a:p>
              <a:pPr marL="0" indent="0">
                <a:buNone/>
              </a:pPr>
              <a:r>
                <a:rPr lang="en-US" sz="750" dirty="0">
                  <a:latin typeface="Calibri" pitchFamily="34" charset="0"/>
                  <a:ea typeface="Calibri" pitchFamily="34" charset="-122"/>
                  <a:cs typeface="Calibri" pitchFamily="34" charset="-120"/>
                </a:rPr>
                <a:t>age_60_and_above, male</a:t>
              </a:r>
              <a:endParaRPr lang="en-US" sz="750" dirty="0"/>
            </a:p>
          </p:txBody>
        </p:sp>
        <p:sp>
          <p:nvSpPr>
            <p:cNvPr id="38" name="Shape 84">
              <a:extLst>
                <a:ext uri="{FF2B5EF4-FFF2-40B4-BE49-F238E27FC236}">
                  <a16:creationId xmlns:a16="http://schemas.microsoft.com/office/drawing/2014/main" id="{EAFD2683-B7CF-62F1-43E1-C6BDAA454481}"/>
                </a:ext>
              </a:extLst>
            </p:cNvPr>
            <p:cNvSpPr/>
            <p:nvPr/>
          </p:nvSpPr>
          <p:spPr>
            <a:xfrm>
              <a:off x="6309360" y="749807"/>
              <a:ext cx="54864" cy="271653"/>
            </a:xfrm>
            <a:prstGeom prst="rect">
              <a:avLst/>
            </a:prstGeom>
            <a:solidFill>
              <a:srgbClr val="4F8EF7"/>
            </a:solidFill>
            <a:ln w="12700">
              <a:solidFill>
                <a:srgbClr val="4F8EF7"/>
              </a:solidFill>
              <a:prstDash val="solid"/>
            </a:ln>
          </p:spPr>
          <p:txBody>
            <a:bodyPr/>
            <a:lstStyle/>
            <a:p>
              <a:endParaRPr lang="en-GB"/>
            </a:p>
          </p:txBody>
        </p:sp>
        <p:sp>
          <p:nvSpPr>
            <p:cNvPr id="39" name="Text 70">
              <a:extLst>
                <a:ext uri="{FF2B5EF4-FFF2-40B4-BE49-F238E27FC236}">
                  <a16:creationId xmlns:a16="http://schemas.microsoft.com/office/drawing/2014/main" id="{2080845F-8991-5536-C17F-74BF43E4C9BC}"/>
                </a:ext>
              </a:extLst>
            </p:cNvPr>
            <p:cNvSpPr/>
            <p:nvPr/>
          </p:nvSpPr>
          <p:spPr>
            <a:xfrm>
              <a:off x="6419088" y="723696"/>
              <a:ext cx="2468880" cy="164592"/>
            </a:xfrm>
            <a:prstGeom prst="rect">
              <a:avLst/>
            </a:prstGeom>
            <a:noFill/>
            <a:ln/>
          </p:spPr>
          <p:txBody>
            <a:bodyPr wrap="square" lIns="18000" rtlCol="0" anchor="ctr"/>
            <a:lstStyle/>
            <a:p>
              <a:pPr marL="0" indent="0">
                <a:buNone/>
              </a:pPr>
              <a:r>
                <a:rPr lang="en-US" sz="850" b="1" dirty="0">
                  <a:solidFill>
                    <a:srgbClr val="66686A"/>
                  </a:solidFill>
                  <a:latin typeface="Calibri" pitchFamily="34" charset="0"/>
                  <a:ea typeface="Calibri" pitchFamily="34" charset="-122"/>
                  <a:cs typeface="Calibri" pitchFamily="34" charset="-120"/>
                </a:rPr>
                <a:t>Demographic - Filled nulls</a:t>
              </a:r>
              <a:endParaRPr lang="en-US" sz="850" dirty="0">
                <a:solidFill>
                  <a:srgbClr val="66686A"/>
                </a:solidFill>
              </a:endParaRPr>
            </a:p>
          </p:txBody>
        </p:sp>
      </p:grpSp>
      <p:grpSp>
        <p:nvGrpSpPr>
          <p:cNvPr id="40" name="Group 39">
            <a:extLst>
              <a:ext uri="{FF2B5EF4-FFF2-40B4-BE49-F238E27FC236}">
                <a16:creationId xmlns:a16="http://schemas.microsoft.com/office/drawing/2014/main" id="{A3B992A0-66CB-68B5-F09D-E0AC40B4C837}"/>
              </a:ext>
            </a:extLst>
          </p:cNvPr>
          <p:cNvGrpSpPr/>
          <p:nvPr/>
        </p:nvGrpSpPr>
        <p:grpSpPr>
          <a:xfrm>
            <a:off x="6271257" y="1864761"/>
            <a:ext cx="2871212" cy="301752"/>
            <a:chOff x="6309360" y="723696"/>
            <a:chExt cx="2871212" cy="301752"/>
          </a:xfrm>
        </p:grpSpPr>
        <p:sp>
          <p:nvSpPr>
            <p:cNvPr id="41" name="Text 71">
              <a:extLst>
                <a:ext uri="{FF2B5EF4-FFF2-40B4-BE49-F238E27FC236}">
                  <a16:creationId xmlns:a16="http://schemas.microsoft.com/office/drawing/2014/main" id="{14CA6F94-5632-1B1D-C508-8B63FBBF5115}"/>
                </a:ext>
              </a:extLst>
            </p:cNvPr>
            <p:cNvSpPr/>
            <p:nvPr/>
          </p:nvSpPr>
          <p:spPr>
            <a:xfrm>
              <a:off x="6419087" y="842568"/>
              <a:ext cx="2578607" cy="182880"/>
            </a:xfrm>
            <a:prstGeom prst="rect">
              <a:avLst/>
            </a:prstGeom>
            <a:noFill/>
            <a:ln/>
          </p:spPr>
          <p:txBody>
            <a:bodyPr wrap="square" lIns="18000" rtlCol="0" anchor="ctr"/>
            <a:lstStyle/>
            <a:p>
              <a:pPr marL="0" indent="0">
                <a:buNone/>
              </a:pPr>
              <a:r>
                <a:rPr lang="en-US" sz="750" dirty="0">
                  <a:latin typeface="Calibri" pitchFamily="34" charset="0"/>
                  <a:ea typeface="Calibri" pitchFamily="34" charset="-122"/>
                  <a:cs typeface="Calibri" pitchFamily="34" charset="-120"/>
                </a:rPr>
                <a:t>contact_confirmed, abroad</a:t>
              </a:r>
              <a:endParaRPr lang="en-US" sz="750" dirty="0"/>
            </a:p>
          </p:txBody>
        </p:sp>
        <p:sp>
          <p:nvSpPr>
            <p:cNvPr id="42" name="Shape 84">
              <a:extLst>
                <a:ext uri="{FF2B5EF4-FFF2-40B4-BE49-F238E27FC236}">
                  <a16:creationId xmlns:a16="http://schemas.microsoft.com/office/drawing/2014/main" id="{3D051AD4-6735-A7A4-8216-44D87012C3A6}"/>
                </a:ext>
              </a:extLst>
            </p:cNvPr>
            <p:cNvSpPr/>
            <p:nvPr/>
          </p:nvSpPr>
          <p:spPr>
            <a:xfrm>
              <a:off x="6309360" y="749807"/>
              <a:ext cx="54864" cy="271653"/>
            </a:xfrm>
            <a:prstGeom prst="rect">
              <a:avLst/>
            </a:prstGeom>
            <a:solidFill>
              <a:srgbClr val="4F8EF7"/>
            </a:solidFill>
            <a:ln w="12700">
              <a:solidFill>
                <a:srgbClr val="4F8EF7"/>
              </a:solidFill>
              <a:prstDash val="solid"/>
            </a:ln>
          </p:spPr>
          <p:txBody>
            <a:bodyPr/>
            <a:lstStyle/>
            <a:p>
              <a:endParaRPr lang="en-GB"/>
            </a:p>
          </p:txBody>
        </p:sp>
        <p:sp>
          <p:nvSpPr>
            <p:cNvPr id="43" name="Text 70">
              <a:extLst>
                <a:ext uri="{FF2B5EF4-FFF2-40B4-BE49-F238E27FC236}">
                  <a16:creationId xmlns:a16="http://schemas.microsoft.com/office/drawing/2014/main" id="{EA52083C-475B-D819-CA9A-C83C2F733FEF}"/>
                </a:ext>
              </a:extLst>
            </p:cNvPr>
            <p:cNvSpPr/>
            <p:nvPr/>
          </p:nvSpPr>
          <p:spPr>
            <a:xfrm>
              <a:off x="6419087" y="723696"/>
              <a:ext cx="2761485" cy="164592"/>
            </a:xfrm>
            <a:prstGeom prst="rect">
              <a:avLst/>
            </a:prstGeom>
            <a:noFill/>
            <a:ln/>
          </p:spPr>
          <p:txBody>
            <a:bodyPr wrap="square" lIns="18000" rtlCol="0" anchor="ctr"/>
            <a:lstStyle/>
            <a:p>
              <a:pPr marL="0" indent="0">
                <a:buNone/>
              </a:pPr>
              <a:r>
                <a:rPr lang="en-US" sz="850" b="1" dirty="0">
                  <a:solidFill>
                    <a:srgbClr val="66686A"/>
                  </a:solidFill>
                  <a:latin typeface="Calibri" pitchFamily="34" charset="0"/>
                  <a:ea typeface="Calibri" pitchFamily="34" charset="-122"/>
                  <a:cs typeface="Calibri" pitchFamily="34" charset="-120"/>
                </a:rPr>
                <a:t>Indicators - Extracted confirmed contact and abroad status</a:t>
              </a:r>
              <a:endParaRPr lang="en-US" sz="850" dirty="0">
                <a:solidFill>
                  <a:srgbClr val="66686A"/>
                </a:solidFill>
              </a:endParaRPr>
            </a:p>
          </p:txBody>
        </p:sp>
      </p:grpSp>
      <p:grpSp>
        <p:nvGrpSpPr>
          <p:cNvPr id="44" name="Group 43">
            <a:extLst>
              <a:ext uri="{FF2B5EF4-FFF2-40B4-BE49-F238E27FC236}">
                <a16:creationId xmlns:a16="http://schemas.microsoft.com/office/drawing/2014/main" id="{3B36DCAA-42A7-75CB-D51A-0E2259CFC55F}"/>
              </a:ext>
            </a:extLst>
          </p:cNvPr>
          <p:cNvGrpSpPr/>
          <p:nvPr/>
        </p:nvGrpSpPr>
        <p:grpSpPr>
          <a:xfrm>
            <a:off x="6271257" y="2245115"/>
            <a:ext cx="2871212" cy="388727"/>
            <a:chOff x="6309360" y="711756"/>
            <a:chExt cx="2871212" cy="388727"/>
          </a:xfrm>
        </p:grpSpPr>
        <p:sp>
          <p:nvSpPr>
            <p:cNvPr id="45" name="Text 71">
              <a:extLst>
                <a:ext uri="{FF2B5EF4-FFF2-40B4-BE49-F238E27FC236}">
                  <a16:creationId xmlns:a16="http://schemas.microsoft.com/office/drawing/2014/main" id="{039F35A4-39D6-FBF7-1645-CB8CE809BDFE}"/>
                </a:ext>
              </a:extLst>
            </p:cNvPr>
            <p:cNvSpPr/>
            <p:nvPr/>
          </p:nvSpPr>
          <p:spPr>
            <a:xfrm>
              <a:off x="6419087" y="917603"/>
              <a:ext cx="2578607" cy="182880"/>
            </a:xfrm>
            <a:prstGeom prst="rect">
              <a:avLst/>
            </a:prstGeom>
            <a:noFill/>
            <a:ln/>
          </p:spPr>
          <p:txBody>
            <a:bodyPr wrap="square" lIns="18000" rtlCol="0" anchor="ctr"/>
            <a:lstStyle/>
            <a:p>
              <a:pPr marL="0" indent="0">
                <a:buNone/>
              </a:pPr>
              <a:r>
                <a:rPr lang="en-US" sz="750" dirty="0">
                  <a:latin typeface="Calibri" pitchFamily="34" charset="0"/>
                  <a:ea typeface="Calibri" pitchFamily="34" charset="-122"/>
                  <a:cs typeface="Calibri" pitchFamily="34" charset="-120"/>
                </a:rPr>
                <a:t>num_symptoms, 10x combinations of symptom features</a:t>
              </a:r>
              <a:endParaRPr lang="en-US" sz="750" dirty="0"/>
            </a:p>
          </p:txBody>
        </p:sp>
        <p:sp>
          <p:nvSpPr>
            <p:cNvPr id="46" name="Shape 84">
              <a:extLst>
                <a:ext uri="{FF2B5EF4-FFF2-40B4-BE49-F238E27FC236}">
                  <a16:creationId xmlns:a16="http://schemas.microsoft.com/office/drawing/2014/main" id="{E1507A59-A9F7-4E46-F84B-27572B98A9DF}"/>
                </a:ext>
              </a:extLst>
            </p:cNvPr>
            <p:cNvSpPr/>
            <p:nvPr/>
          </p:nvSpPr>
          <p:spPr>
            <a:xfrm>
              <a:off x="6309360" y="711756"/>
              <a:ext cx="54864" cy="370365"/>
            </a:xfrm>
            <a:prstGeom prst="rect">
              <a:avLst/>
            </a:prstGeom>
            <a:solidFill>
              <a:srgbClr val="4F8EF7"/>
            </a:solidFill>
            <a:ln w="12700">
              <a:solidFill>
                <a:srgbClr val="4F8EF7"/>
              </a:solidFill>
              <a:prstDash val="solid"/>
            </a:ln>
          </p:spPr>
          <p:txBody>
            <a:bodyPr/>
            <a:lstStyle/>
            <a:p>
              <a:endParaRPr lang="en-GB"/>
            </a:p>
          </p:txBody>
        </p:sp>
        <p:sp>
          <p:nvSpPr>
            <p:cNvPr id="47" name="Text 70">
              <a:extLst>
                <a:ext uri="{FF2B5EF4-FFF2-40B4-BE49-F238E27FC236}">
                  <a16:creationId xmlns:a16="http://schemas.microsoft.com/office/drawing/2014/main" id="{38CB2D9F-4C11-72DE-FE90-A6D6BBBDC8CD}"/>
                </a:ext>
              </a:extLst>
            </p:cNvPr>
            <p:cNvSpPr/>
            <p:nvPr/>
          </p:nvSpPr>
          <p:spPr>
            <a:xfrm>
              <a:off x="6419087" y="723696"/>
              <a:ext cx="2761485" cy="164592"/>
            </a:xfrm>
            <a:prstGeom prst="rect">
              <a:avLst/>
            </a:prstGeom>
            <a:noFill/>
            <a:ln/>
          </p:spPr>
          <p:txBody>
            <a:bodyPr wrap="square" lIns="18000" rtlCol="0" anchor="ctr"/>
            <a:lstStyle/>
            <a:p>
              <a:pPr marL="0" indent="0">
                <a:buNone/>
              </a:pPr>
              <a:r>
                <a:rPr lang="en-US" sz="850" b="1" dirty="0">
                  <a:solidFill>
                    <a:srgbClr val="66686A"/>
                  </a:solidFill>
                  <a:latin typeface="Calibri" pitchFamily="34" charset="0"/>
                  <a:ea typeface="Calibri" pitchFamily="34" charset="-122"/>
                  <a:cs typeface="Calibri" pitchFamily="34" charset="-120"/>
                </a:rPr>
                <a:t>Symptom Combinations - Boolean values for each combination and a count of total symptoms</a:t>
              </a:r>
              <a:endParaRPr lang="en-US" sz="850" dirty="0">
                <a:solidFill>
                  <a:srgbClr val="66686A"/>
                </a:solidFill>
              </a:endParaRPr>
            </a:p>
          </p:txBody>
        </p:sp>
      </p:grpSp>
      <p:grpSp>
        <p:nvGrpSpPr>
          <p:cNvPr id="48" name="Group 47">
            <a:extLst>
              <a:ext uri="{FF2B5EF4-FFF2-40B4-BE49-F238E27FC236}">
                <a16:creationId xmlns:a16="http://schemas.microsoft.com/office/drawing/2014/main" id="{8D3E2EE9-6843-4C97-57B5-C27D94F42146}"/>
              </a:ext>
            </a:extLst>
          </p:cNvPr>
          <p:cNvGrpSpPr/>
          <p:nvPr/>
        </p:nvGrpSpPr>
        <p:grpSpPr>
          <a:xfrm>
            <a:off x="6271257" y="1484406"/>
            <a:ext cx="2871212" cy="301752"/>
            <a:chOff x="6309360" y="723696"/>
            <a:chExt cx="2871212" cy="301752"/>
          </a:xfrm>
        </p:grpSpPr>
        <p:sp>
          <p:nvSpPr>
            <p:cNvPr id="49" name="Text 71">
              <a:extLst>
                <a:ext uri="{FF2B5EF4-FFF2-40B4-BE49-F238E27FC236}">
                  <a16:creationId xmlns:a16="http://schemas.microsoft.com/office/drawing/2014/main" id="{9D0AADA9-A46A-585A-6A20-6DE7B432A5B6}"/>
                </a:ext>
              </a:extLst>
            </p:cNvPr>
            <p:cNvSpPr/>
            <p:nvPr/>
          </p:nvSpPr>
          <p:spPr>
            <a:xfrm>
              <a:off x="6419087" y="842568"/>
              <a:ext cx="2578607" cy="182880"/>
            </a:xfrm>
            <a:prstGeom prst="rect">
              <a:avLst/>
            </a:prstGeom>
            <a:noFill/>
            <a:ln/>
          </p:spPr>
          <p:txBody>
            <a:bodyPr wrap="square" lIns="18000" rtlCol="0" anchor="ctr"/>
            <a:lstStyle/>
            <a:p>
              <a:pPr marL="0" indent="0">
                <a:buNone/>
              </a:pPr>
              <a:r>
                <a:rPr lang="en-US" sz="750" dirty="0">
                  <a:latin typeface="Calibri" pitchFamily="34" charset="0"/>
                  <a:ea typeface="Calibri" pitchFamily="34" charset="-122"/>
                  <a:cs typeface="Calibri" pitchFamily="34" charset="-120"/>
                </a:rPr>
                <a:t>date_ord</a:t>
              </a:r>
              <a:endParaRPr lang="en-US" sz="750" dirty="0"/>
            </a:p>
          </p:txBody>
        </p:sp>
        <p:sp>
          <p:nvSpPr>
            <p:cNvPr id="50" name="Shape 84">
              <a:extLst>
                <a:ext uri="{FF2B5EF4-FFF2-40B4-BE49-F238E27FC236}">
                  <a16:creationId xmlns:a16="http://schemas.microsoft.com/office/drawing/2014/main" id="{4D20894E-E638-CE3D-705D-BA89DADADAEE}"/>
                </a:ext>
              </a:extLst>
            </p:cNvPr>
            <p:cNvSpPr/>
            <p:nvPr/>
          </p:nvSpPr>
          <p:spPr>
            <a:xfrm>
              <a:off x="6309360" y="749807"/>
              <a:ext cx="54864" cy="271653"/>
            </a:xfrm>
            <a:prstGeom prst="rect">
              <a:avLst/>
            </a:prstGeom>
            <a:solidFill>
              <a:srgbClr val="4F8EF7"/>
            </a:solidFill>
            <a:ln w="12700">
              <a:solidFill>
                <a:srgbClr val="4F8EF7"/>
              </a:solidFill>
              <a:prstDash val="solid"/>
            </a:ln>
          </p:spPr>
          <p:txBody>
            <a:bodyPr/>
            <a:lstStyle/>
            <a:p>
              <a:endParaRPr lang="en-GB"/>
            </a:p>
          </p:txBody>
        </p:sp>
        <p:sp>
          <p:nvSpPr>
            <p:cNvPr id="51" name="Text 70">
              <a:extLst>
                <a:ext uri="{FF2B5EF4-FFF2-40B4-BE49-F238E27FC236}">
                  <a16:creationId xmlns:a16="http://schemas.microsoft.com/office/drawing/2014/main" id="{10ADC43B-AF5D-03A2-7FC0-F4CED5DA6D67}"/>
                </a:ext>
              </a:extLst>
            </p:cNvPr>
            <p:cNvSpPr/>
            <p:nvPr/>
          </p:nvSpPr>
          <p:spPr>
            <a:xfrm>
              <a:off x="6419087" y="723696"/>
              <a:ext cx="2761485" cy="164592"/>
            </a:xfrm>
            <a:prstGeom prst="rect">
              <a:avLst/>
            </a:prstGeom>
            <a:noFill/>
            <a:ln/>
          </p:spPr>
          <p:txBody>
            <a:bodyPr wrap="square" lIns="18000" rtlCol="0" anchor="ctr"/>
            <a:lstStyle/>
            <a:p>
              <a:pPr marL="0" indent="0">
                <a:buNone/>
              </a:pPr>
              <a:r>
                <a:rPr lang="en-US" sz="850" b="1" dirty="0">
                  <a:solidFill>
                    <a:srgbClr val="66686A"/>
                  </a:solidFill>
                  <a:latin typeface="Calibri" pitchFamily="34" charset="0"/>
                  <a:ea typeface="Calibri" pitchFamily="34" charset="-122"/>
                  <a:cs typeface="Calibri" pitchFamily="34" charset="-120"/>
                </a:rPr>
                <a:t>Test Date - Converted to ordinal integer</a:t>
              </a:r>
              <a:endParaRPr lang="en-US" sz="850" dirty="0">
                <a:solidFill>
                  <a:srgbClr val="66686A"/>
                </a:solidFill>
              </a:endParaRPr>
            </a:p>
          </p:txBody>
        </p:sp>
      </p:grpSp>
      <p:pic>
        <p:nvPicPr>
          <p:cNvPr id="1030" name="Picture 6">
            <a:extLst>
              <a:ext uri="{FF2B5EF4-FFF2-40B4-BE49-F238E27FC236}">
                <a16:creationId xmlns:a16="http://schemas.microsoft.com/office/drawing/2014/main" id="{EC2E0C17-DBA5-5AEE-E900-7F6A5227750A}"/>
              </a:ext>
            </a:extLst>
          </p:cNvPr>
          <p:cNvPicPr>
            <a:picLocks noChangeAspect="1" noChangeArrowheads="1"/>
          </p:cNvPicPr>
          <p:nvPr/>
        </p:nvPicPr>
        <p:blipFill>
          <a:blip r:embed="rId4"/>
          <a:srcRect/>
          <a:stretch/>
        </p:blipFill>
        <p:spPr bwMode="auto">
          <a:xfrm>
            <a:off x="6288015" y="2891282"/>
            <a:ext cx="2671575" cy="1885817"/>
          </a:xfrm>
          <a:prstGeom prst="rect">
            <a:avLst/>
          </a:prstGeom>
          <a:noFill/>
          <a:extLst>
            <a:ext uri="{909E8E84-426E-40DD-AFC4-6F175D3DCCD1}">
              <a14:hiddenFill xmlns:a14="http://schemas.microsoft.com/office/drawing/2010/main">
                <a:solidFill>
                  <a:srgbClr val="FFFFFF"/>
                </a:solidFill>
              </a14:hiddenFill>
            </a:ext>
          </a:extLst>
        </p:spPr>
      </p:pic>
      <p:sp>
        <p:nvSpPr>
          <p:cNvPr id="58" name="Text 22">
            <a:extLst>
              <a:ext uri="{FF2B5EF4-FFF2-40B4-BE49-F238E27FC236}">
                <a16:creationId xmlns:a16="http://schemas.microsoft.com/office/drawing/2014/main" id="{C6D1EB2C-9A53-9473-3664-61EBAE30B1D5}"/>
              </a:ext>
            </a:extLst>
          </p:cNvPr>
          <p:cNvSpPr/>
          <p:nvPr/>
        </p:nvSpPr>
        <p:spPr>
          <a:xfrm>
            <a:off x="6231179" y="2675962"/>
            <a:ext cx="2606040" cy="201168"/>
          </a:xfrm>
          <a:prstGeom prst="rect">
            <a:avLst/>
          </a:prstGeom>
          <a:noFill/>
          <a:ln/>
        </p:spPr>
        <p:txBody>
          <a:bodyPr wrap="square" rtlCol="0" anchor="ctr"/>
          <a:lstStyle/>
          <a:p>
            <a:r>
              <a:rPr lang="en-US" sz="750" b="1" kern="0" spc="200" dirty="0">
                <a:solidFill>
                  <a:srgbClr val="CC3232"/>
                </a:solidFill>
                <a:latin typeface="Calibri" pitchFamily="34" charset="0"/>
                <a:ea typeface="Calibri" pitchFamily="34" charset="-122"/>
                <a:cs typeface="Calibri" pitchFamily="34" charset="-120"/>
              </a:rPr>
              <a:t>FEATURE IMPORTANCE</a:t>
            </a:r>
            <a:endParaRPr lang="en-US" sz="750" dirty="0">
              <a:solidFill>
                <a:srgbClr val="CC3232"/>
              </a:solidFill>
            </a:endParaRPr>
          </a:p>
        </p:txBody>
      </p:sp>
      <p:sp>
        <p:nvSpPr>
          <p:cNvPr id="60" name="Text 71">
            <a:extLst>
              <a:ext uri="{FF2B5EF4-FFF2-40B4-BE49-F238E27FC236}">
                <a16:creationId xmlns:a16="http://schemas.microsoft.com/office/drawing/2014/main" id="{0FBC150C-A048-13A8-47AA-2854D4093466}"/>
              </a:ext>
            </a:extLst>
          </p:cNvPr>
          <p:cNvSpPr/>
          <p:nvPr/>
        </p:nvSpPr>
        <p:spPr>
          <a:xfrm>
            <a:off x="6291073" y="4842527"/>
            <a:ext cx="2668518" cy="182880"/>
          </a:xfrm>
          <a:prstGeom prst="rect">
            <a:avLst/>
          </a:prstGeom>
          <a:noFill/>
          <a:ln/>
        </p:spPr>
        <p:txBody>
          <a:bodyPr wrap="square" lIns="18000" rtlCol="0" anchor="ctr"/>
          <a:lstStyle/>
          <a:p>
            <a:pPr marL="0" indent="0">
              <a:buNone/>
            </a:pPr>
            <a:r>
              <a:rPr lang="en-US" sz="750" dirty="0">
                <a:latin typeface="Calibri" pitchFamily="34" charset="0"/>
                <a:ea typeface="Calibri" pitchFamily="34" charset="-122"/>
                <a:cs typeface="Calibri" pitchFamily="34" charset="-120"/>
              </a:rPr>
              <a:t>The symptom combination features are not shown as these resulted in an importance less than or equal to 0.001.</a:t>
            </a:r>
            <a:endParaRPr lang="en-US" sz="750" dirty="0"/>
          </a:p>
        </p:txBody>
      </p:sp>
      <p:sp>
        <p:nvSpPr>
          <p:cNvPr id="61" name="Text 22">
            <a:extLst>
              <a:ext uri="{FF2B5EF4-FFF2-40B4-BE49-F238E27FC236}">
                <a16:creationId xmlns:a16="http://schemas.microsoft.com/office/drawing/2014/main" id="{568913DA-7D4C-2F14-9A32-B244C4455364}"/>
              </a:ext>
            </a:extLst>
          </p:cNvPr>
          <p:cNvSpPr/>
          <p:nvPr/>
        </p:nvSpPr>
        <p:spPr>
          <a:xfrm>
            <a:off x="3310128" y="2958590"/>
            <a:ext cx="2606040" cy="201168"/>
          </a:xfrm>
          <a:prstGeom prst="rect">
            <a:avLst/>
          </a:prstGeom>
          <a:noFill/>
          <a:ln/>
        </p:spPr>
        <p:txBody>
          <a:bodyPr wrap="square" rtlCol="0" anchor="ctr"/>
          <a:lstStyle/>
          <a:p>
            <a:pPr marL="0" indent="0">
              <a:buNone/>
            </a:pPr>
            <a:r>
              <a:rPr lang="en-US" sz="750" b="1" kern="0" spc="200" dirty="0">
                <a:solidFill>
                  <a:srgbClr val="CC3232"/>
                </a:solidFill>
                <a:latin typeface="Calibri" pitchFamily="34" charset="0"/>
                <a:ea typeface="Calibri" pitchFamily="34" charset="-122"/>
                <a:cs typeface="Calibri" pitchFamily="34" charset="-120"/>
              </a:rPr>
              <a:t>WAYS TO IMPROVE</a:t>
            </a:r>
            <a:endParaRPr lang="en-US" sz="750" dirty="0">
              <a:solidFill>
                <a:srgbClr val="CC3232"/>
              </a:solidFill>
            </a:endParaRPr>
          </a:p>
        </p:txBody>
      </p:sp>
      <p:sp>
        <p:nvSpPr>
          <p:cNvPr id="62" name="Text 71">
            <a:extLst>
              <a:ext uri="{FF2B5EF4-FFF2-40B4-BE49-F238E27FC236}">
                <a16:creationId xmlns:a16="http://schemas.microsoft.com/office/drawing/2014/main" id="{FD55C4C1-604F-DB48-9E43-A5614541BBE1}"/>
              </a:ext>
            </a:extLst>
          </p:cNvPr>
          <p:cNvSpPr/>
          <p:nvPr/>
        </p:nvSpPr>
        <p:spPr>
          <a:xfrm>
            <a:off x="3323165" y="3083799"/>
            <a:ext cx="2668518" cy="472208"/>
          </a:xfrm>
          <a:prstGeom prst="rect">
            <a:avLst/>
          </a:prstGeom>
          <a:noFill/>
          <a:ln/>
        </p:spPr>
        <p:txBody>
          <a:bodyPr wrap="square" lIns="18000" rtlCol="0" anchor="ctr"/>
          <a:lstStyle/>
          <a:p>
            <a:pPr marL="0" indent="0">
              <a:buNone/>
            </a:pPr>
            <a:r>
              <a:rPr lang="en-US" sz="750" dirty="0">
                <a:latin typeface="Calibri" pitchFamily="34" charset="0"/>
                <a:ea typeface="Calibri" pitchFamily="34" charset="-122"/>
                <a:cs typeface="Calibri" pitchFamily="34" charset="-120"/>
              </a:rPr>
              <a:t>With only 105 iterations of the random search, these parameters work well but further searching (or a full grid search) would be useful to determine if they are the best model configuration.</a:t>
            </a:r>
            <a:endParaRPr lang="en-US" sz="750" dirty="0"/>
          </a:p>
        </p:txBody>
      </p:sp>
      <p:cxnSp>
        <p:nvCxnSpPr>
          <p:cNvPr id="64" name="Straight Connector 63">
            <a:extLst>
              <a:ext uri="{FF2B5EF4-FFF2-40B4-BE49-F238E27FC236}">
                <a16:creationId xmlns:a16="http://schemas.microsoft.com/office/drawing/2014/main" id="{1CF657C3-1538-757C-36BF-41A4AD42FCEE}"/>
              </a:ext>
            </a:extLst>
          </p:cNvPr>
          <p:cNvCxnSpPr/>
          <p:nvPr/>
        </p:nvCxnSpPr>
        <p:spPr>
          <a:xfrm>
            <a:off x="3543300" y="3629006"/>
            <a:ext cx="1981200" cy="0"/>
          </a:xfrm>
          <a:prstGeom prst="line">
            <a:avLst/>
          </a:prstGeom>
          <a:ln w="19050">
            <a:solidFill>
              <a:srgbClr val="CC3232"/>
            </a:solidFill>
          </a:ln>
        </p:spPr>
        <p:style>
          <a:lnRef idx="1">
            <a:schemeClr val="accent1"/>
          </a:lnRef>
          <a:fillRef idx="0">
            <a:schemeClr val="accent1"/>
          </a:fillRef>
          <a:effectRef idx="0">
            <a:schemeClr val="accent1"/>
          </a:effectRef>
          <a:fontRef idx="minor">
            <a:schemeClr val="tx1"/>
          </a:fontRef>
        </p:style>
      </p:cxnSp>
      <p:sp>
        <p:nvSpPr>
          <p:cNvPr id="90" name="Text 71">
            <a:extLst>
              <a:ext uri="{FF2B5EF4-FFF2-40B4-BE49-F238E27FC236}">
                <a16:creationId xmlns:a16="http://schemas.microsoft.com/office/drawing/2014/main" id="{385AEA20-8236-033A-FC74-AA0335D9E4A5}"/>
              </a:ext>
            </a:extLst>
          </p:cNvPr>
          <p:cNvSpPr/>
          <p:nvPr/>
        </p:nvSpPr>
        <p:spPr>
          <a:xfrm>
            <a:off x="3323165" y="3702005"/>
            <a:ext cx="2668518" cy="472208"/>
          </a:xfrm>
          <a:prstGeom prst="rect">
            <a:avLst/>
          </a:prstGeom>
          <a:noFill/>
          <a:ln/>
        </p:spPr>
        <p:txBody>
          <a:bodyPr wrap="square" lIns="18000" rtlCol="0" anchor="t"/>
          <a:lstStyle/>
          <a:p>
            <a:pPr marL="0" indent="0">
              <a:buNone/>
            </a:pPr>
            <a:r>
              <a:rPr lang="en-US" sz="750" dirty="0">
                <a:latin typeface="Calibri" pitchFamily="34" charset="0"/>
                <a:ea typeface="Calibri" pitchFamily="34" charset="-122"/>
                <a:cs typeface="Calibri" pitchFamily="34" charset="-120"/>
              </a:rPr>
              <a:t>Whilst the training dataset is large at 219k samples, there is more data available which could be used to increase both the test and train dataset, or to use as an unseen validation dataset.</a:t>
            </a:r>
            <a:endParaRPr lang="en-US" sz="750" dirty="0"/>
          </a:p>
        </p:txBody>
      </p:sp>
      <p:sp>
        <p:nvSpPr>
          <p:cNvPr id="91" name="Text 71">
            <a:extLst>
              <a:ext uri="{FF2B5EF4-FFF2-40B4-BE49-F238E27FC236}">
                <a16:creationId xmlns:a16="http://schemas.microsoft.com/office/drawing/2014/main" id="{A0600C20-F240-E69D-4188-D31E539F5E14}"/>
              </a:ext>
            </a:extLst>
          </p:cNvPr>
          <p:cNvSpPr/>
          <p:nvPr/>
        </p:nvSpPr>
        <p:spPr>
          <a:xfrm>
            <a:off x="3323165" y="4320210"/>
            <a:ext cx="2668518" cy="672413"/>
          </a:xfrm>
          <a:prstGeom prst="rect">
            <a:avLst/>
          </a:prstGeom>
          <a:noFill/>
          <a:ln/>
        </p:spPr>
        <p:txBody>
          <a:bodyPr wrap="square" lIns="18000" rtlCol="0" anchor="t"/>
          <a:lstStyle/>
          <a:p>
            <a:pPr marL="0" indent="0">
              <a:buNone/>
            </a:pPr>
            <a:r>
              <a:rPr lang="en-US" sz="750" dirty="0">
                <a:latin typeface="Calibri" pitchFamily="34" charset="0"/>
                <a:ea typeface="Calibri" pitchFamily="34" charset="-122"/>
                <a:cs typeface="Calibri" pitchFamily="34" charset="-120"/>
              </a:rPr>
              <a:t>Feature engineering: The symptom combinations were not useful for the model’s predictive power and could likely be removed to reduce the complexity. Instead, I would try adding to the training data using external features. One idea is to try to capture the seasonality of illness, through use of daily temperature data.</a:t>
            </a:r>
            <a:endParaRPr lang="en-US" sz="750" dirty="0"/>
          </a:p>
        </p:txBody>
      </p:sp>
      <p:cxnSp>
        <p:nvCxnSpPr>
          <p:cNvPr id="92" name="Straight Connector 91">
            <a:extLst>
              <a:ext uri="{FF2B5EF4-FFF2-40B4-BE49-F238E27FC236}">
                <a16:creationId xmlns:a16="http://schemas.microsoft.com/office/drawing/2014/main" id="{1A769984-7C4F-7900-7890-504931135513}"/>
              </a:ext>
            </a:extLst>
          </p:cNvPr>
          <p:cNvCxnSpPr/>
          <p:nvPr/>
        </p:nvCxnSpPr>
        <p:spPr>
          <a:xfrm>
            <a:off x="3543300" y="4247212"/>
            <a:ext cx="1981200" cy="0"/>
          </a:xfrm>
          <a:prstGeom prst="line">
            <a:avLst/>
          </a:prstGeom>
          <a:ln w="19050">
            <a:solidFill>
              <a:srgbClr val="CC323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54727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376</Words>
  <Application>Microsoft Office PowerPoint</Application>
  <PresentationFormat>On-screen Show (16:9)</PresentationFormat>
  <Paragraphs>67</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Arial</vt:lpstr>
      <vt:lpstr>Calibri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2026-04-22T12:47:38Z</dcterms:created>
  <dcterms:modified xsi:type="dcterms:W3CDTF">2026-04-22T12:47:49Z</dcterms:modified>
</cp:coreProperties>
</file>