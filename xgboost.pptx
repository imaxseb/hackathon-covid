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3" autoAdjust="0"/>
    <p:restoredTop sz="94660"/>
  </p:normalViewPr>
  <p:slideViewPr>
    <p:cSldViewPr snapToGrid="0">
      <p:cViewPr varScale="1">
        <p:scale>
          <a:sx n="92" d="100"/>
          <a:sy n="92" d="100"/>
        </p:scale>
        <p:origin x="297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20DA8-BD72-16E2-DF61-9F012B5E9D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676EBE-84AA-41BF-47F3-32382A0C49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A4368-BE5F-647D-74B2-AA1E08436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93DF0-A23F-4F33-B8E1-989665C639D7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F49CC-DC87-0D25-DFD9-5E97812EE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0A20B-51D1-63E6-5AEE-9656CE217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5ECCB-0E94-4729-9DB3-DD06077ECE9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7760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E7F8E-AA62-0D4E-0AD5-7FB65BE18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D042B-938A-7719-0DDC-C5C1F96D9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1E840-9484-AA57-C63C-F8A6D9344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93DF0-A23F-4F33-B8E1-989665C639D7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8AFED-A6C9-1844-1CE5-A12A67F8E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664EB-B5C3-5E6D-87F9-A357AA421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5ECCB-0E94-4729-9DB3-DD06077ECE9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9197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17087-9584-6AB8-6DD0-A0847BAB4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B0709-61BB-3EB6-E72C-D7A6EF847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B344C-0B26-5DB8-91BC-501BE884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93DF0-A23F-4F33-B8E1-989665C639D7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66CD5-3404-F97B-9EF3-96B137C7A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45E72-EDB9-C3B7-F4EA-83726D68E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5ECCB-0E94-4729-9DB3-DD06077ECE9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9854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8142D-A7D2-32B1-F889-9B91E1AE1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2E5C6-0E26-B63B-54C9-9B24743591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0D71C-64F8-150D-4045-41FC1EE25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5F5BD-C82E-94BB-7E9A-9416E2B1B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93DF0-A23F-4F33-B8E1-989665C639D7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66C18-1F74-2F32-7CFE-3402E152D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E3D44D-3292-73F5-D3B9-0620971F6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5ECCB-0E94-4729-9DB3-DD06077ECE9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2259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494B6-B9EC-B5E8-1CEC-93C0DEE68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B457C3-F57B-FEE1-EFD6-8486F5855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96CF4C-B835-C282-F152-C42CA5DD0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2BA598-1ED2-DC8E-B1C0-B5BCD6AB88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DF32-43B8-2B93-05F5-E84B7C379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EE9833-93A9-8764-20B8-E7AFE8D52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93DF0-A23F-4F33-B8E1-989665C639D7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53DF4A-3669-79C4-3C2F-07DA4F90B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A29A94-BBC2-C205-44A9-C12D4DD07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5ECCB-0E94-4729-9DB3-DD06077ECE9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8846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2E1EC-CD1D-EEA3-A451-61998A1ED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A55E29-9ADD-DA57-CF28-F7DBCB266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93DF0-A23F-4F33-B8E1-989665C639D7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FB3390-7CA4-213E-5BFB-E82C67C89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226C93-C83A-D3CB-9E54-115BDF70E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5ECCB-0E94-4729-9DB3-DD06077ECE9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62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C15479-3F05-60B2-E0CA-1E5D6DE01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93DF0-A23F-4F33-B8E1-989665C639D7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C8CDF-45F5-D419-816B-A97684422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694D4-A9B2-BE10-D13C-A31D2939E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5ECCB-0E94-4729-9DB3-DD06077ECE9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0658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753E-ADEC-5AE3-2E6B-D40B842D1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794B1-24A4-AFF8-9E9F-DED7F6D31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94037-5766-50BB-41C8-B7C74559FA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1F2FF5-F360-0203-4157-D82554FEA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93DF0-A23F-4F33-B8E1-989665C639D7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50F9A9-A492-A989-3348-7FA15D6B4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0B000-BC47-B1B2-3C48-96546B1BE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5ECCB-0E94-4729-9DB3-DD06077ECE9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0221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06B17-D224-AFA4-A97A-1C6E5A04A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8E26BF-F4BA-4564-7F1B-5752FDB9E6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B2598D-B2C5-F42A-6284-32706C515A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59A7E8-7323-68BE-1E37-DEBB856B9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93DF0-A23F-4F33-B8E1-989665C639D7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58468E-9B28-F42C-028F-6AADC1388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A3F163-1BF3-2518-1ADC-A1285C691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5ECCB-0E94-4729-9DB3-DD06077ECE9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6468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97344-CCF1-E9FB-93C6-5B0B01F70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2ED096-2F67-7F13-4870-71255E993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DF284-CA3C-D349-1427-C4B549221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93DF0-A23F-4F33-B8E1-989665C639D7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DD404-4DA5-A577-57A4-419254B5D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2E605-87FB-66A3-37CA-F3F754AE0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5ECCB-0E94-4729-9DB3-DD06077ECE9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755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2D7788-1B20-0C50-FF37-9DC252AA6B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21E2AA-5C04-2C10-93B4-E47795BDE4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4CC4A-5B7F-E9D7-1797-A838675BD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93DF0-A23F-4F33-B8E1-989665C639D7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ABECA-66AC-DE01-F96D-4143C6DDB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7C0C2-5496-AB94-ADC6-E77436E0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5ECCB-0E94-4729-9DB3-DD06077ECE9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7884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5EFD90-BC6B-13C2-E25A-F09DB6FDB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F6ABD7-3ED2-9DDB-06F3-37C1475B5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9D065-7F51-4FD5-BF66-C5C148BEF2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93DF0-A23F-4F33-B8E1-989665C639D7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4B015-691B-3DBC-F030-52AD2BB861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2F447-C96F-0F0B-6701-05869A8F9E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5ECCB-0E94-4729-9DB3-DD06077ECE9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5915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BADA35E-2D9A-FB7E-7F5C-D8DF35FEB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EEA850-3925-278B-CBE1-3CBC6B5EF1F1}"/>
              </a:ext>
            </a:extLst>
          </p:cNvPr>
          <p:cNvSpPr txBox="1"/>
          <p:nvPr/>
        </p:nvSpPr>
        <p:spPr>
          <a:xfrm>
            <a:off x="379268" y="415635"/>
            <a:ext cx="11502737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+mj-lt"/>
                <a:ea typeface="+mj-ea"/>
                <a:cs typeface="+mj-cs"/>
              </a:rPr>
              <a:t>XGBOOST</a:t>
            </a:r>
          </a:p>
          <a:p>
            <a:endParaRPr lang="fr-FR" sz="1400" dirty="0"/>
          </a:p>
          <a:p>
            <a:r>
              <a:rPr lang="fr-FR" sz="1400" dirty="0"/>
              <a:t>Data </a:t>
            </a:r>
            <a:r>
              <a:rPr lang="fr-FR" sz="1400" dirty="0" err="1"/>
              <a:t>cleaning</a:t>
            </a:r>
            <a:r>
              <a:rPr lang="fr-FR" sz="1400" dirty="0"/>
              <a:t> </a:t>
            </a:r>
            <a:r>
              <a:rPr lang="fr-FR" sz="1400" dirty="0" err="1"/>
              <a:t>approach</a:t>
            </a:r>
            <a:r>
              <a:rPr lang="fr-FR" sz="1400" dirty="0"/>
              <a:t> </a:t>
            </a:r>
            <a:r>
              <a:rPr lang="fr-FR" sz="1400" dirty="0" err="1"/>
              <a:t>similar</a:t>
            </a:r>
            <a:r>
              <a:rPr lang="fr-FR" sz="1400" dirty="0"/>
              <a:t> to </a:t>
            </a:r>
            <a:r>
              <a:rPr lang="fr-FR" sz="1400" dirty="0" err="1"/>
              <a:t>paper</a:t>
            </a:r>
            <a:r>
              <a:rPr lang="fr-FR" sz="1400" dirty="0"/>
              <a:t>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Training data </a:t>
            </a:r>
            <a:r>
              <a:rPr lang="fr-FR" sz="1400" dirty="0" err="1"/>
              <a:t>contains</a:t>
            </a:r>
            <a:r>
              <a:rPr lang="fr-FR" sz="1400" dirty="0"/>
              <a:t> all occurrences </a:t>
            </a:r>
            <a:r>
              <a:rPr lang="fr-FR" sz="1400" dirty="0" err="1"/>
              <a:t>from</a:t>
            </a:r>
            <a:r>
              <a:rPr lang="fr-FR" sz="1400" dirty="0"/>
              <a:t> 22/03/2020 to 31/03/2020 (51814 data points)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Test data </a:t>
            </a:r>
            <a:r>
              <a:rPr lang="fr-FR" sz="1400" dirty="0" err="1"/>
              <a:t>contains</a:t>
            </a:r>
            <a:r>
              <a:rPr lang="fr-FR" sz="1400" dirty="0"/>
              <a:t> all occurrences </a:t>
            </a:r>
            <a:r>
              <a:rPr lang="fr-FR" sz="1400" dirty="0" err="1"/>
              <a:t>from</a:t>
            </a:r>
            <a:r>
              <a:rPr lang="fr-FR" sz="1400" dirty="0"/>
              <a:t> 01/04/2020 to 07/04/2020 (47175 data points)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All NaN </a:t>
            </a:r>
            <a:r>
              <a:rPr lang="fr-FR" sz="1400" dirty="0" err="1"/>
              <a:t>dropped</a:t>
            </a:r>
            <a:r>
              <a:rPr lang="fr-FR" sz="1400" dirty="0"/>
              <a:t> for XGBOOST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Hot </a:t>
            </a:r>
            <a:r>
              <a:rPr lang="fr-FR" sz="1400" dirty="0" err="1"/>
              <a:t>encoding</a:t>
            </a:r>
            <a:r>
              <a:rPr lang="fr-FR" sz="1400" dirty="0"/>
              <a:t> of ‘</a:t>
            </a:r>
            <a:r>
              <a:rPr lang="fr-FR" sz="1400" dirty="0" err="1"/>
              <a:t>test_indication</a:t>
            </a:r>
            <a:r>
              <a:rPr lang="fr-FR" sz="1400" dirty="0"/>
              <a:t>’ </a:t>
            </a:r>
            <a:r>
              <a:rPr lang="fr-FR" sz="1400" dirty="0" err="1"/>
              <a:t>feature</a:t>
            </a:r>
            <a:r>
              <a:rPr lang="fr-FR" sz="1400" dirty="0"/>
              <a:t> = [‘</a:t>
            </a:r>
            <a:r>
              <a:rPr lang="fr-FR" sz="1400" dirty="0" err="1"/>
              <a:t>Other</a:t>
            </a:r>
            <a:r>
              <a:rPr lang="fr-FR" sz="1400" dirty="0"/>
              <a:t>’, ‘</a:t>
            </a:r>
            <a:r>
              <a:rPr lang="fr-FR" sz="1400" dirty="0" err="1"/>
              <a:t>Abroad</a:t>
            </a:r>
            <a:r>
              <a:rPr lang="fr-FR" sz="1400" dirty="0"/>
              <a:t>’, ‘Contact’]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9 </a:t>
            </a:r>
            <a:r>
              <a:rPr lang="fr-FR" sz="1400" dirty="0" err="1"/>
              <a:t>features</a:t>
            </a:r>
            <a:r>
              <a:rPr lang="fr-FR" sz="1400" dirty="0"/>
              <a:t> in total :  </a:t>
            </a:r>
            <a:r>
              <a:rPr lang="en-US" sz="1400" dirty="0"/>
              <a:t>Cough, Fever, </a:t>
            </a:r>
            <a:r>
              <a:rPr lang="en-US" sz="1400" dirty="0" err="1"/>
              <a:t>sore_throat</a:t>
            </a:r>
            <a:r>
              <a:rPr lang="en-US" sz="1400" dirty="0"/>
              <a:t>, </a:t>
            </a:r>
            <a:r>
              <a:rPr lang="en-US" sz="1400" dirty="0" err="1"/>
              <a:t>shortness_of_breath</a:t>
            </a:r>
            <a:r>
              <a:rPr lang="en-US" sz="1400" dirty="0"/>
              <a:t>, </a:t>
            </a:r>
            <a:r>
              <a:rPr lang="en-US" sz="1400" dirty="0" err="1"/>
              <a:t>head_ache</a:t>
            </a:r>
            <a:r>
              <a:rPr lang="en-US" sz="1400" dirty="0"/>
              <a:t>, age_60_and_above, </a:t>
            </a:r>
            <a:r>
              <a:rPr lang="en-US" sz="1400" dirty="0" err="1"/>
              <a:t>gender_male</a:t>
            </a:r>
            <a:r>
              <a:rPr lang="en-US" sz="1400" dirty="0"/>
              <a:t>, </a:t>
            </a:r>
            <a:r>
              <a:rPr lang="en-US" sz="1400" dirty="0" err="1"/>
              <a:t>test_indication_Contact</a:t>
            </a:r>
            <a:r>
              <a:rPr lang="en-US" sz="1400" dirty="0"/>
              <a:t>, </a:t>
            </a:r>
            <a:r>
              <a:rPr lang="en-US" sz="1400" dirty="0" err="1"/>
              <a:t>test_indication_Other</a:t>
            </a:r>
            <a:endParaRPr lang="fr-FR" sz="1400" dirty="0"/>
          </a:p>
          <a:p>
            <a:endParaRPr lang="fr-FR" sz="1400" dirty="0"/>
          </a:p>
          <a:p>
            <a:endParaRPr lang="fr-FR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D1B680-20DE-A2CE-CC53-9CE6FC442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41" y="2919844"/>
            <a:ext cx="6086241" cy="374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751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C8AC2-F701-B2FF-4666-7C3DD3FE9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53203E-ED69-7128-A596-7DF39A97A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618" y="649433"/>
            <a:ext cx="3631180" cy="27795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1A1A3B-38EE-A829-B7AF-5AF714B5C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861" y="544809"/>
            <a:ext cx="3729834" cy="29181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60FBF4-3D48-4BE4-8811-6647B8746D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6047" y="3885325"/>
            <a:ext cx="2915814" cy="272063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EAAA5A0-D713-1B05-C39B-DE31BEC8639F}"/>
              </a:ext>
            </a:extLst>
          </p:cNvPr>
          <p:cNvGrpSpPr/>
          <p:nvPr/>
        </p:nvGrpSpPr>
        <p:grpSpPr>
          <a:xfrm>
            <a:off x="8763795" y="3982134"/>
            <a:ext cx="3006737" cy="2754638"/>
            <a:chOff x="7505518" y="4008061"/>
            <a:chExt cx="3006737" cy="275463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E6F1772-5755-D9B5-20C7-45AC2F9310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5518" y="4008061"/>
              <a:ext cx="3006737" cy="2754638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2668C73-7196-898B-371C-3E4CC36C4C30}"/>
                </a:ext>
              </a:extLst>
            </p:cNvPr>
            <p:cNvSpPr txBox="1"/>
            <p:nvPr/>
          </p:nvSpPr>
          <p:spPr>
            <a:xfrm>
              <a:off x="7714209" y="4008061"/>
              <a:ext cx="24336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dirty="0"/>
                <a:t>Confusion Matrix – </a:t>
              </a:r>
              <a:r>
                <a:rPr lang="fr-FR" sz="1000" dirty="0" err="1"/>
                <a:t>XGBoost</a:t>
              </a:r>
              <a:r>
                <a:rPr lang="fr-FR" sz="1000" dirty="0"/>
                <a:t> 0.09 </a:t>
              </a:r>
              <a:r>
                <a:rPr lang="fr-FR" sz="1000" dirty="0" err="1"/>
                <a:t>threshold</a:t>
              </a:r>
              <a:endParaRPr lang="fr-FR" sz="100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5E4BDD7-18DB-493C-0B50-92B5487583FC}"/>
              </a:ext>
            </a:extLst>
          </p:cNvPr>
          <p:cNvSpPr txBox="1"/>
          <p:nvPr/>
        </p:nvSpPr>
        <p:spPr>
          <a:xfrm>
            <a:off x="379268" y="415635"/>
            <a:ext cx="451835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+mj-lt"/>
                <a:ea typeface="+mj-ea"/>
                <a:cs typeface="+mj-cs"/>
              </a:rPr>
              <a:t>XGBOOST</a:t>
            </a:r>
          </a:p>
          <a:p>
            <a:endParaRPr lang="fr-F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 err="1"/>
              <a:t>Hyperparameters</a:t>
            </a:r>
            <a:r>
              <a:rPr lang="fr-FR" sz="1400" dirty="0"/>
              <a:t> </a:t>
            </a:r>
            <a:r>
              <a:rPr lang="fr-FR" sz="1400" dirty="0" err="1"/>
              <a:t>tunning</a:t>
            </a:r>
            <a:r>
              <a:rPr lang="fr-FR" sz="1400" dirty="0"/>
              <a:t> </a:t>
            </a:r>
            <a:r>
              <a:rPr lang="fr-FR" sz="1400" dirty="0" err="1"/>
              <a:t>with</a:t>
            </a:r>
            <a:r>
              <a:rPr lang="fr-FR" sz="1400" dirty="0"/>
              <a:t> </a:t>
            </a:r>
            <a:r>
              <a:rPr lang="fr-FR" sz="1400" dirty="0" err="1"/>
              <a:t>random</a:t>
            </a:r>
            <a:r>
              <a:rPr lang="fr-FR" sz="1400" dirty="0"/>
              <a:t> </a:t>
            </a:r>
            <a:r>
              <a:rPr lang="fr-FR" sz="1400" dirty="0" err="1"/>
              <a:t>search</a:t>
            </a:r>
            <a:endParaRPr lang="fr-F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Ran </a:t>
            </a:r>
            <a:r>
              <a:rPr lang="fr-FR" sz="1400" dirty="0" err="1"/>
              <a:t>with</a:t>
            </a:r>
            <a:r>
              <a:rPr lang="fr-FR" sz="1400" dirty="0"/>
              <a:t> 3 </a:t>
            </a:r>
            <a:r>
              <a:rPr lang="fr-FR" sz="1400" dirty="0" err="1"/>
              <a:t>stratifiedKfold</a:t>
            </a:r>
            <a:r>
              <a:rPr lang="fr-FR" sz="1400" dirty="0"/>
              <a:t> to optimise </a:t>
            </a:r>
            <a:r>
              <a:rPr lang="fr-FR" sz="1400" dirty="0" err="1"/>
              <a:t>roc_auc</a:t>
            </a:r>
            <a:r>
              <a:rPr lang="fr-FR" sz="1400" dirty="0"/>
              <a:t>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ROC AUC score </a:t>
            </a:r>
            <a:r>
              <a:rPr lang="fr-FR" sz="1400" dirty="0" err="1"/>
              <a:t>achieved</a:t>
            </a:r>
            <a:r>
              <a:rPr lang="fr-FR" sz="1400" dirty="0"/>
              <a:t> of 0.913 </a:t>
            </a:r>
            <a:r>
              <a:rPr lang="fr-FR" sz="1400" dirty="0" err="1"/>
              <a:t>similar</a:t>
            </a:r>
            <a:r>
              <a:rPr lang="fr-FR" sz="1400" dirty="0"/>
              <a:t> to </a:t>
            </a:r>
            <a:r>
              <a:rPr lang="fr-FR" sz="1400" dirty="0" err="1"/>
              <a:t>paper</a:t>
            </a:r>
            <a:r>
              <a:rPr lang="fr-FR" sz="1400" dirty="0"/>
              <a:t> 0.9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AUPRC score of 0.73 </a:t>
            </a:r>
            <a:r>
              <a:rPr lang="fr-FR" sz="1400" dirty="0" err="1"/>
              <a:t>outperform</a:t>
            </a:r>
            <a:r>
              <a:rPr lang="fr-FR" sz="1400" dirty="0"/>
              <a:t> </a:t>
            </a:r>
            <a:r>
              <a:rPr lang="fr-FR" sz="1400" dirty="0" err="1"/>
              <a:t>paper</a:t>
            </a:r>
            <a:r>
              <a:rPr lang="fr-FR" sz="1400" dirty="0"/>
              <a:t> (0.66)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Model </a:t>
            </a:r>
            <a:r>
              <a:rPr lang="fr-FR" sz="1400" dirty="0" err="1"/>
              <a:t>is</a:t>
            </a:r>
            <a:r>
              <a:rPr lang="fr-FR" sz="1400" dirty="0"/>
              <a:t> </a:t>
            </a:r>
            <a:r>
              <a:rPr lang="fr-FR" sz="1400" dirty="0" err="1"/>
              <a:t>highly</a:t>
            </a:r>
            <a:r>
              <a:rPr lang="fr-FR" sz="1400" dirty="0"/>
              <a:t> sensitive to </a:t>
            </a:r>
            <a:r>
              <a:rPr lang="fr-FR" sz="1400" dirty="0" err="1"/>
              <a:t>threshold</a:t>
            </a:r>
            <a:r>
              <a:rPr lang="fr-FR" sz="1400" dirty="0"/>
              <a:t> </a:t>
            </a:r>
            <a:r>
              <a:rPr lang="fr-FR" sz="1400" dirty="0" err="1"/>
              <a:t>selection</a:t>
            </a:r>
            <a:r>
              <a:rPr lang="fr-FR" sz="1400" dirty="0"/>
              <a:t> </a:t>
            </a:r>
            <a:r>
              <a:rPr lang="fr-FR" sz="1400" dirty="0" err="1"/>
              <a:t>with</a:t>
            </a:r>
            <a:r>
              <a:rPr lang="fr-FR" sz="1400" dirty="0"/>
              <a:t> a </a:t>
            </a:r>
            <a:r>
              <a:rPr lang="fr-FR" sz="1400" dirty="0" err="1"/>
              <a:t>trade</a:t>
            </a:r>
            <a:r>
              <a:rPr lang="fr-FR" sz="1400" dirty="0"/>
              <a:t>-off </a:t>
            </a:r>
            <a:r>
              <a:rPr lang="fr-FR" sz="1400" dirty="0" err="1"/>
              <a:t>between</a:t>
            </a:r>
            <a:r>
              <a:rPr lang="fr-FR" sz="1400" dirty="0"/>
              <a:t> </a:t>
            </a:r>
            <a:r>
              <a:rPr lang="fr-FR" sz="1400" dirty="0" err="1"/>
              <a:t>recall</a:t>
            </a:r>
            <a:r>
              <a:rPr lang="fr-FR" sz="1400" dirty="0"/>
              <a:t> and </a:t>
            </a:r>
            <a:r>
              <a:rPr lang="fr-FR" sz="1400" dirty="0" err="1"/>
              <a:t>precision</a:t>
            </a:r>
            <a:r>
              <a:rPr lang="fr-FR" sz="1400" dirty="0"/>
              <a:t> as </a:t>
            </a:r>
            <a:r>
              <a:rPr lang="fr-FR" sz="1400" dirty="0" err="1"/>
              <a:t>shown</a:t>
            </a:r>
            <a:r>
              <a:rPr lang="fr-FR" sz="1400" dirty="0"/>
              <a:t> in the PR </a:t>
            </a:r>
            <a:r>
              <a:rPr lang="fr-FR" sz="1400" dirty="0" err="1"/>
              <a:t>curve</a:t>
            </a:r>
            <a:endParaRPr lang="fr-F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 err="1"/>
              <a:t>Lower</a:t>
            </a:r>
            <a:r>
              <a:rPr lang="fr-FR" sz="1400" dirty="0"/>
              <a:t> </a:t>
            </a:r>
            <a:r>
              <a:rPr lang="fr-FR" sz="1400" dirty="0" err="1"/>
              <a:t>threshold</a:t>
            </a:r>
            <a:r>
              <a:rPr lang="fr-FR" sz="1400" dirty="0"/>
              <a:t> </a:t>
            </a:r>
            <a:r>
              <a:rPr lang="fr-FR" sz="1400" dirty="0" err="1"/>
              <a:t>will</a:t>
            </a:r>
            <a:r>
              <a:rPr lang="fr-FR" sz="1400" dirty="0"/>
              <a:t> </a:t>
            </a:r>
            <a:r>
              <a:rPr lang="fr-FR" sz="1400" dirty="0" err="1"/>
              <a:t>increase</a:t>
            </a:r>
            <a:r>
              <a:rPr lang="fr-FR" sz="1400" dirty="0"/>
              <a:t> </a:t>
            </a:r>
            <a:r>
              <a:rPr lang="fr-FR" sz="1400" dirty="0" err="1"/>
              <a:t>recall</a:t>
            </a:r>
            <a:r>
              <a:rPr lang="fr-FR" sz="1400" dirty="0"/>
              <a:t> (up to 0.94) </a:t>
            </a:r>
            <a:r>
              <a:rPr lang="fr-FR" sz="1400" dirty="0" err="1"/>
              <a:t>which</a:t>
            </a:r>
            <a:r>
              <a:rPr lang="fr-FR" sz="1400" dirty="0"/>
              <a:t> can </a:t>
            </a:r>
            <a:r>
              <a:rPr lang="fr-FR" sz="1400" dirty="0" err="1"/>
              <a:t>be</a:t>
            </a:r>
            <a:r>
              <a:rPr lang="fr-FR" sz="1400" dirty="0"/>
              <a:t> </a:t>
            </a:r>
            <a:r>
              <a:rPr lang="fr-FR" sz="1400" dirty="0" err="1"/>
              <a:t>desirable</a:t>
            </a:r>
            <a:r>
              <a:rPr lang="fr-FR" sz="1400" dirty="0"/>
              <a:t> for </a:t>
            </a:r>
            <a:r>
              <a:rPr lang="fr-FR" sz="1400" dirty="0" err="1"/>
              <a:t>medical</a:t>
            </a:r>
            <a:r>
              <a:rPr lang="fr-FR" sz="1400" dirty="0"/>
              <a:t> screening </a:t>
            </a:r>
            <a:r>
              <a:rPr lang="fr-FR" sz="1400" dirty="0" err="1"/>
              <a:t>where</a:t>
            </a:r>
            <a:r>
              <a:rPr lang="fr-FR" sz="1400" dirty="0"/>
              <a:t> </a:t>
            </a:r>
            <a:r>
              <a:rPr lang="fr-FR" sz="1400" dirty="0" err="1"/>
              <a:t>missing</a:t>
            </a:r>
            <a:r>
              <a:rPr lang="fr-FR" sz="1400" dirty="0"/>
              <a:t> positive cases </a:t>
            </a:r>
            <a:r>
              <a:rPr lang="fr-FR" sz="1400" dirty="0" err="1"/>
              <a:t>is</a:t>
            </a:r>
            <a:r>
              <a:rPr lang="fr-FR" sz="1400" dirty="0"/>
              <a:t> </a:t>
            </a:r>
            <a:r>
              <a:rPr lang="fr-FR" sz="1400" dirty="0" err="1"/>
              <a:t>undesirable</a:t>
            </a:r>
            <a:r>
              <a:rPr lang="fr-FR" sz="14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 err="1"/>
              <a:t>However</a:t>
            </a:r>
            <a:r>
              <a:rPr lang="fr-FR" sz="1400" dirty="0"/>
              <a:t> </a:t>
            </a:r>
            <a:r>
              <a:rPr lang="fr-FR" sz="1400" dirty="0" err="1"/>
              <a:t>precision</a:t>
            </a:r>
            <a:r>
              <a:rPr lang="fr-FR" sz="1400" dirty="0"/>
              <a:t> </a:t>
            </a:r>
            <a:r>
              <a:rPr lang="fr-FR" sz="1400" dirty="0" err="1"/>
              <a:t>reduces</a:t>
            </a:r>
            <a:r>
              <a:rPr lang="fr-FR" sz="1400" dirty="0"/>
              <a:t> </a:t>
            </a:r>
            <a:r>
              <a:rPr lang="fr-FR" sz="1400" dirty="0" err="1"/>
              <a:t>significantly</a:t>
            </a:r>
            <a:r>
              <a:rPr lang="fr-FR" sz="1400" dirty="0"/>
              <a:t> </a:t>
            </a:r>
            <a:r>
              <a:rPr lang="fr-FR" sz="1400" dirty="0" err="1"/>
              <a:t>with</a:t>
            </a:r>
            <a:r>
              <a:rPr lang="fr-FR" sz="1400" dirty="0"/>
              <a:t> </a:t>
            </a:r>
            <a:r>
              <a:rPr lang="fr-FR" sz="1400" dirty="0" err="1"/>
              <a:t>higher</a:t>
            </a:r>
            <a:r>
              <a:rPr lang="fr-FR" sz="1400" dirty="0"/>
              <a:t> False </a:t>
            </a:r>
            <a:r>
              <a:rPr lang="fr-FR" sz="1400"/>
              <a:t>positive 59%. </a:t>
            </a:r>
            <a:endParaRPr lang="fr-F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400" dirty="0"/>
          </a:p>
          <a:p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238472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201</Words>
  <Application>Microsoft Office PowerPoint</Application>
  <PresentationFormat>Widescreen</PresentationFormat>
  <Paragraphs>19</Paragraphs>
  <Slides>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loic dumas</dc:creator>
  <cp:lastModifiedBy>loic dumas</cp:lastModifiedBy>
  <cp:revision>2</cp:revision>
  <dcterms:created xsi:type="dcterms:W3CDTF">2026-04-22T10:27:55Z</dcterms:created>
  <dcterms:modified xsi:type="dcterms:W3CDTF">2026-04-22T12:17:47Z</dcterms:modified>
</cp:coreProperties>
</file>