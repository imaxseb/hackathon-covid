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68" r:id="rId2"/>
    <p:sldId id="257" r:id="rId3"/>
    <p:sldId id="258" r:id="rId4"/>
    <p:sldId id="256" r:id="rId5"/>
    <p:sldId id="259" r:id="rId6"/>
    <p:sldId id="260" r:id="rId7"/>
    <p:sldId id="261" r:id="rId8"/>
    <p:sldId id="262" r:id="rId9"/>
    <p:sldId id="263" r:id="rId10"/>
    <p:sldId id="264" r:id="rId11"/>
    <p:sldId id="265" r:id="rId12"/>
    <p:sldId id="266"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97" autoAdjust="0"/>
    <p:restoredTop sz="94660"/>
  </p:normalViewPr>
  <p:slideViewPr>
    <p:cSldViewPr snapToGrid="0">
      <p:cViewPr varScale="1">
        <p:scale>
          <a:sx n="105" d="100"/>
          <a:sy n="105" d="100"/>
        </p:scale>
        <p:origin x="66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A78CB3-7AB4-41B5-A5DD-754C7ADE229A}" type="datetimeFigureOut">
              <a:rPr lang="en-GB" smtClean="0"/>
              <a:t>22/04/2026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FC94EC-49DA-40EA-9708-DE01F314611D}" type="slidenum">
              <a:rPr lang="en-GB" smtClean="0"/>
              <a:t>‹#›</a:t>
            </a:fld>
            <a:endParaRPr lang="en-GB"/>
          </a:p>
        </p:txBody>
      </p:sp>
    </p:spTree>
    <p:extLst>
      <p:ext uri="{BB962C8B-B14F-4D97-AF65-F5344CB8AC3E}">
        <p14:creationId xmlns:p14="http://schemas.microsoft.com/office/powerpoint/2010/main" val="26060417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DE3AB-F654-99A0-36E3-58C3A54E3C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256DA8-2E3C-B96E-1548-5A7BAC53CC69}"/>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32ABE94B-B180-DFF7-96F6-05BB08B182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E9AEDC-9C9F-6A2C-82E9-13F8D3E961EE}"/>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4762184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My approach was to take use a randomised search to tune a </a:t>
            </a:r>
            <a:r>
              <a:rPr lang="en-GB" dirty="0" err="1"/>
              <a:t>HistGradientBoostingClassifier</a:t>
            </a:r>
            <a:r>
              <a:rPr lang="en-GB" dirty="0"/>
              <a:t> model. scikit-</a:t>
            </a:r>
            <a:r>
              <a:rPr lang="en-GB" dirty="0" err="1"/>
              <a:t>learn’s</a:t>
            </a:r>
            <a:r>
              <a:rPr lang="en-GB" dirty="0"/>
              <a:t> documentation suggests that, for datasets over ten thousand rows, a </a:t>
            </a:r>
            <a:r>
              <a:rPr lang="en-GB" dirty="0" err="1"/>
              <a:t>histrogram</a:t>
            </a:r>
            <a:r>
              <a:rPr lang="en-GB" dirty="0"/>
              <a:t>-based approach is computationally more efficient than for </a:t>
            </a:r>
            <a:r>
              <a:rPr lang="en-GB" dirty="0" err="1"/>
              <a:t>GradientBoostingClassifier</a:t>
            </a:r>
            <a:r>
              <a:rPr lang="en-GB" dirty="0"/>
              <a:t>. I trained on a </a:t>
            </a:r>
            <a:r>
              <a:rPr lang="en-GB" dirty="0" err="1"/>
              <a:t>StratifedKFold</a:t>
            </a:r>
            <a:r>
              <a:rPr lang="en-GB" dirty="0"/>
              <a:t> to use the entire dataset, but after hyperparameter tuning I refitted the best parameters using an out-of-fit cross-validation to prevent data-leakage but permit the whole dataset to be used. My AUC score was lowest of our group at 0.892, but still not far out.</a:t>
            </a:r>
          </a:p>
          <a:p>
            <a:endParaRPr lang="en-GB" dirty="0"/>
          </a:p>
          <a:p>
            <a:r>
              <a:rPr lang="en-GB" dirty="0"/>
              <a:t>Given the misleading nature of accuracy, I decided to focus solely on recall. I wrote a function to determine a desired threshold value based upon an intended recall target, here choosing 95%. This provided a more aggressive threshold of 0.162, which weights a false positive just over five times stronger than a false negative. This leads to an odd-looking confusion matrix with a very large number of false positives, but in the context of Covid screening I decided to absolutely prioritise this over accuracy and precision</a:t>
            </a:r>
          </a:p>
        </p:txBody>
      </p:sp>
      <p:sp>
        <p:nvSpPr>
          <p:cNvPr id="4" name="Slide Number Placeholder 3"/>
          <p:cNvSpPr>
            <a:spLocks noGrp="1"/>
          </p:cNvSpPr>
          <p:nvPr>
            <p:ph type="sldNum" sz="quarter" idx="5"/>
          </p:nvPr>
        </p:nvSpPr>
        <p:spPr/>
        <p:txBody>
          <a:bodyPr/>
          <a:lstStyle/>
          <a:p>
            <a:fld id="{1DA6916A-F774-48C5-A8E6-EFF00CCFA953}" type="slidenum">
              <a:rPr lang="en-GB" smtClean="0"/>
              <a:t>10</a:t>
            </a:fld>
            <a:endParaRPr lang="en-GB"/>
          </a:p>
        </p:txBody>
      </p:sp>
    </p:spTree>
    <p:extLst>
      <p:ext uri="{BB962C8B-B14F-4D97-AF65-F5344CB8AC3E}">
        <p14:creationId xmlns:p14="http://schemas.microsoft.com/office/powerpoint/2010/main" val="1580459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is the consequential impact on the respective classification reports. Even with a standard threshold precision in the true class is low, but is reduced further when prioritising recall. An alternative method could be to prioritise a f-beta score, for some beta greater than 1, to give some weight to retaining a level of precision.</a:t>
            </a:r>
          </a:p>
          <a:p>
            <a:endParaRPr lang="en-GB" dirty="0"/>
          </a:p>
          <a:p>
            <a:r>
              <a:rPr lang="en-GB" dirty="0"/>
              <a:t>It should be noted that any choice of threshold isn’t a strictly analytical problem, and indeed requires stakeholder input. While in this case we can assume that this screening is cost-neutral for prediction/outcome pair, tuning the threshold depends on balancing the consequences of lower precision and recall scores. Choosing any arbitrary threshold thus doesn’t </a:t>
            </a:r>
            <a:r>
              <a:rPr lang="en-GB" dirty="0" err="1"/>
              <a:t>doesn’t</a:t>
            </a:r>
            <a:r>
              <a:rPr lang="en-GB" dirty="0"/>
              <a:t> change the ROC curve or the area under the curve, only at what probability level True is assigned.</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err="1"/>
              <a:t>HistGBC</a:t>
            </a:r>
            <a:r>
              <a:rPr lang="en-GB" dirty="0"/>
              <a:t>, as with many tree models in unsupervised learning, does have a habit of trying to push confident predictions towards extreme values. I therefore experimented with </a:t>
            </a:r>
            <a:r>
              <a:rPr lang="en-GB" sz="1200" b="0" kern="1200" dirty="0" err="1">
                <a:solidFill>
                  <a:schemeClr val="tx1"/>
                </a:solidFill>
                <a:effectLst/>
                <a:latin typeface="+mn-lt"/>
                <a:ea typeface="+mn-ea"/>
                <a:cs typeface="+mn-cs"/>
              </a:rPr>
              <a:t>CalibratedClassifierCV</a:t>
            </a:r>
            <a:r>
              <a:rPr lang="en-GB" sz="1200" b="0" kern="1200" dirty="0">
                <a:solidFill>
                  <a:schemeClr val="tx1"/>
                </a:solidFill>
                <a:effectLst/>
                <a:latin typeface="+mn-lt"/>
                <a:ea typeface="+mn-ea"/>
                <a:cs typeface="+mn-cs"/>
              </a:rPr>
              <a:t>, which aims to calibrate the probabilities back to something more meaningful to a stakeholder.</a:t>
            </a:r>
          </a:p>
        </p:txBody>
      </p:sp>
      <p:sp>
        <p:nvSpPr>
          <p:cNvPr id="4" name="Slide Number Placeholder 3"/>
          <p:cNvSpPr>
            <a:spLocks noGrp="1"/>
          </p:cNvSpPr>
          <p:nvPr>
            <p:ph type="sldNum" sz="quarter" idx="5"/>
          </p:nvPr>
        </p:nvSpPr>
        <p:spPr/>
        <p:txBody>
          <a:bodyPr/>
          <a:lstStyle/>
          <a:p>
            <a:fld id="{1DA6916A-F774-48C5-A8E6-EFF00CCFA953}" type="slidenum">
              <a:rPr lang="en-GB" smtClean="0"/>
              <a:t>11</a:t>
            </a:fld>
            <a:endParaRPr lang="en-GB"/>
          </a:p>
        </p:txBody>
      </p:sp>
    </p:spTree>
    <p:extLst>
      <p:ext uri="{BB962C8B-B14F-4D97-AF65-F5344CB8AC3E}">
        <p14:creationId xmlns:p14="http://schemas.microsoft.com/office/powerpoint/2010/main" val="12098804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Given the previously generated out-of-fold probabilities of the True class by the model, this chart demonstrates that the model is generally over-predicting the instances of true cases. An example is how frequently the model assigns probabilities in the range 0.4-0.8 to the True class, when the observed positive rates in that rate are closer to the range of 0.05-0.4.</a:t>
            </a:r>
          </a:p>
          <a:p>
            <a:endParaRPr lang="en-GB" dirty="0"/>
          </a:p>
          <a:p>
            <a:r>
              <a:rPr lang="en-GB" dirty="0"/>
              <a:t>This converts the probabilities into something more interpretable to the stakeholder, so that a predicted model probability of 0.25 now means that “approximately 1 in 4 cases that have similar characteristics returned a positive test”. This calibration acts independently of the model performance via area under curve score.</a:t>
            </a:r>
          </a:p>
        </p:txBody>
      </p:sp>
      <p:sp>
        <p:nvSpPr>
          <p:cNvPr id="4" name="Slide Number Placeholder 3"/>
          <p:cNvSpPr>
            <a:spLocks noGrp="1"/>
          </p:cNvSpPr>
          <p:nvPr>
            <p:ph type="sldNum" sz="quarter" idx="5"/>
          </p:nvPr>
        </p:nvSpPr>
        <p:spPr/>
        <p:txBody>
          <a:bodyPr/>
          <a:lstStyle/>
          <a:p>
            <a:fld id="{1DA6916A-F774-48C5-A8E6-EFF00CCFA953}" type="slidenum">
              <a:rPr lang="en-GB" smtClean="0"/>
              <a:t>12</a:t>
            </a:fld>
            <a:endParaRPr lang="en-GB"/>
          </a:p>
        </p:txBody>
      </p:sp>
    </p:spTree>
    <p:extLst>
      <p:ext uri="{BB962C8B-B14F-4D97-AF65-F5344CB8AC3E}">
        <p14:creationId xmlns:p14="http://schemas.microsoft.com/office/powerpoint/2010/main" val="38108802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AD9E9-0561-2CFC-4BFC-04EB53BD3E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02A81A30-1F29-C153-5CCB-134F78916E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B6B9A39E-8E37-3016-D20D-1684C7FE11C5}"/>
              </a:ext>
            </a:extLst>
          </p:cNvPr>
          <p:cNvSpPr>
            <a:spLocks noGrp="1"/>
          </p:cNvSpPr>
          <p:nvPr>
            <p:ph type="dt" sz="half" idx="10"/>
          </p:nvPr>
        </p:nvSpPr>
        <p:spPr/>
        <p:txBody>
          <a:bodyPr/>
          <a:lstStyle/>
          <a:p>
            <a:fld id="{76BD843E-4C56-4416-9B03-30A6FDA09DB1}" type="datetimeFigureOut">
              <a:rPr lang="en-GB" smtClean="0"/>
              <a:t>22/04/2026</a:t>
            </a:fld>
            <a:endParaRPr lang="en-GB"/>
          </a:p>
        </p:txBody>
      </p:sp>
      <p:sp>
        <p:nvSpPr>
          <p:cNvPr id="5" name="Footer Placeholder 4">
            <a:extLst>
              <a:ext uri="{FF2B5EF4-FFF2-40B4-BE49-F238E27FC236}">
                <a16:creationId xmlns:a16="http://schemas.microsoft.com/office/drawing/2014/main" id="{0BFE23CB-D025-A6DD-FE1C-F4691324CD7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1BFAEA-586C-2AAE-D234-C3EE14F84540}"/>
              </a:ext>
            </a:extLst>
          </p:cNvPr>
          <p:cNvSpPr>
            <a:spLocks noGrp="1"/>
          </p:cNvSpPr>
          <p:nvPr>
            <p:ph type="sldNum" sz="quarter" idx="12"/>
          </p:nvPr>
        </p:nvSpPr>
        <p:spPr/>
        <p:txBody>
          <a:bodyPr/>
          <a:lstStyle/>
          <a:p>
            <a:fld id="{1C7F6A55-DBB9-42FA-92E0-ED3562CA506E}" type="slidenum">
              <a:rPr lang="en-GB" smtClean="0"/>
              <a:t>‹#›</a:t>
            </a:fld>
            <a:endParaRPr lang="en-GB"/>
          </a:p>
        </p:txBody>
      </p:sp>
    </p:spTree>
    <p:extLst>
      <p:ext uri="{BB962C8B-B14F-4D97-AF65-F5344CB8AC3E}">
        <p14:creationId xmlns:p14="http://schemas.microsoft.com/office/powerpoint/2010/main" val="1185794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4A042-54C1-A550-45A0-AC697003E86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F2AF4B3-5556-52E6-BAFD-E108B1CF85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668EEB1-B8DB-86EB-1C34-BE2E2BA973B2}"/>
              </a:ext>
            </a:extLst>
          </p:cNvPr>
          <p:cNvSpPr>
            <a:spLocks noGrp="1"/>
          </p:cNvSpPr>
          <p:nvPr>
            <p:ph type="dt" sz="half" idx="10"/>
          </p:nvPr>
        </p:nvSpPr>
        <p:spPr/>
        <p:txBody>
          <a:bodyPr/>
          <a:lstStyle/>
          <a:p>
            <a:fld id="{76BD843E-4C56-4416-9B03-30A6FDA09DB1}" type="datetimeFigureOut">
              <a:rPr lang="en-GB" smtClean="0"/>
              <a:t>22/04/2026</a:t>
            </a:fld>
            <a:endParaRPr lang="en-GB"/>
          </a:p>
        </p:txBody>
      </p:sp>
      <p:sp>
        <p:nvSpPr>
          <p:cNvPr id="5" name="Footer Placeholder 4">
            <a:extLst>
              <a:ext uri="{FF2B5EF4-FFF2-40B4-BE49-F238E27FC236}">
                <a16:creationId xmlns:a16="http://schemas.microsoft.com/office/drawing/2014/main" id="{4CD14F01-16EB-DD9B-2F05-3A5C0E83A5B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EB927E9-11B8-613A-DC08-0431354B3C09}"/>
              </a:ext>
            </a:extLst>
          </p:cNvPr>
          <p:cNvSpPr>
            <a:spLocks noGrp="1"/>
          </p:cNvSpPr>
          <p:nvPr>
            <p:ph type="sldNum" sz="quarter" idx="12"/>
          </p:nvPr>
        </p:nvSpPr>
        <p:spPr/>
        <p:txBody>
          <a:bodyPr/>
          <a:lstStyle/>
          <a:p>
            <a:fld id="{1C7F6A55-DBB9-42FA-92E0-ED3562CA506E}" type="slidenum">
              <a:rPr lang="en-GB" smtClean="0"/>
              <a:t>‹#›</a:t>
            </a:fld>
            <a:endParaRPr lang="en-GB"/>
          </a:p>
        </p:txBody>
      </p:sp>
    </p:spTree>
    <p:extLst>
      <p:ext uri="{BB962C8B-B14F-4D97-AF65-F5344CB8AC3E}">
        <p14:creationId xmlns:p14="http://schemas.microsoft.com/office/powerpoint/2010/main" val="504199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2685B-4FF7-8655-3619-9D808E95400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01A53EFD-7063-E9B3-BD0A-26B005E9519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3810F6-DB9C-E893-4F52-8FAAB8A0F49E}"/>
              </a:ext>
            </a:extLst>
          </p:cNvPr>
          <p:cNvSpPr>
            <a:spLocks noGrp="1"/>
          </p:cNvSpPr>
          <p:nvPr>
            <p:ph type="dt" sz="half" idx="10"/>
          </p:nvPr>
        </p:nvSpPr>
        <p:spPr/>
        <p:txBody>
          <a:bodyPr/>
          <a:lstStyle/>
          <a:p>
            <a:fld id="{76BD843E-4C56-4416-9B03-30A6FDA09DB1}" type="datetimeFigureOut">
              <a:rPr lang="en-GB" smtClean="0"/>
              <a:t>22/04/2026</a:t>
            </a:fld>
            <a:endParaRPr lang="en-GB"/>
          </a:p>
        </p:txBody>
      </p:sp>
      <p:sp>
        <p:nvSpPr>
          <p:cNvPr id="5" name="Footer Placeholder 4">
            <a:extLst>
              <a:ext uri="{FF2B5EF4-FFF2-40B4-BE49-F238E27FC236}">
                <a16:creationId xmlns:a16="http://schemas.microsoft.com/office/drawing/2014/main" id="{56220CFB-C37F-A601-E4E5-F0CBA03356A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9746D06-804B-E03F-0A23-A788AA65EB6B}"/>
              </a:ext>
            </a:extLst>
          </p:cNvPr>
          <p:cNvSpPr>
            <a:spLocks noGrp="1"/>
          </p:cNvSpPr>
          <p:nvPr>
            <p:ph type="sldNum" sz="quarter" idx="12"/>
          </p:nvPr>
        </p:nvSpPr>
        <p:spPr/>
        <p:txBody>
          <a:bodyPr/>
          <a:lstStyle/>
          <a:p>
            <a:fld id="{1C7F6A55-DBB9-42FA-92E0-ED3562CA506E}" type="slidenum">
              <a:rPr lang="en-GB" smtClean="0"/>
              <a:t>‹#›</a:t>
            </a:fld>
            <a:endParaRPr lang="en-GB"/>
          </a:p>
        </p:txBody>
      </p:sp>
    </p:spTree>
    <p:extLst>
      <p:ext uri="{BB962C8B-B14F-4D97-AF65-F5344CB8AC3E}">
        <p14:creationId xmlns:p14="http://schemas.microsoft.com/office/powerpoint/2010/main" val="22913294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3E70E-B8D8-E380-3F6A-6040F35F324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4B9D374-7245-4B1B-2F0A-4C371DAC8E0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09E0A61-2B9A-662C-178B-4516CE0E46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3E5B0B9B-C3FD-A11B-0EEC-650BD77DC294}"/>
              </a:ext>
            </a:extLst>
          </p:cNvPr>
          <p:cNvSpPr>
            <a:spLocks noGrp="1"/>
          </p:cNvSpPr>
          <p:nvPr>
            <p:ph type="dt" sz="half" idx="10"/>
          </p:nvPr>
        </p:nvSpPr>
        <p:spPr/>
        <p:txBody>
          <a:bodyPr/>
          <a:lstStyle/>
          <a:p>
            <a:fld id="{76BD843E-4C56-4416-9B03-30A6FDA09DB1}" type="datetimeFigureOut">
              <a:rPr lang="en-GB" smtClean="0"/>
              <a:t>22/04/2026</a:t>
            </a:fld>
            <a:endParaRPr lang="en-GB"/>
          </a:p>
        </p:txBody>
      </p:sp>
      <p:sp>
        <p:nvSpPr>
          <p:cNvPr id="6" name="Footer Placeholder 5">
            <a:extLst>
              <a:ext uri="{FF2B5EF4-FFF2-40B4-BE49-F238E27FC236}">
                <a16:creationId xmlns:a16="http://schemas.microsoft.com/office/drawing/2014/main" id="{65B99354-A115-EEFB-61E3-1B05F577503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84D8334-DCCC-5CFF-4F65-2DAE4BAFEA22}"/>
              </a:ext>
            </a:extLst>
          </p:cNvPr>
          <p:cNvSpPr>
            <a:spLocks noGrp="1"/>
          </p:cNvSpPr>
          <p:nvPr>
            <p:ph type="sldNum" sz="quarter" idx="12"/>
          </p:nvPr>
        </p:nvSpPr>
        <p:spPr/>
        <p:txBody>
          <a:bodyPr/>
          <a:lstStyle/>
          <a:p>
            <a:fld id="{1C7F6A55-DBB9-42FA-92E0-ED3562CA506E}" type="slidenum">
              <a:rPr lang="en-GB" smtClean="0"/>
              <a:t>‹#›</a:t>
            </a:fld>
            <a:endParaRPr lang="en-GB"/>
          </a:p>
        </p:txBody>
      </p:sp>
    </p:spTree>
    <p:extLst>
      <p:ext uri="{BB962C8B-B14F-4D97-AF65-F5344CB8AC3E}">
        <p14:creationId xmlns:p14="http://schemas.microsoft.com/office/powerpoint/2010/main" val="18032612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55E0C-7A92-00F0-FFA9-6567905B9C37}"/>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4A42240-E344-7574-6DC5-13E3E9FCE4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354B752-C1CD-594A-9185-0E642FFA2C6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E0B9981-EBE8-2625-7CAF-8225E9D9648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FE232BC-9312-ED76-D996-5E6ED44E5AF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E03A16C3-2A9B-7976-55D3-C419CA6C1CA8}"/>
              </a:ext>
            </a:extLst>
          </p:cNvPr>
          <p:cNvSpPr>
            <a:spLocks noGrp="1"/>
          </p:cNvSpPr>
          <p:nvPr>
            <p:ph type="dt" sz="half" idx="10"/>
          </p:nvPr>
        </p:nvSpPr>
        <p:spPr/>
        <p:txBody>
          <a:bodyPr/>
          <a:lstStyle/>
          <a:p>
            <a:fld id="{76BD843E-4C56-4416-9B03-30A6FDA09DB1}" type="datetimeFigureOut">
              <a:rPr lang="en-GB" smtClean="0"/>
              <a:t>22/04/2026</a:t>
            </a:fld>
            <a:endParaRPr lang="en-GB"/>
          </a:p>
        </p:txBody>
      </p:sp>
      <p:sp>
        <p:nvSpPr>
          <p:cNvPr id="8" name="Footer Placeholder 7">
            <a:extLst>
              <a:ext uri="{FF2B5EF4-FFF2-40B4-BE49-F238E27FC236}">
                <a16:creationId xmlns:a16="http://schemas.microsoft.com/office/drawing/2014/main" id="{A6209262-975E-89CF-8C17-F5E5116C27AF}"/>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BEC12C9-9788-2BB2-B9B0-C804842A76E1}"/>
              </a:ext>
            </a:extLst>
          </p:cNvPr>
          <p:cNvSpPr>
            <a:spLocks noGrp="1"/>
          </p:cNvSpPr>
          <p:nvPr>
            <p:ph type="sldNum" sz="quarter" idx="12"/>
          </p:nvPr>
        </p:nvSpPr>
        <p:spPr/>
        <p:txBody>
          <a:bodyPr/>
          <a:lstStyle/>
          <a:p>
            <a:fld id="{1C7F6A55-DBB9-42FA-92E0-ED3562CA506E}" type="slidenum">
              <a:rPr lang="en-GB" smtClean="0"/>
              <a:t>‹#›</a:t>
            </a:fld>
            <a:endParaRPr lang="en-GB"/>
          </a:p>
        </p:txBody>
      </p:sp>
    </p:spTree>
    <p:extLst>
      <p:ext uri="{BB962C8B-B14F-4D97-AF65-F5344CB8AC3E}">
        <p14:creationId xmlns:p14="http://schemas.microsoft.com/office/powerpoint/2010/main" val="1610780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34DD5-488D-C1CE-9AF9-54D665B9B2DF}"/>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FEC11715-05E1-2F64-C1D5-FA03FE8492DF}"/>
              </a:ext>
            </a:extLst>
          </p:cNvPr>
          <p:cNvSpPr>
            <a:spLocks noGrp="1"/>
          </p:cNvSpPr>
          <p:nvPr>
            <p:ph type="dt" sz="half" idx="10"/>
          </p:nvPr>
        </p:nvSpPr>
        <p:spPr/>
        <p:txBody>
          <a:bodyPr/>
          <a:lstStyle/>
          <a:p>
            <a:fld id="{76BD843E-4C56-4416-9B03-30A6FDA09DB1}" type="datetimeFigureOut">
              <a:rPr lang="en-GB" smtClean="0"/>
              <a:t>22/04/2026</a:t>
            </a:fld>
            <a:endParaRPr lang="en-GB"/>
          </a:p>
        </p:txBody>
      </p:sp>
      <p:sp>
        <p:nvSpPr>
          <p:cNvPr id="4" name="Footer Placeholder 3">
            <a:extLst>
              <a:ext uri="{FF2B5EF4-FFF2-40B4-BE49-F238E27FC236}">
                <a16:creationId xmlns:a16="http://schemas.microsoft.com/office/drawing/2014/main" id="{A7D3D9B4-2028-3BA3-7467-DA7F214DBE8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823A49D-FCBC-40A1-2F2F-A8BC770BB90C}"/>
              </a:ext>
            </a:extLst>
          </p:cNvPr>
          <p:cNvSpPr>
            <a:spLocks noGrp="1"/>
          </p:cNvSpPr>
          <p:nvPr>
            <p:ph type="sldNum" sz="quarter" idx="12"/>
          </p:nvPr>
        </p:nvSpPr>
        <p:spPr/>
        <p:txBody>
          <a:bodyPr/>
          <a:lstStyle/>
          <a:p>
            <a:fld id="{1C7F6A55-DBB9-42FA-92E0-ED3562CA506E}" type="slidenum">
              <a:rPr lang="en-GB" smtClean="0"/>
              <a:t>‹#›</a:t>
            </a:fld>
            <a:endParaRPr lang="en-GB"/>
          </a:p>
        </p:txBody>
      </p:sp>
    </p:spTree>
    <p:extLst>
      <p:ext uri="{BB962C8B-B14F-4D97-AF65-F5344CB8AC3E}">
        <p14:creationId xmlns:p14="http://schemas.microsoft.com/office/powerpoint/2010/main" val="34115374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06518C-12E1-F4D3-847D-3F34A29ED734}"/>
              </a:ext>
            </a:extLst>
          </p:cNvPr>
          <p:cNvSpPr>
            <a:spLocks noGrp="1"/>
          </p:cNvSpPr>
          <p:nvPr>
            <p:ph type="dt" sz="half" idx="10"/>
          </p:nvPr>
        </p:nvSpPr>
        <p:spPr/>
        <p:txBody>
          <a:bodyPr/>
          <a:lstStyle/>
          <a:p>
            <a:fld id="{76BD843E-4C56-4416-9B03-30A6FDA09DB1}" type="datetimeFigureOut">
              <a:rPr lang="en-GB" smtClean="0"/>
              <a:t>22/04/2026</a:t>
            </a:fld>
            <a:endParaRPr lang="en-GB"/>
          </a:p>
        </p:txBody>
      </p:sp>
      <p:sp>
        <p:nvSpPr>
          <p:cNvPr id="3" name="Footer Placeholder 2">
            <a:extLst>
              <a:ext uri="{FF2B5EF4-FFF2-40B4-BE49-F238E27FC236}">
                <a16:creationId xmlns:a16="http://schemas.microsoft.com/office/drawing/2014/main" id="{C240D915-B628-272C-E93E-9D034D58DFB9}"/>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19541EAB-DBDE-8B31-2B04-042DDB44172D}"/>
              </a:ext>
            </a:extLst>
          </p:cNvPr>
          <p:cNvSpPr>
            <a:spLocks noGrp="1"/>
          </p:cNvSpPr>
          <p:nvPr>
            <p:ph type="sldNum" sz="quarter" idx="12"/>
          </p:nvPr>
        </p:nvSpPr>
        <p:spPr/>
        <p:txBody>
          <a:bodyPr/>
          <a:lstStyle/>
          <a:p>
            <a:fld id="{1C7F6A55-DBB9-42FA-92E0-ED3562CA506E}" type="slidenum">
              <a:rPr lang="en-GB" smtClean="0"/>
              <a:t>‹#›</a:t>
            </a:fld>
            <a:endParaRPr lang="en-GB"/>
          </a:p>
        </p:txBody>
      </p:sp>
    </p:spTree>
    <p:extLst>
      <p:ext uri="{BB962C8B-B14F-4D97-AF65-F5344CB8AC3E}">
        <p14:creationId xmlns:p14="http://schemas.microsoft.com/office/powerpoint/2010/main" val="955277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2FB98-2229-B9B6-6576-7AC3EB26E8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672B3FE-1DC9-065B-522F-F51A2BFEF7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6794A58D-E088-CB10-C4FB-880BBE0A5D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B00F37-9DB8-603A-F275-6558C189E0E4}"/>
              </a:ext>
            </a:extLst>
          </p:cNvPr>
          <p:cNvSpPr>
            <a:spLocks noGrp="1"/>
          </p:cNvSpPr>
          <p:nvPr>
            <p:ph type="dt" sz="half" idx="10"/>
          </p:nvPr>
        </p:nvSpPr>
        <p:spPr/>
        <p:txBody>
          <a:bodyPr/>
          <a:lstStyle/>
          <a:p>
            <a:fld id="{76BD843E-4C56-4416-9B03-30A6FDA09DB1}" type="datetimeFigureOut">
              <a:rPr lang="en-GB" smtClean="0"/>
              <a:t>22/04/2026</a:t>
            </a:fld>
            <a:endParaRPr lang="en-GB"/>
          </a:p>
        </p:txBody>
      </p:sp>
      <p:sp>
        <p:nvSpPr>
          <p:cNvPr id="6" name="Footer Placeholder 5">
            <a:extLst>
              <a:ext uri="{FF2B5EF4-FFF2-40B4-BE49-F238E27FC236}">
                <a16:creationId xmlns:a16="http://schemas.microsoft.com/office/drawing/2014/main" id="{ADD41D23-3CF6-18A2-516A-9D2DD9FE058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5140EE5-EB15-3F10-DC6A-E34CBF17AA52}"/>
              </a:ext>
            </a:extLst>
          </p:cNvPr>
          <p:cNvSpPr>
            <a:spLocks noGrp="1"/>
          </p:cNvSpPr>
          <p:nvPr>
            <p:ph type="sldNum" sz="quarter" idx="12"/>
          </p:nvPr>
        </p:nvSpPr>
        <p:spPr/>
        <p:txBody>
          <a:bodyPr/>
          <a:lstStyle/>
          <a:p>
            <a:fld id="{1C7F6A55-DBB9-42FA-92E0-ED3562CA506E}" type="slidenum">
              <a:rPr lang="en-GB" smtClean="0"/>
              <a:t>‹#›</a:t>
            </a:fld>
            <a:endParaRPr lang="en-GB"/>
          </a:p>
        </p:txBody>
      </p:sp>
    </p:spTree>
    <p:extLst>
      <p:ext uri="{BB962C8B-B14F-4D97-AF65-F5344CB8AC3E}">
        <p14:creationId xmlns:p14="http://schemas.microsoft.com/office/powerpoint/2010/main" val="38741207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ACE35-354D-899D-B179-C0CCC84415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49C0CA1E-66FB-1302-E7E5-3EE751F82E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766DB4B-D3D9-5991-275D-5F23A202B2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5C5D40-A117-F313-5E49-512E2235AC59}"/>
              </a:ext>
            </a:extLst>
          </p:cNvPr>
          <p:cNvSpPr>
            <a:spLocks noGrp="1"/>
          </p:cNvSpPr>
          <p:nvPr>
            <p:ph type="dt" sz="half" idx="10"/>
          </p:nvPr>
        </p:nvSpPr>
        <p:spPr/>
        <p:txBody>
          <a:bodyPr/>
          <a:lstStyle/>
          <a:p>
            <a:fld id="{76BD843E-4C56-4416-9B03-30A6FDA09DB1}" type="datetimeFigureOut">
              <a:rPr lang="en-GB" smtClean="0"/>
              <a:t>22/04/2026</a:t>
            </a:fld>
            <a:endParaRPr lang="en-GB"/>
          </a:p>
        </p:txBody>
      </p:sp>
      <p:sp>
        <p:nvSpPr>
          <p:cNvPr id="6" name="Footer Placeholder 5">
            <a:extLst>
              <a:ext uri="{FF2B5EF4-FFF2-40B4-BE49-F238E27FC236}">
                <a16:creationId xmlns:a16="http://schemas.microsoft.com/office/drawing/2014/main" id="{B0088736-BBCA-BD9C-6748-A17A9B2D26A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046B06B-BB19-A12C-5FAE-EB52540B1A9F}"/>
              </a:ext>
            </a:extLst>
          </p:cNvPr>
          <p:cNvSpPr>
            <a:spLocks noGrp="1"/>
          </p:cNvSpPr>
          <p:nvPr>
            <p:ph type="sldNum" sz="quarter" idx="12"/>
          </p:nvPr>
        </p:nvSpPr>
        <p:spPr/>
        <p:txBody>
          <a:bodyPr/>
          <a:lstStyle/>
          <a:p>
            <a:fld id="{1C7F6A55-DBB9-42FA-92E0-ED3562CA506E}" type="slidenum">
              <a:rPr lang="en-GB" smtClean="0"/>
              <a:t>‹#›</a:t>
            </a:fld>
            <a:endParaRPr lang="en-GB"/>
          </a:p>
        </p:txBody>
      </p:sp>
    </p:spTree>
    <p:extLst>
      <p:ext uri="{BB962C8B-B14F-4D97-AF65-F5344CB8AC3E}">
        <p14:creationId xmlns:p14="http://schemas.microsoft.com/office/powerpoint/2010/main" val="2339495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18607-463A-BECA-993E-D3001F9A832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407AE56-1023-3766-EA72-0B66168075E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58D0387-40CC-58CC-9EC1-0C4401C4A763}"/>
              </a:ext>
            </a:extLst>
          </p:cNvPr>
          <p:cNvSpPr>
            <a:spLocks noGrp="1"/>
          </p:cNvSpPr>
          <p:nvPr>
            <p:ph type="dt" sz="half" idx="10"/>
          </p:nvPr>
        </p:nvSpPr>
        <p:spPr/>
        <p:txBody>
          <a:bodyPr/>
          <a:lstStyle/>
          <a:p>
            <a:fld id="{76BD843E-4C56-4416-9B03-30A6FDA09DB1}" type="datetimeFigureOut">
              <a:rPr lang="en-GB" smtClean="0"/>
              <a:t>22/04/2026</a:t>
            </a:fld>
            <a:endParaRPr lang="en-GB"/>
          </a:p>
        </p:txBody>
      </p:sp>
      <p:sp>
        <p:nvSpPr>
          <p:cNvPr id="5" name="Footer Placeholder 4">
            <a:extLst>
              <a:ext uri="{FF2B5EF4-FFF2-40B4-BE49-F238E27FC236}">
                <a16:creationId xmlns:a16="http://schemas.microsoft.com/office/drawing/2014/main" id="{6B2ED15F-D636-A5A1-C551-D857E0B40A4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A2C59DA-DB71-209F-FAC7-3722AB45C278}"/>
              </a:ext>
            </a:extLst>
          </p:cNvPr>
          <p:cNvSpPr>
            <a:spLocks noGrp="1"/>
          </p:cNvSpPr>
          <p:nvPr>
            <p:ph type="sldNum" sz="quarter" idx="12"/>
          </p:nvPr>
        </p:nvSpPr>
        <p:spPr/>
        <p:txBody>
          <a:bodyPr/>
          <a:lstStyle/>
          <a:p>
            <a:fld id="{1C7F6A55-DBB9-42FA-92E0-ED3562CA506E}" type="slidenum">
              <a:rPr lang="en-GB" smtClean="0"/>
              <a:t>‹#›</a:t>
            </a:fld>
            <a:endParaRPr lang="en-GB"/>
          </a:p>
        </p:txBody>
      </p:sp>
    </p:spTree>
    <p:extLst>
      <p:ext uri="{BB962C8B-B14F-4D97-AF65-F5344CB8AC3E}">
        <p14:creationId xmlns:p14="http://schemas.microsoft.com/office/powerpoint/2010/main" val="940750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E4D8E2-8F7B-D13F-BB69-C24180DB283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2C56600-3211-C14E-30AB-F3EE8EF7BFA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3AC332A-A946-C49B-3477-D99A187015C7}"/>
              </a:ext>
            </a:extLst>
          </p:cNvPr>
          <p:cNvSpPr>
            <a:spLocks noGrp="1"/>
          </p:cNvSpPr>
          <p:nvPr>
            <p:ph type="dt" sz="half" idx="10"/>
          </p:nvPr>
        </p:nvSpPr>
        <p:spPr/>
        <p:txBody>
          <a:bodyPr/>
          <a:lstStyle/>
          <a:p>
            <a:fld id="{76BD843E-4C56-4416-9B03-30A6FDA09DB1}" type="datetimeFigureOut">
              <a:rPr lang="en-GB" smtClean="0"/>
              <a:t>22/04/2026</a:t>
            </a:fld>
            <a:endParaRPr lang="en-GB"/>
          </a:p>
        </p:txBody>
      </p:sp>
      <p:sp>
        <p:nvSpPr>
          <p:cNvPr id="5" name="Footer Placeholder 4">
            <a:extLst>
              <a:ext uri="{FF2B5EF4-FFF2-40B4-BE49-F238E27FC236}">
                <a16:creationId xmlns:a16="http://schemas.microsoft.com/office/drawing/2014/main" id="{15957DE5-DF4A-3F8E-5096-635832D11D8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D315C81-F428-B42F-869D-68C507275788}"/>
              </a:ext>
            </a:extLst>
          </p:cNvPr>
          <p:cNvSpPr>
            <a:spLocks noGrp="1"/>
          </p:cNvSpPr>
          <p:nvPr>
            <p:ph type="sldNum" sz="quarter" idx="12"/>
          </p:nvPr>
        </p:nvSpPr>
        <p:spPr/>
        <p:txBody>
          <a:bodyPr/>
          <a:lstStyle/>
          <a:p>
            <a:fld id="{1C7F6A55-DBB9-42FA-92E0-ED3562CA506E}" type="slidenum">
              <a:rPr lang="en-GB" smtClean="0"/>
              <a:t>‹#›</a:t>
            </a:fld>
            <a:endParaRPr lang="en-GB"/>
          </a:p>
        </p:txBody>
      </p:sp>
    </p:spTree>
    <p:extLst>
      <p:ext uri="{BB962C8B-B14F-4D97-AF65-F5344CB8AC3E}">
        <p14:creationId xmlns:p14="http://schemas.microsoft.com/office/powerpoint/2010/main" val="15071867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98196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00083B-BB25-B329-1531-34975BD926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E7C65ED-8A6E-7F40-EBDC-2E528503A7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E1F65DC-4DEA-AEC1-24CB-539C2E1A3F4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6BD843E-4C56-4416-9B03-30A6FDA09DB1}" type="datetimeFigureOut">
              <a:rPr lang="en-GB" smtClean="0"/>
              <a:t>22/04/2026</a:t>
            </a:fld>
            <a:endParaRPr lang="en-GB"/>
          </a:p>
        </p:txBody>
      </p:sp>
      <p:sp>
        <p:nvSpPr>
          <p:cNvPr id="5" name="Footer Placeholder 4">
            <a:extLst>
              <a:ext uri="{FF2B5EF4-FFF2-40B4-BE49-F238E27FC236}">
                <a16:creationId xmlns:a16="http://schemas.microsoft.com/office/drawing/2014/main" id="{2991E86E-DE4F-2AF6-AB54-0168F1A5D2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6BB0E2FC-5C71-C4CD-A2AE-16302466ED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C7F6A55-DBB9-42FA-92E0-ED3562CA506E}" type="slidenum">
              <a:rPr lang="en-GB" smtClean="0"/>
              <a:t>‹#›</a:t>
            </a:fld>
            <a:endParaRPr lang="en-GB"/>
          </a:p>
        </p:txBody>
      </p:sp>
    </p:spTree>
    <p:extLst>
      <p:ext uri="{BB962C8B-B14F-4D97-AF65-F5344CB8AC3E}">
        <p14:creationId xmlns:p14="http://schemas.microsoft.com/office/powerpoint/2010/main" val="11783480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13E0AC0-A1D5-E36C-1158-EF1E5C489DBE}"/>
              </a:ext>
            </a:extLst>
          </p:cNvPr>
          <p:cNvSpPr>
            <a:spLocks noGrp="1"/>
          </p:cNvSpPr>
          <p:nvPr>
            <p:ph type="title"/>
          </p:nvPr>
        </p:nvSpPr>
        <p:spPr>
          <a:xfrm>
            <a:off x="838200" y="1412488"/>
            <a:ext cx="2899189" cy="4363844"/>
          </a:xfrm>
        </p:spPr>
        <p:txBody>
          <a:bodyPr vert="horz" lIns="91440" tIns="45720" rIns="91440" bIns="45720" rtlCol="0" anchor="t">
            <a:normAutofit/>
          </a:bodyPr>
          <a:lstStyle/>
          <a:p>
            <a:r>
              <a:rPr lang="en-US" sz="4000" kern="1200">
                <a:solidFill>
                  <a:srgbClr val="FFFFFF"/>
                </a:solidFill>
                <a:latin typeface="+mj-lt"/>
                <a:ea typeface="+mj-ea"/>
                <a:cs typeface="+mj-cs"/>
              </a:rPr>
              <a:t>COVID-19 Hackathon: Comparing different models</a:t>
            </a:r>
          </a:p>
        </p:txBody>
      </p:sp>
      <p:sp>
        <p:nvSpPr>
          <p:cNvPr id="3" name="Content Placeholder 2">
            <a:extLst>
              <a:ext uri="{FF2B5EF4-FFF2-40B4-BE49-F238E27FC236}">
                <a16:creationId xmlns:a16="http://schemas.microsoft.com/office/drawing/2014/main" id="{32662AF7-4FAF-9718-F127-B45B96B2180B}"/>
              </a:ext>
            </a:extLst>
          </p:cNvPr>
          <p:cNvSpPr>
            <a:spLocks noGrp="1"/>
          </p:cNvSpPr>
          <p:nvPr>
            <p:ph idx="1"/>
          </p:nvPr>
        </p:nvSpPr>
        <p:spPr>
          <a:xfrm>
            <a:off x="4380855" y="1412489"/>
            <a:ext cx="3427283" cy="4363844"/>
          </a:xfrm>
        </p:spPr>
        <p:txBody>
          <a:bodyPr vert="horz" lIns="91440" tIns="45720" rIns="91440" bIns="45720" rtlCol="0">
            <a:normAutofit/>
          </a:bodyPr>
          <a:lstStyle/>
          <a:p>
            <a:r>
              <a:rPr lang="en-US" sz="2000"/>
              <a:t>Exploratory Data Analysis</a:t>
            </a:r>
          </a:p>
          <a:p>
            <a:endParaRPr lang="en-US" sz="2000"/>
          </a:p>
          <a:p>
            <a:r>
              <a:rPr lang="en-US" sz="2000"/>
              <a:t>LightGBM</a:t>
            </a:r>
          </a:p>
          <a:p>
            <a:r>
              <a:rPr lang="en-US" sz="2000"/>
              <a:t>Logistic Regression</a:t>
            </a:r>
          </a:p>
          <a:p>
            <a:r>
              <a:rPr lang="en-US" sz="2000"/>
              <a:t>Random Forest</a:t>
            </a:r>
          </a:p>
          <a:p>
            <a:r>
              <a:rPr lang="en-US" sz="2000"/>
              <a:t>XGBoost</a:t>
            </a:r>
          </a:p>
          <a:p>
            <a:r>
              <a:rPr lang="en-US" sz="2000"/>
              <a:t>HistCBC</a:t>
            </a:r>
          </a:p>
          <a:p>
            <a:endParaRPr lang="en-US" sz="2000"/>
          </a:p>
          <a:p>
            <a:r>
              <a:rPr lang="en-US" sz="2000"/>
              <a:t>Summary</a:t>
            </a:r>
          </a:p>
          <a:p>
            <a:endParaRPr lang="en-US" sz="2000"/>
          </a:p>
          <a:p>
            <a:endParaRPr lang="en-US" sz="2000"/>
          </a:p>
        </p:txBody>
      </p:sp>
      <p:cxnSp>
        <p:nvCxnSpPr>
          <p:cNvPr id="23" name="Straight Connector 22">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71E4779D-97BC-22B3-91C0-E13C810A8E97}"/>
              </a:ext>
            </a:extLst>
          </p:cNvPr>
          <p:cNvSpPr txBox="1"/>
          <p:nvPr/>
        </p:nvSpPr>
        <p:spPr>
          <a:xfrm>
            <a:off x="8451604" y="1412489"/>
            <a:ext cx="3197701" cy="4363844"/>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000" dirty="0"/>
              <a:t>Ivan</a:t>
            </a:r>
          </a:p>
          <a:p>
            <a:pPr indent="-228600">
              <a:lnSpc>
                <a:spcPct val="90000"/>
              </a:lnSpc>
              <a:spcAft>
                <a:spcPts val="600"/>
              </a:spcAft>
              <a:buFont typeface="Arial" panose="020B0604020202020204" pitchFamily="34" charset="0"/>
              <a:buChar char="•"/>
            </a:pPr>
            <a:r>
              <a:rPr lang="en-US" sz="2000" dirty="0"/>
              <a:t>Bhaskara-Rao</a:t>
            </a:r>
          </a:p>
          <a:p>
            <a:pPr indent="-228600">
              <a:lnSpc>
                <a:spcPct val="90000"/>
              </a:lnSpc>
              <a:spcAft>
                <a:spcPts val="600"/>
              </a:spcAft>
              <a:buFont typeface="Arial" panose="020B0604020202020204" pitchFamily="34" charset="0"/>
              <a:buChar char="•"/>
            </a:pPr>
            <a:r>
              <a:rPr lang="en-US" sz="2000" dirty="0" err="1"/>
              <a:t>Hieye</a:t>
            </a:r>
            <a:endParaRPr lang="en-US" sz="2000" dirty="0"/>
          </a:p>
          <a:p>
            <a:pPr indent="-228600">
              <a:lnSpc>
                <a:spcPct val="90000"/>
              </a:lnSpc>
              <a:spcAft>
                <a:spcPts val="600"/>
              </a:spcAft>
              <a:buFont typeface="Arial" panose="020B0604020202020204" pitchFamily="34" charset="0"/>
              <a:buChar char="•"/>
            </a:pPr>
            <a:r>
              <a:rPr lang="en-US" sz="2000" dirty="0"/>
              <a:t>Loic</a:t>
            </a:r>
          </a:p>
          <a:p>
            <a:pPr indent="-228600">
              <a:lnSpc>
                <a:spcPct val="90000"/>
              </a:lnSpc>
              <a:spcAft>
                <a:spcPts val="600"/>
              </a:spcAft>
              <a:buFont typeface="Arial" panose="020B0604020202020204" pitchFamily="34" charset="0"/>
              <a:buChar char="•"/>
            </a:pPr>
            <a:r>
              <a:rPr lang="en-US" sz="2000" dirty="0"/>
              <a:t>Luke</a:t>
            </a:r>
          </a:p>
        </p:txBody>
      </p:sp>
    </p:spTree>
    <p:extLst>
      <p:ext uri="{BB962C8B-B14F-4D97-AF65-F5344CB8AC3E}">
        <p14:creationId xmlns:p14="http://schemas.microsoft.com/office/powerpoint/2010/main" val="18714228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2C9A9DA9-7DC8-488B-A882-123947B0F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8" name="Rectangle 27">
            <a:extLst>
              <a:ext uri="{FF2B5EF4-FFF2-40B4-BE49-F238E27FC236}">
                <a16:creationId xmlns:a16="http://schemas.microsoft.com/office/drawing/2014/main" id="{57F6BDD4-E066-4008-8011-6CC31AEB4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5" y="633619"/>
            <a:ext cx="4279383" cy="5495925"/>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D186447-8183-62E7-C267-98701E09759C}"/>
              </a:ext>
            </a:extLst>
          </p:cNvPr>
          <p:cNvSpPr>
            <a:spLocks noGrp="1"/>
          </p:cNvSpPr>
          <p:nvPr>
            <p:ph type="title"/>
          </p:nvPr>
        </p:nvSpPr>
        <p:spPr>
          <a:xfrm>
            <a:off x="841247" y="978619"/>
            <a:ext cx="3410712" cy="1106424"/>
          </a:xfrm>
        </p:spPr>
        <p:txBody>
          <a:bodyPr vert="horz" lIns="91440" tIns="45720" rIns="91440" bIns="45720" rtlCol="0" anchor="ctr">
            <a:normAutofit/>
          </a:bodyPr>
          <a:lstStyle/>
          <a:p>
            <a:r>
              <a:rPr lang="en-US" sz="2800" kern="1200">
                <a:solidFill>
                  <a:schemeClr val="tx1"/>
                </a:solidFill>
                <a:latin typeface="+mj-lt"/>
                <a:ea typeface="+mj-ea"/>
                <a:cs typeface="+mj-cs"/>
              </a:rPr>
              <a:t>Exploratory Data Analysis</a:t>
            </a:r>
          </a:p>
        </p:txBody>
      </p:sp>
      <p:sp>
        <p:nvSpPr>
          <p:cNvPr id="30" name="Rectangle 29">
            <a:extLst>
              <a:ext uri="{FF2B5EF4-FFF2-40B4-BE49-F238E27FC236}">
                <a16:creationId xmlns:a16="http://schemas.microsoft.com/office/drawing/2014/main" id="{2711A8FB-68FC-45FC-B01E-38F809E2D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1300"/>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2" name="Rectangle 31">
            <a:extLst>
              <a:ext uri="{FF2B5EF4-FFF2-40B4-BE49-F238E27FC236}">
                <a16:creationId xmlns:a16="http://schemas.microsoft.com/office/drawing/2014/main" id="{2A865FE3-5FC9-4049-87CF-30019C46C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9" y="2093976"/>
            <a:ext cx="3328416"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22A2A35D-95EF-3527-AE37-E56344F6A8E7}"/>
              </a:ext>
            </a:extLst>
          </p:cNvPr>
          <p:cNvSpPr>
            <a:spLocks noGrp="1"/>
          </p:cNvSpPr>
          <p:nvPr>
            <p:ph sz="half" idx="1"/>
          </p:nvPr>
        </p:nvSpPr>
        <p:spPr>
          <a:xfrm>
            <a:off x="841248" y="2252870"/>
            <a:ext cx="3412219" cy="3560251"/>
          </a:xfrm>
        </p:spPr>
        <p:txBody>
          <a:bodyPr vert="horz" lIns="91440" tIns="45720" rIns="91440" bIns="45720" rtlCol="0">
            <a:normAutofit/>
          </a:bodyPr>
          <a:lstStyle/>
          <a:p>
            <a:r>
              <a:rPr lang="en-US" sz="1700"/>
              <a:t>Imbalanced target: ~5% positive cases.</a:t>
            </a:r>
          </a:p>
          <a:p>
            <a:r>
              <a:rPr lang="en-US" sz="1700"/>
              <a:t>Some features have much higher rate based on positive value; </a:t>
            </a:r>
            <a:r>
              <a:rPr lang="en-US" sz="1700" b="1"/>
              <a:t>sore_throat</a:t>
            </a:r>
            <a:r>
              <a:rPr lang="en-US" sz="1700"/>
              <a:t>, </a:t>
            </a:r>
            <a:r>
              <a:rPr lang="en-US" sz="1700" b="1"/>
              <a:t>shortness_of_breath</a:t>
            </a:r>
            <a:r>
              <a:rPr lang="en-US" sz="1700"/>
              <a:t>, </a:t>
            </a:r>
            <a:r>
              <a:rPr lang="en-US" sz="1700" b="1"/>
              <a:t>head_ache</a:t>
            </a:r>
            <a:r>
              <a:rPr lang="en-US" sz="1700"/>
              <a:t>, </a:t>
            </a:r>
            <a:r>
              <a:rPr lang="en-US" sz="1700" b="1"/>
              <a:t>test_indication</a:t>
            </a:r>
            <a:r>
              <a:rPr lang="en-US" sz="1700"/>
              <a:t>.</a:t>
            </a:r>
          </a:p>
          <a:p>
            <a:r>
              <a:rPr lang="en-US" sz="1700"/>
              <a:t>One feature </a:t>
            </a:r>
            <a:r>
              <a:rPr lang="en-US" sz="1700" b="1"/>
              <a:t>age_60_and_above</a:t>
            </a:r>
            <a:r>
              <a:rPr lang="en-US" sz="1700"/>
              <a:t> had high null values: ~46%.</a:t>
            </a:r>
          </a:p>
        </p:txBody>
      </p:sp>
      <p:pic>
        <p:nvPicPr>
          <p:cNvPr id="6" name="Content Placeholder 5">
            <a:extLst>
              <a:ext uri="{FF2B5EF4-FFF2-40B4-BE49-F238E27FC236}">
                <a16:creationId xmlns:a16="http://schemas.microsoft.com/office/drawing/2014/main" id="{6B3BE9CA-B32D-2CF4-D011-A395FFCD1F6B}"/>
              </a:ext>
            </a:extLst>
          </p:cNvPr>
          <p:cNvPicPr>
            <a:picLocks noGrp="1" noChangeAspect="1"/>
          </p:cNvPicPr>
          <p:nvPr>
            <p:ph sz="half" idx="2"/>
          </p:nvPr>
        </p:nvPicPr>
        <p:blipFill>
          <a:blip r:embed="rId2"/>
          <a:stretch>
            <a:fillRect/>
          </a:stretch>
        </p:blipFill>
        <p:spPr>
          <a:xfrm>
            <a:off x="5120640" y="1506474"/>
            <a:ext cx="6656832" cy="3744467"/>
          </a:xfrm>
          <a:prstGeom prst="rect">
            <a:avLst/>
          </a:prstGeom>
        </p:spPr>
      </p:pic>
    </p:spTree>
    <p:extLst>
      <p:ext uri="{BB962C8B-B14F-4D97-AF65-F5344CB8AC3E}">
        <p14:creationId xmlns:p14="http://schemas.microsoft.com/office/powerpoint/2010/main" val="8091700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4C2AC11E-3162-4990-A36E-92B07ECF16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1" name="Rectangle 40">
            <a:extLst>
              <a:ext uri="{FF2B5EF4-FFF2-40B4-BE49-F238E27FC236}">
                <a16:creationId xmlns:a16="http://schemas.microsoft.com/office/drawing/2014/main" id="{9073D962-D3D2-4A72-8593-65C213CBFF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4" y="633619"/>
            <a:ext cx="4520912" cy="5495925"/>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6FA1AD3C-A614-44DD-6953-7DFF57172B80}"/>
              </a:ext>
            </a:extLst>
          </p:cNvPr>
          <p:cNvSpPr>
            <a:spLocks noGrp="1"/>
          </p:cNvSpPr>
          <p:nvPr>
            <p:ph type="title"/>
          </p:nvPr>
        </p:nvSpPr>
        <p:spPr>
          <a:xfrm>
            <a:off x="838200" y="978408"/>
            <a:ext cx="3721608" cy="1106424"/>
          </a:xfrm>
        </p:spPr>
        <p:txBody>
          <a:bodyPr vert="horz" lIns="91440" tIns="45720" rIns="91440" bIns="45720" rtlCol="0" anchor="ctr">
            <a:normAutofit/>
          </a:bodyPr>
          <a:lstStyle/>
          <a:p>
            <a:r>
              <a:rPr lang="en-US" sz="2800"/>
              <a:t>LightGBM</a:t>
            </a:r>
          </a:p>
        </p:txBody>
      </p:sp>
      <p:sp>
        <p:nvSpPr>
          <p:cNvPr id="42" name="Rectangle 41">
            <a:extLst>
              <a:ext uri="{FF2B5EF4-FFF2-40B4-BE49-F238E27FC236}">
                <a16:creationId xmlns:a16="http://schemas.microsoft.com/office/drawing/2014/main" id="{2387511B-F6E1-4929-AC90-94FB8B6B0F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5" y="1181536"/>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 name="Rectangle 38">
            <a:extLst>
              <a:ext uri="{FF2B5EF4-FFF2-40B4-BE49-F238E27FC236}">
                <a16:creationId xmlns:a16="http://schemas.microsoft.com/office/drawing/2014/main" id="{AA58F78C-27AB-465F-AA33-15E08AF267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6" y="2185416"/>
            <a:ext cx="3683187"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00478EB9-651D-4EEB-FFF7-1B1602E39A48}"/>
              </a:ext>
            </a:extLst>
          </p:cNvPr>
          <p:cNvSpPr>
            <a:spLocks noGrp="1"/>
          </p:cNvSpPr>
          <p:nvPr>
            <p:ph sz="half" idx="1"/>
          </p:nvPr>
        </p:nvSpPr>
        <p:spPr>
          <a:xfrm>
            <a:off x="838200" y="2368296"/>
            <a:ext cx="3721608" cy="3502152"/>
          </a:xfrm>
        </p:spPr>
        <p:txBody>
          <a:bodyPr vert="horz" lIns="91440" tIns="45720" rIns="91440" bIns="45720" rtlCol="0">
            <a:normAutofit/>
          </a:bodyPr>
          <a:lstStyle/>
          <a:p>
            <a:r>
              <a:rPr lang="en-US" sz="1100"/>
              <a:t>Preprocess:</a:t>
            </a:r>
          </a:p>
          <a:p>
            <a:pPr lvl="1"/>
            <a:r>
              <a:rPr lang="en-US" sz="1100"/>
              <a:t>Drop corona_result=“other”.</a:t>
            </a:r>
          </a:p>
          <a:p>
            <a:pPr lvl="1"/>
            <a:r>
              <a:rPr lang="en-US" sz="1100"/>
              <a:t>Drop test_date column.</a:t>
            </a:r>
          </a:p>
          <a:p>
            <a:pPr lvl="1"/>
            <a:r>
              <a:rPr lang="en-US" sz="1100"/>
              <a:t>corona_result: bool</a:t>
            </a:r>
          </a:p>
          <a:p>
            <a:pPr lvl="1"/>
            <a:r>
              <a:rPr lang="en-US" sz="1100"/>
              <a:t>All other cols: category. Model handles NaN, so kept in.</a:t>
            </a:r>
          </a:p>
          <a:p>
            <a:r>
              <a:rPr lang="en-US" sz="1100"/>
              <a:t>Train/test splits; stratify to keep imbalance.</a:t>
            </a:r>
          </a:p>
          <a:p>
            <a:r>
              <a:rPr lang="en-US" sz="1100"/>
              <a:t>Train using ROC-AUC metric.</a:t>
            </a:r>
          </a:p>
          <a:p>
            <a:r>
              <a:rPr lang="en-US" sz="1100"/>
              <a:t>Want to find a threshold for probabilities to minimise false negatives, also important to minimise false positives.</a:t>
            </a:r>
          </a:p>
          <a:p>
            <a:r>
              <a:rPr lang="en-US" sz="1100"/>
              <a:t>Chose threshold where false neg becomes less than false pos. False pos start to increase steeply on further reduction of false neg.</a:t>
            </a:r>
          </a:p>
          <a:p>
            <a:r>
              <a:rPr lang="en-US" sz="1100"/>
              <a:t>Comparing to threshold of 0.5 we see the increase of false neg.</a:t>
            </a:r>
          </a:p>
        </p:txBody>
      </p:sp>
      <p:pic>
        <p:nvPicPr>
          <p:cNvPr id="22" name="Picture 21">
            <a:extLst>
              <a:ext uri="{FF2B5EF4-FFF2-40B4-BE49-F238E27FC236}">
                <a16:creationId xmlns:a16="http://schemas.microsoft.com/office/drawing/2014/main" id="{D074B975-B209-B41E-878F-9C6A1706D031}"/>
              </a:ext>
            </a:extLst>
          </p:cNvPr>
          <p:cNvPicPr>
            <a:picLocks noChangeAspect="1"/>
          </p:cNvPicPr>
          <p:nvPr/>
        </p:nvPicPr>
        <p:blipFill>
          <a:blip r:embed="rId2"/>
          <a:stretch>
            <a:fillRect/>
          </a:stretch>
        </p:blipFill>
        <p:spPr>
          <a:xfrm>
            <a:off x="5508727" y="3308227"/>
            <a:ext cx="3081187" cy="2688336"/>
          </a:xfrm>
          <a:prstGeom prst="rect">
            <a:avLst/>
          </a:prstGeom>
        </p:spPr>
      </p:pic>
      <p:pic>
        <p:nvPicPr>
          <p:cNvPr id="20" name="Picture 19">
            <a:extLst>
              <a:ext uri="{FF2B5EF4-FFF2-40B4-BE49-F238E27FC236}">
                <a16:creationId xmlns:a16="http://schemas.microsoft.com/office/drawing/2014/main" id="{02709208-4CF0-FC42-6ECD-367C40E2FDDC}"/>
              </a:ext>
            </a:extLst>
          </p:cNvPr>
          <p:cNvPicPr>
            <a:picLocks noChangeAspect="1"/>
          </p:cNvPicPr>
          <p:nvPr/>
        </p:nvPicPr>
        <p:blipFill>
          <a:blip r:embed="rId3">
            <a:extLst>
              <a:ext uri="{28A0092B-C50C-407E-A947-70E740481C1C}">
                <a14:useLocalDpi xmlns:a14="http://schemas.microsoft.com/office/drawing/2010/main" val="0"/>
              </a:ext>
            </a:extLst>
          </a:blip>
          <a:stretch/>
        </p:blipFill>
        <p:spPr>
          <a:xfrm>
            <a:off x="8766781" y="3429000"/>
            <a:ext cx="3248352" cy="2655527"/>
          </a:xfrm>
          <a:prstGeom prst="rect">
            <a:avLst/>
          </a:prstGeom>
        </p:spPr>
      </p:pic>
      <p:pic>
        <p:nvPicPr>
          <p:cNvPr id="28" name="Picture 27">
            <a:extLst>
              <a:ext uri="{FF2B5EF4-FFF2-40B4-BE49-F238E27FC236}">
                <a16:creationId xmlns:a16="http://schemas.microsoft.com/office/drawing/2014/main" id="{CB81964B-57CE-FB45-A40F-38303B500421}"/>
              </a:ext>
            </a:extLst>
          </p:cNvPr>
          <p:cNvPicPr>
            <a:picLocks noChangeAspect="1"/>
          </p:cNvPicPr>
          <p:nvPr/>
        </p:nvPicPr>
        <p:blipFill>
          <a:blip r:embed="rId4"/>
          <a:stretch>
            <a:fillRect/>
          </a:stretch>
        </p:blipFill>
        <p:spPr>
          <a:xfrm>
            <a:off x="5815416" y="575644"/>
            <a:ext cx="2774498" cy="2691264"/>
          </a:xfrm>
          <a:prstGeom prst="rect">
            <a:avLst/>
          </a:prstGeom>
        </p:spPr>
      </p:pic>
      <p:pic>
        <p:nvPicPr>
          <p:cNvPr id="18" name="Picture 17">
            <a:extLst>
              <a:ext uri="{FF2B5EF4-FFF2-40B4-BE49-F238E27FC236}">
                <a16:creationId xmlns:a16="http://schemas.microsoft.com/office/drawing/2014/main" id="{7807F4DD-29D2-CB61-4061-247D2D31C711}"/>
              </a:ext>
            </a:extLst>
          </p:cNvPr>
          <p:cNvPicPr>
            <a:picLocks noChangeAspect="1"/>
          </p:cNvPicPr>
          <p:nvPr/>
        </p:nvPicPr>
        <p:blipFill>
          <a:blip r:embed="rId5">
            <a:extLst>
              <a:ext uri="{28A0092B-C50C-407E-A947-70E740481C1C}">
                <a14:useLocalDpi xmlns:a14="http://schemas.microsoft.com/office/drawing/2010/main" val="0"/>
              </a:ext>
            </a:extLst>
          </a:blip>
          <a:stretch/>
        </p:blipFill>
        <p:spPr>
          <a:xfrm>
            <a:off x="8766781" y="633619"/>
            <a:ext cx="3248352" cy="2655527"/>
          </a:xfrm>
          <a:prstGeom prst="rect">
            <a:avLst/>
          </a:prstGeom>
        </p:spPr>
      </p:pic>
    </p:spTree>
    <p:extLst>
      <p:ext uri="{BB962C8B-B14F-4D97-AF65-F5344CB8AC3E}">
        <p14:creationId xmlns:p14="http://schemas.microsoft.com/office/powerpoint/2010/main" val="656469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fade">
                                      <p:cBhvr>
                                        <p:cTn id="37" dur="500"/>
                                        <p:tgtEl>
                                          <p:spTgt spid="5">
                                            <p:txEl>
                                              <p:pRg st="6" end="6"/>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500"/>
                                        <p:tgtEl>
                                          <p:spTgt spid="28"/>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5">
                                            <p:txEl>
                                              <p:pRg st="7" end="7"/>
                                            </p:txEl>
                                          </p:spTgt>
                                        </p:tgtEl>
                                        <p:attrNameLst>
                                          <p:attrName>style.visibility</p:attrName>
                                        </p:attrNameLst>
                                      </p:cBhvr>
                                      <p:to>
                                        <p:strVal val="visible"/>
                                      </p:to>
                                    </p:set>
                                    <p:animEffect transition="in" filter="fade">
                                      <p:cBhvr>
                                        <p:cTn id="45" dur="500"/>
                                        <p:tgtEl>
                                          <p:spTgt spid="5">
                                            <p:txEl>
                                              <p:pRg st="7" end="7"/>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5">
                                            <p:txEl>
                                              <p:pRg st="8" end="8"/>
                                            </p:txEl>
                                          </p:spTgt>
                                        </p:tgtEl>
                                        <p:attrNameLst>
                                          <p:attrName>style.visibility</p:attrName>
                                        </p:attrNameLst>
                                      </p:cBhvr>
                                      <p:to>
                                        <p:strVal val="visible"/>
                                      </p:to>
                                    </p:set>
                                    <p:animEffect transition="in" filter="fade">
                                      <p:cBhvr>
                                        <p:cTn id="50" dur="500"/>
                                        <p:tgtEl>
                                          <p:spTgt spid="5">
                                            <p:txEl>
                                              <p:pRg st="8" end="8"/>
                                            </p:txEl>
                                          </p:spTgt>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500"/>
                                        <p:tgtEl>
                                          <p:spTgt spid="22"/>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18"/>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5">
                                            <p:txEl>
                                              <p:pRg st="9" end="9"/>
                                            </p:txEl>
                                          </p:spTgt>
                                        </p:tgtEl>
                                        <p:attrNameLst>
                                          <p:attrName>style.visibility</p:attrName>
                                        </p:attrNameLst>
                                      </p:cBhvr>
                                      <p:to>
                                        <p:strVal val="visible"/>
                                      </p:to>
                                    </p:set>
                                    <p:animEffect transition="in" filter="fade">
                                      <p:cBhvr>
                                        <p:cTn id="62" dur="500"/>
                                        <p:tgtEl>
                                          <p:spTgt spid="5">
                                            <p:txEl>
                                              <p:pRg st="9" end="9"/>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fade">
                                      <p:cBhvr>
                                        <p:cTn id="6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C26C4F1-FB06-7A77-DD09-6EF1072B0AC6}"/>
              </a:ext>
            </a:extLst>
          </p:cNvPr>
          <p:cNvSpPr>
            <a:spLocks noGrp="1"/>
          </p:cNvSpPr>
          <p:nvPr>
            <p:ph type="title"/>
          </p:nvPr>
        </p:nvSpPr>
        <p:spPr/>
        <p:txBody>
          <a:bodyPr/>
          <a:lstStyle/>
          <a:p>
            <a:r>
              <a:rPr lang="en-GB" dirty="0"/>
              <a:t>COVID-19 Screening Using Symptom Data</a:t>
            </a:r>
          </a:p>
        </p:txBody>
      </p:sp>
      <p:sp>
        <p:nvSpPr>
          <p:cNvPr id="6" name="Content Placeholder 5">
            <a:extLst>
              <a:ext uri="{FF2B5EF4-FFF2-40B4-BE49-F238E27FC236}">
                <a16:creationId xmlns:a16="http://schemas.microsoft.com/office/drawing/2014/main" id="{3FAA8A7C-6BF2-92D7-5011-8E3616B6602B}"/>
              </a:ext>
            </a:extLst>
          </p:cNvPr>
          <p:cNvSpPr>
            <a:spLocks noGrp="1"/>
          </p:cNvSpPr>
          <p:nvPr>
            <p:ph sz="half" idx="2"/>
          </p:nvPr>
        </p:nvSpPr>
        <p:spPr/>
        <p:txBody>
          <a:bodyPr>
            <a:normAutofit fontScale="55000" lnSpcReduction="20000"/>
          </a:bodyPr>
          <a:lstStyle/>
          <a:p>
            <a:pPr marL="0" indent="0">
              <a:buNone/>
            </a:pPr>
            <a:r>
              <a:rPr lang="en-GB" b="1" dirty="0">
                <a:effectLst/>
              </a:rPr>
              <a:t>Problem Framing and Objective</a:t>
            </a:r>
            <a:endParaRPr lang="en-GB" b="1" dirty="0"/>
          </a:p>
          <a:p>
            <a:pPr marL="0" indent="0">
              <a:buNone/>
            </a:pPr>
            <a:r>
              <a:rPr lang="en-GB" dirty="0">
                <a:effectLst/>
              </a:rPr>
              <a:t>Screening COVID-19 using self-reported symptoms to prioritize individuals for further testing or care.</a:t>
            </a:r>
          </a:p>
          <a:p>
            <a:pPr marL="0" indent="0">
              <a:buNone/>
            </a:pPr>
            <a:endParaRPr lang="en-GB" dirty="0"/>
          </a:p>
          <a:p>
            <a:pPr marL="0" indent="0">
              <a:buNone/>
            </a:pPr>
            <a:r>
              <a:rPr lang="en-GB" b="1" dirty="0">
                <a:effectLst/>
              </a:rPr>
              <a:t>Class Imbalance Challenge</a:t>
            </a:r>
            <a:endParaRPr lang="en-GB" b="1" dirty="0"/>
          </a:p>
          <a:p>
            <a:pPr marL="0" indent="0">
              <a:buNone/>
            </a:pPr>
            <a:r>
              <a:rPr lang="en-GB" dirty="0">
                <a:effectLst/>
              </a:rPr>
              <a:t>Only 5.4% positive cases create difficulty in model training and evaluation due to data imbalance.</a:t>
            </a:r>
          </a:p>
          <a:p>
            <a:pPr marL="0" indent="0">
              <a:buNone/>
            </a:pPr>
            <a:endParaRPr lang="en-GB" dirty="0"/>
          </a:p>
          <a:p>
            <a:pPr marL="0" indent="0">
              <a:buNone/>
            </a:pPr>
            <a:r>
              <a:rPr lang="en-GB" b="1" dirty="0" err="1">
                <a:effectLst/>
              </a:rPr>
              <a:t>Modeling</a:t>
            </a:r>
            <a:r>
              <a:rPr lang="en-GB" b="1" dirty="0">
                <a:effectLst/>
              </a:rPr>
              <a:t> Approach</a:t>
            </a:r>
            <a:endParaRPr lang="en-GB" b="1" dirty="0"/>
          </a:p>
          <a:p>
            <a:pPr marL="0" indent="0">
              <a:buNone/>
            </a:pPr>
            <a:r>
              <a:rPr lang="en-GB" dirty="0">
                <a:effectLst/>
              </a:rPr>
              <a:t>Logistic Regression chosen for interpretability and probabilistic outputs aiding healthcare decision-making.</a:t>
            </a:r>
          </a:p>
          <a:p>
            <a:pPr marL="0" indent="0">
              <a:buNone/>
            </a:pPr>
            <a:endParaRPr lang="en-GB" dirty="0"/>
          </a:p>
          <a:p>
            <a:pPr marL="0" indent="0">
              <a:buNone/>
            </a:pPr>
            <a:r>
              <a:rPr lang="en-GB" b="1" dirty="0">
                <a:effectLst/>
              </a:rPr>
              <a:t>Model Purpose and Use</a:t>
            </a:r>
            <a:endParaRPr lang="en-GB" b="1" dirty="0"/>
          </a:p>
          <a:p>
            <a:pPr marL="0" indent="0">
              <a:buNone/>
            </a:pPr>
            <a:r>
              <a:rPr lang="en-GB" dirty="0">
                <a:effectLst/>
              </a:rPr>
              <a:t>Designed as a screening tool to flag potential cases, not for definitive diagnosis.</a:t>
            </a:r>
            <a:endParaRPr lang="en-GB" dirty="0"/>
          </a:p>
          <a:p>
            <a:endParaRPr lang="en-GB" dirty="0"/>
          </a:p>
        </p:txBody>
      </p:sp>
      <p:pic>
        <p:nvPicPr>
          <p:cNvPr id="3074" name="Picture 2">
            <a:extLst>
              <a:ext uri="{FF2B5EF4-FFF2-40B4-BE49-F238E27FC236}">
                <a16:creationId xmlns:a16="http://schemas.microsoft.com/office/drawing/2014/main" id="{EFFC19BE-E0D5-EA84-0ED3-6312063E73B2}"/>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838200" y="1948520"/>
            <a:ext cx="5181600" cy="41055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38030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30E63-9C3C-D88D-F5AC-B553E3A951D5}"/>
              </a:ext>
            </a:extLst>
          </p:cNvPr>
          <p:cNvSpPr>
            <a:spLocks noGrp="1"/>
          </p:cNvSpPr>
          <p:nvPr>
            <p:ph type="title"/>
          </p:nvPr>
        </p:nvSpPr>
        <p:spPr/>
        <p:txBody>
          <a:bodyPr/>
          <a:lstStyle/>
          <a:p>
            <a:r>
              <a:rPr lang="en-GB" dirty="0"/>
              <a:t>Handling Class Imbalance Effectively</a:t>
            </a:r>
          </a:p>
        </p:txBody>
      </p:sp>
      <p:sp>
        <p:nvSpPr>
          <p:cNvPr id="4" name="Content Placeholder 3">
            <a:extLst>
              <a:ext uri="{FF2B5EF4-FFF2-40B4-BE49-F238E27FC236}">
                <a16:creationId xmlns:a16="http://schemas.microsoft.com/office/drawing/2014/main" id="{6F67A63A-BB0F-D232-69A5-DF1E8CF27DED}"/>
              </a:ext>
            </a:extLst>
          </p:cNvPr>
          <p:cNvSpPr>
            <a:spLocks noGrp="1"/>
          </p:cNvSpPr>
          <p:nvPr>
            <p:ph sz="half" idx="2"/>
          </p:nvPr>
        </p:nvSpPr>
        <p:spPr/>
        <p:txBody>
          <a:bodyPr>
            <a:normAutofit fontScale="47500" lnSpcReduction="20000"/>
          </a:bodyPr>
          <a:lstStyle/>
          <a:p>
            <a:pPr marL="0" indent="0">
              <a:buNone/>
            </a:pPr>
            <a:r>
              <a:rPr lang="en-GB" b="1" dirty="0">
                <a:effectLst/>
              </a:rPr>
              <a:t>Preprocessing for Imbalanced Data</a:t>
            </a:r>
            <a:endParaRPr lang="en-GB" b="1" dirty="0"/>
          </a:p>
          <a:p>
            <a:pPr marL="0" indent="0">
              <a:buNone/>
            </a:pPr>
            <a:r>
              <a:rPr lang="en-GB" dirty="0">
                <a:effectLst/>
              </a:rPr>
              <a:t>Target labels were cleaned and encoded into consistent binary format for accurate </a:t>
            </a:r>
            <a:r>
              <a:rPr lang="en-GB" dirty="0" err="1">
                <a:effectLst/>
              </a:rPr>
              <a:t>modeling</a:t>
            </a:r>
            <a:r>
              <a:rPr lang="en-GB" dirty="0">
                <a:effectLst/>
              </a:rPr>
              <a:t>. Feature selection focused on realistic symptom indicators available during screening.</a:t>
            </a:r>
          </a:p>
          <a:p>
            <a:pPr marL="0" indent="0">
              <a:buNone/>
            </a:pPr>
            <a:endParaRPr lang="en-GB" dirty="0"/>
          </a:p>
          <a:p>
            <a:pPr marL="0" indent="0">
              <a:buNone/>
            </a:pPr>
            <a:r>
              <a:rPr lang="en-GB" b="1" dirty="0">
                <a:effectLst/>
              </a:rPr>
              <a:t>Limitations of Accuracy Metric</a:t>
            </a:r>
            <a:endParaRPr lang="en-GB" b="1" dirty="0"/>
          </a:p>
          <a:p>
            <a:pPr marL="0" indent="0">
              <a:buNone/>
            </a:pPr>
            <a:r>
              <a:rPr lang="en-GB" dirty="0">
                <a:effectLst/>
              </a:rPr>
              <a:t>Accuracy is misleading for imbalanced data as it may </a:t>
            </a:r>
            <a:r>
              <a:rPr lang="en-GB" dirty="0" err="1">
                <a:effectLst/>
              </a:rPr>
              <a:t>favor</a:t>
            </a:r>
            <a:r>
              <a:rPr lang="en-GB" dirty="0">
                <a:effectLst/>
              </a:rPr>
              <a:t> the dominant class while ignoring minority positives. Alternative metrics are necessary.</a:t>
            </a:r>
          </a:p>
          <a:p>
            <a:pPr marL="0" indent="0">
              <a:buNone/>
            </a:pPr>
            <a:endParaRPr lang="en-GB" dirty="0"/>
          </a:p>
          <a:p>
            <a:pPr marL="0" indent="0">
              <a:buNone/>
            </a:pPr>
            <a:r>
              <a:rPr lang="en-GB" b="1" dirty="0">
                <a:effectLst/>
              </a:rPr>
              <a:t>Use of Precision, Recall, and F1 Score</a:t>
            </a:r>
            <a:endParaRPr lang="en-GB" b="1" dirty="0"/>
          </a:p>
          <a:p>
            <a:pPr marL="0" indent="0">
              <a:buNone/>
            </a:pPr>
            <a:r>
              <a:rPr lang="en-GB" dirty="0">
                <a:effectLst/>
              </a:rPr>
              <a:t>Evaluation focused on precision, recall, and F1-score to balance identifying positive cases with minimizing false alarms in classification.</a:t>
            </a:r>
          </a:p>
          <a:p>
            <a:pPr marL="0" indent="0">
              <a:buNone/>
            </a:pPr>
            <a:endParaRPr lang="en-GB" dirty="0"/>
          </a:p>
          <a:p>
            <a:pPr marL="0" indent="0">
              <a:buNone/>
            </a:pPr>
            <a:r>
              <a:rPr lang="en-GB" b="1" dirty="0">
                <a:effectLst/>
              </a:rPr>
              <a:t>PR-AUC as Primary Metric</a:t>
            </a:r>
            <a:endParaRPr lang="en-GB" b="1" dirty="0"/>
          </a:p>
          <a:p>
            <a:pPr marL="0" indent="0">
              <a:buNone/>
            </a:pPr>
            <a:r>
              <a:rPr lang="en-GB" dirty="0">
                <a:effectLst/>
              </a:rPr>
              <a:t>PR-AUC was chosen for its suitability in ranking positive cases above negatives, with baseline reflecting positive class prevalence</a:t>
            </a:r>
            <a:endParaRPr lang="en-GB" dirty="0"/>
          </a:p>
          <a:p>
            <a:endParaRPr lang="en-GB" dirty="0"/>
          </a:p>
        </p:txBody>
      </p:sp>
      <p:pic>
        <p:nvPicPr>
          <p:cNvPr id="2050" name="Picture 2">
            <a:extLst>
              <a:ext uri="{FF2B5EF4-FFF2-40B4-BE49-F238E27FC236}">
                <a16:creationId xmlns:a16="http://schemas.microsoft.com/office/drawing/2014/main" id="{A88E055D-C746-72F9-17D3-4F557128A1A9}"/>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1062037" y="2291556"/>
            <a:ext cx="4733925" cy="3419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3901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06705-2E85-46A9-DF08-E1CC44F0CA5E}"/>
              </a:ext>
            </a:extLst>
          </p:cNvPr>
          <p:cNvSpPr>
            <a:spLocks noGrp="1"/>
          </p:cNvSpPr>
          <p:nvPr>
            <p:ph type="title"/>
          </p:nvPr>
        </p:nvSpPr>
        <p:spPr/>
        <p:txBody>
          <a:bodyPr/>
          <a:lstStyle/>
          <a:p>
            <a:r>
              <a:rPr lang="en-GB" dirty="0"/>
              <a:t>Final Outcome and Threshold Evaluation</a:t>
            </a:r>
          </a:p>
        </p:txBody>
      </p:sp>
      <p:sp>
        <p:nvSpPr>
          <p:cNvPr id="4" name="Content Placeholder 3">
            <a:extLst>
              <a:ext uri="{FF2B5EF4-FFF2-40B4-BE49-F238E27FC236}">
                <a16:creationId xmlns:a16="http://schemas.microsoft.com/office/drawing/2014/main" id="{C4E1604E-29CF-A0F4-8E4E-93DABAF26170}"/>
              </a:ext>
            </a:extLst>
          </p:cNvPr>
          <p:cNvSpPr>
            <a:spLocks noGrp="1"/>
          </p:cNvSpPr>
          <p:nvPr>
            <p:ph sz="half" idx="2"/>
          </p:nvPr>
        </p:nvSpPr>
        <p:spPr/>
        <p:txBody>
          <a:bodyPr>
            <a:normAutofit fontScale="55000" lnSpcReduction="20000"/>
          </a:bodyPr>
          <a:lstStyle/>
          <a:p>
            <a:pPr marL="0" indent="0">
              <a:buNone/>
            </a:pPr>
            <a:r>
              <a:rPr lang="en-GB" b="1" dirty="0">
                <a:effectLst/>
              </a:rPr>
              <a:t>Threshold Evaluation</a:t>
            </a:r>
            <a:endParaRPr lang="en-GB" b="1" dirty="0"/>
          </a:p>
          <a:p>
            <a:pPr marL="0" indent="0">
              <a:buNone/>
            </a:pPr>
            <a:r>
              <a:rPr lang="en-GB" dirty="0">
                <a:effectLst/>
              </a:rPr>
              <a:t>Multiple thresholds were evaluated to balance recall and precision in logistic regression outputs.</a:t>
            </a:r>
          </a:p>
          <a:p>
            <a:pPr marL="0" indent="0">
              <a:buNone/>
            </a:pPr>
            <a:endParaRPr lang="en-GB" dirty="0"/>
          </a:p>
          <a:p>
            <a:pPr marL="0" indent="0">
              <a:buNone/>
            </a:pPr>
            <a:r>
              <a:rPr lang="en-GB" b="1" dirty="0">
                <a:effectLst/>
              </a:rPr>
              <a:t>Selected Threshold Rationale</a:t>
            </a:r>
            <a:endParaRPr lang="en-GB" b="1" dirty="0"/>
          </a:p>
          <a:p>
            <a:pPr marL="0" indent="0">
              <a:buNone/>
            </a:pPr>
            <a:r>
              <a:rPr lang="en-GB" dirty="0">
                <a:effectLst/>
              </a:rPr>
              <a:t>Threshold 0.5 was chosen as the operational point, balancing recall of 64% with precision of 19%.</a:t>
            </a:r>
          </a:p>
          <a:p>
            <a:pPr marL="0" indent="0">
              <a:buNone/>
            </a:pPr>
            <a:endParaRPr lang="en-GB" dirty="0"/>
          </a:p>
          <a:p>
            <a:pPr marL="0" indent="0">
              <a:buNone/>
            </a:pPr>
            <a:r>
              <a:rPr lang="en-GB" b="1" dirty="0">
                <a:effectLst/>
              </a:rPr>
              <a:t>Model Effectiveness</a:t>
            </a:r>
            <a:endParaRPr lang="en-GB" b="1" dirty="0"/>
          </a:p>
          <a:p>
            <a:pPr marL="0" indent="0">
              <a:buNone/>
            </a:pPr>
            <a:r>
              <a:rPr lang="en-GB" dirty="0">
                <a:effectLst/>
              </a:rPr>
              <a:t>The model's PR-AUC exceeded baseline prevalence, confirming meaningful symptom data signal capture.</a:t>
            </a:r>
          </a:p>
          <a:p>
            <a:pPr marL="0" indent="0">
              <a:buNone/>
            </a:pPr>
            <a:endParaRPr lang="en-GB" dirty="0"/>
          </a:p>
          <a:p>
            <a:pPr marL="0" indent="0">
              <a:buNone/>
            </a:pPr>
            <a:r>
              <a:rPr lang="en-GB" b="1" dirty="0">
                <a:effectLst/>
              </a:rPr>
              <a:t>Visual Decision Support</a:t>
            </a:r>
            <a:endParaRPr lang="en-GB" b="1" dirty="0"/>
          </a:p>
          <a:p>
            <a:pPr marL="0" indent="0">
              <a:buNone/>
            </a:pPr>
            <a:r>
              <a:rPr lang="en-GB" dirty="0">
                <a:effectLst/>
              </a:rPr>
              <a:t>Precision, recall, and F1-score are plotted to clarify the threshold selection to stakeholders.</a:t>
            </a:r>
            <a:endParaRPr lang="en-GB" dirty="0"/>
          </a:p>
          <a:p>
            <a:endParaRPr lang="en-GB" dirty="0"/>
          </a:p>
        </p:txBody>
      </p:sp>
      <p:pic>
        <p:nvPicPr>
          <p:cNvPr id="1026" name="Picture 2">
            <a:extLst>
              <a:ext uri="{FF2B5EF4-FFF2-40B4-BE49-F238E27FC236}">
                <a16:creationId xmlns:a16="http://schemas.microsoft.com/office/drawing/2014/main" id="{1E1830CC-151A-54FA-ED03-FCE6EAA3A895}"/>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1081087" y="2339181"/>
            <a:ext cx="4695825" cy="3324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47049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5F80A-F932-BA94-817F-7449734B705B}"/>
            </a:ext>
          </a:extLst>
        </p:cNvPr>
        <p:cNvGrpSpPr/>
        <p:nvPr/>
      </p:nvGrpSpPr>
      <p:grpSpPr>
        <a:xfrm>
          <a:off x="0" y="0"/>
          <a:ext cx="0" cy="0"/>
          <a:chOff x="0" y="0"/>
          <a:chExt cx="0" cy="0"/>
        </a:xfrm>
      </p:grpSpPr>
      <p:sp>
        <p:nvSpPr>
          <p:cNvPr id="13" name="Shape 23">
            <a:extLst>
              <a:ext uri="{FF2B5EF4-FFF2-40B4-BE49-F238E27FC236}">
                <a16:creationId xmlns:a16="http://schemas.microsoft.com/office/drawing/2014/main" id="{3EF4E259-9AF9-9337-639D-5A6A85BEEF03}"/>
              </a:ext>
            </a:extLst>
          </p:cNvPr>
          <p:cNvSpPr/>
          <p:nvPr/>
        </p:nvSpPr>
        <p:spPr>
          <a:xfrm>
            <a:off x="4413504" y="1870140"/>
            <a:ext cx="3474720" cy="224536"/>
          </a:xfrm>
          <a:prstGeom prst="snip2DiagRect">
            <a:avLst>
              <a:gd name="adj1" fmla="val 45249"/>
              <a:gd name="adj2" fmla="val 16667"/>
            </a:avLst>
          </a:prstGeom>
          <a:solidFill>
            <a:srgbClr val="66686A"/>
          </a:solidFill>
          <a:ln w="3810">
            <a:noFill/>
            <a:prstDash val="solid"/>
          </a:ln>
        </p:spPr>
        <p:txBody>
          <a:bodyPr/>
          <a:lstStyle/>
          <a:p>
            <a:endParaRPr lang="en-GB" sz="2400" dirty="0"/>
          </a:p>
        </p:txBody>
      </p:sp>
      <p:sp>
        <p:nvSpPr>
          <p:cNvPr id="14" name="Shape 23">
            <a:extLst>
              <a:ext uri="{FF2B5EF4-FFF2-40B4-BE49-F238E27FC236}">
                <a16:creationId xmlns:a16="http://schemas.microsoft.com/office/drawing/2014/main" id="{F2023888-A584-73E2-9AFC-AD5145FE4169}"/>
              </a:ext>
            </a:extLst>
          </p:cNvPr>
          <p:cNvSpPr/>
          <p:nvPr/>
        </p:nvSpPr>
        <p:spPr>
          <a:xfrm>
            <a:off x="4413504" y="2167828"/>
            <a:ext cx="3474720" cy="224536"/>
          </a:xfrm>
          <a:prstGeom prst="snip2DiagRect">
            <a:avLst>
              <a:gd name="adj1" fmla="val 45249"/>
              <a:gd name="adj2" fmla="val 16667"/>
            </a:avLst>
          </a:prstGeom>
          <a:solidFill>
            <a:srgbClr val="66686A"/>
          </a:solidFill>
          <a:ln w="3810">
            <a:noFill/>
            <a:prstDash val="solid"/>
          </a:ln>
        </p:spPr>
        <p:txBody>
          <a:bodyPr/>
          <a:lstStyle/>
          <a:p>
            <a:endParaRPr lang="en-GB" sz="2400" dirty="0"/>
          </a:p>
        </p:txBody>
      </p:sp>
      <p:sp>
        <p:nvSpPr>
          <p:cNvPr id="15" name="Shape 23">
            <a:extLst>
              <a:ext uri="{FF2B5EF4-FFF2-40B4-BE49-F238E27FC236}">
                <a16:creationId xmlns:a16="http://schemas.microsoft.com/office/drawing/2014/main" id="{481D175A-9192-6C6C-897E-0B30C32497BD}"/>
              </a:ext>
            </a:extLst>
          </p:cNvPr>
          <p:cNvSpPr/>
          <p:nvPr/>
        </p:nvSpPr>
        <p:spPr>
          <a:xfrm>
            <a:off x="4413504" y="2479211"/>
            <a:ext cx="3474720" cy="224536"/>
          </a:xfrm>
          <a:prstGeom prst="snip2DiagRect">
            <a:avLst>
              <a:gd name="adj1" fmla="val 45249"/>
              <a:gd name="adj2" fmla="val 16667"/>
            </a:avLst>
          </a:prstGeom>
          <a:solidFill>
            <a:srgbClr val="66686A"/>
          </a:solidFill>
          <a:ln w="3810">
            <a:noFill/>
            <a:prstDash val="solid"/>
          </a:ln>
        </p:spPr>
        <p:txBody>
          <a:bodyPr/>
          <a:lstStyle/>
          <a:p>
            <a:endParaRPr lang="en-GB" sz="2400" dirty="0"/>
          </a:p>
        </p:txBody>
      </p:sp>
      <p:sp>
        <p:nvSpPr>
          <p:cNvPr id="16" name="Shape 23">
            <a:extLst>
              <a:ext uri="{FF2B5EF4-FFF2-40B4-BE49-F238E27FC236}">
                <a16:creationId xmlns:a16="http://schemas.microsoft.com/office/drawing/2014/main" id="{6FD7B75E-4E64-6D5E-D9A7-D6AB5A44CCAB}"/>
              </a:ext>
            </a:extLst>
          </p:cNvPr>
          <p:cNvSpPr/>
          <p:nvPr/>
        </p:nvSpPr>
        <p:spPr>
          <a:xfrm>
            <a:off x="4413504" y="2760809"/>
            <a:ext cx="3474720" cy="224536"/>
          </a:xfrm>
          <a:prstGeom prst="snip2DiagRect">
            <a:avLst>
              <a:gd name="adj1" fmla="val 45249"/>
              <a:gd name="adj2" fmla="val 16667"/>
            </a:avLst>
          </a:prstGeom>
          <a:solidFill>
            <a:srgbClr val="66686A"/>
          </a:solidFill>
          <a:ln w="3810">
            <a:noFill/>
            <a:prstDash val="solid"/>
          </a:ln>
        </p:spPr>
        <p:txBody>
          <a:bodyPr/>
          <a:lstStyle/>
          <a:p>
            <a:endParaRPr lang="en-GB" sz="2400" dirty="0"/>
          </a:p>
        </p:txBody>
      </p:sp>
      <p:sp>
        <p:nvSpPr>
          <p:cNvPr id="17" name="Shape 23">
            <a:extLst>
              <a:ext uri="{FF2B5EF4-FFF2-40B4-BE49-F238E27FC236}">
                <a16:creationId xmlns:a16="http://schemas.microsoft.com/office/drawing/2014/main" id="{B962BC18-9124-EA33-2EF8-22E5C37A4CDF}"/>
              </a:ext>
            </a:extLst>
          </p:cNvPr>
          <p:cNvSpPr/>
          <p:nvPr/>
        </p:nvSpPr>
        <p:spPr>
          <a:xfrm>
            <a:off x="4413504" y="3072045"/>
            <a:ext cx="3474720" cy="224536"/>
          </a:xfrm>
          <a:prstGeom prst="snip2DiagRect">
            <a:avLst>
              <a:gd name="adj1" fmla="val 45249"/>
              <a:gd name="adj2" fmla="val 16667"/>
            </a:avLst>
          </a:prstGeom>
          <a:solidFill>
            <a:srgbClr val="66686A"/>
          </a:solidFill>
          <a:ln w="3810">
            <a:noFill/>
            <a:prstDash val="solid"/>
          </a:ln>
        </p:spPr>
        <p:txBody>
          <a:bodyPr/>
          <a:lstStyle/>
          <a:p>
            <a:endParaRPr lang="en-GB" sz="2400" dirty="0"/>
          </a:p>
        </p:txBody>
      </p:sp>
      <p:sp>
        <p:nvSpPr>
          <p:cNvPr id="18" name="Shape 23">
            <a:extLst>
              <a:ext uri="{FF2B5EF4-FFF2-40B4-BE49-F238E27FC236}">
                <a16:creationId xmlns:a16="http://schemas.microsoft.com/office/drawing/2014/main" id="{99C31C12-452C-939E-EAB8-23DD5B5F8F61}"/>
              </a:ext>
            </a:extLst>
          </p:cNvPr>
          <p:cNvSpPr/>
          <p:nvPr/>
        </p:nvSpPr>
        <p:spPr>
          <a:xfrm>
            <a:off x="4413504" y="3380911"/>
            <a:ext cx="3474720" cy="224536"/>
          </a:xfrm>
          <a:prstGeom prst="snip2DiagRect">
            <a:avLst>
              <a:gd name="adj1" fmla="val 45249"/>
              <a:gd name="adj2" fmla="val 16667"/>
            </a:avLst>
          </a:prstGeom>
          <a:solidFill>
            <a:srgbClr val="66686A"/>
          </a:solidFill>
          <a:ln w="3810">
            <a:noFill/>
            <a:prstDash val="solid"/>
          </a:ln>
        </p:spPr>
        <p:txBody>
          <a:bodyPr/>
          <a:lstStyle/>
          <a:p>
            <a:endParaRPr lang="en-GB" sz="2400" dirty="0"/>
          </a:p>
        </p:txBody>
      </p:sp>
      <p:sp>
        <p:nvSpPr>
          <p:cNvPr id="19" name="Shape 23">
            <a:extLst>
              <a:ext uri="{FF2B5EF4-FFF2-40B4-BE49-F238E27FC236}">
                <a16:creationId xmlns:a16="http://schemas.microsoft.com/office/drawing/2014/main" id="{5A434B5A-AAE3-8DED-BD40-358DC31485BC}"/>
              </a:ext>
            </a:extLst>
          </p:cNvPr>
          <p:cNvSpPr/>
          <p:nvPr/>
        </p:nvSpPr>
        <p:spPr>
          <a:xfrm>
            <a:off x="4413504" y="3667252"/>
            <a:ext cx="3474720" cy="224536"/>
          </a:xfrm>
          <a:prstGeom prst="snip2DiagRect">
            <a:avLst>
              <a:gd name="adj1" fmla="val 45249"/>
              <a:gd name="adj2" fmla="val 16667"/>
            </a:avLst>
          </a:prstGeom>
          <a:solidFill>
            <a:srgbClr val="66686A"/>
          </a:solidFill>
          <a:ln w="3810">
            <a:noFill/>
            <a:prstDash val="solid"/>
          </a:ln>
        </p:spPr>
        <p:txBody>
          <a:bodyPr/>
          <a:lstStyle/>
          <a:p>
            <a:endParaRPr lang="en-GB" sz="2400" dirty="0"/>
          </a:p>
        </p:txBody>
      </p:sp>
      <p:sp>
        <p:nvSpPr>
          <p:cNvPr id="12" name="Shape 23">
            <a:extLst>
              <a:ext uri="{FF2B5EF4-FFF2-40B4-BE49-F238E27FC236}">
                <a16:creationId xmlns:a16="http://schemas.microsoft.com/office/drawing/2014/main" id="{078747CE-CB69-8223-1086-2A188F5CC4E5}"/>
              </a:ext>
            </a:extLst>
          </p:cNvPr>
          <p:cNvSpPr/>
          <p:nvPr/>
        </p:nvSpPr>
        <p:spPr>
          <a:xfrm>
            <a:off x="4413504" y="1577848"/>
            <a:ext cx="3474720" cy="224536"/>
          </a:xfrm>
          <a:prstGeom prst="snip2DiagRect">
            <a:avLst>
              <a:gd name="adj1" fmla="val 45249"/>
              <a:gd name="adj2" fmla="val 16667"/>
            </a:avLst>
          </a:prstGeom>
          <a:solidFill>
            <a:srgbClr val="66686A"/>
          </a:solidFill>
          <a:ln w="3810">
            <a:noFill/>
            <a:prstDash val="solid"/>
          </a:ln>
        </p:spPr>
        <p:txBody>
          <a:bodyPr/>
          <a:lstStyle/>
          <a:p>
            <a:endParaRPr lang="en-GB" sz="2400" dirty="0"/>
          </a:p>
        </p:txBody>
      </p:sp>
      <p:sp>
        <p:nvSpPr>
          <p:cNvPr id="2" name="Shape 0">
            <a:extLst>
              <a:ext uri="{FF2B5EF4-FFF2-40B4-BE49-F238E27FC236}">
                <a16:creationId xmlns:a16="http://schemas.microsoft.com/office/drawing/2014/main" id="{0697C9E9-8385-EA2E-8D0F-686C1027A63E}"/>
              </a:ext>
            </a:extLst>
          </p:cNvPr>
          <p:cNvSpPr/>
          <p:nvPr/>
        </p:nvSpPr>
        <p:spPr>
          <a:xfrm>
            <a:off x="0" y="-24383"/>
            <a:ext cx="12192000" cy="675977"/>
          </a:xfrm>
          <a:prstGeom prst="rect">
            <a:avLst/>
          </a:prstGeom>
          <a:solidFill>
            <a:srgbClr val="161B22"/>
          </a:solidFill>
          <a:ln w="6350">
            <a:solidFill>
              <a:srgbClr val="21262D"/>
            </a:solidFill>
            <a:prstDash val="solid"/>
          </a:ln>
        </p:spPr>
        <p:txBody>
          <a:bodyPr/>
          <a:lstStyle/>
          <a:p>
            <a:endParaRPr lang="en-GB" sz="2400"/>
          </a:p>
        </p:txBody>
      </p:sp>
      <p:sp>
        <p:nvSpPr>
          <p:cNvPr id="3" name="Text 1">
            <a:extLst>
              <a:ext uri="{FF2B5EF4-FFF2-40B4-BE49-F238E27FC236}">
                <a16:creationId xmlns:a16="http://schemas.microsoft.com/office/drawing/2014/main" id="{55C90D68-264E-9953-BEB8-06399DCBFC65}"/>
              </a:ext>
            </a:extLst>
          </p:cNvPr>
          <p:cNvSpPr/>
          <p:nvPr/>
        </p:nvSpPr>
        <p:spPr>
          <a:xfrm>
            <a:off x="390143" y="1"/>
            <a:ext cx="5127863" cy="636700"/>
          </a:xfrm>
          <a:prstGeom prst="rect">
            <a:avLst/>
          </a:prstGeom>
          <a:noFill/>
          <a:ln/>
        </p:spPr>
        <p:txBody>
          <a:bodyPr wrap="square" lIns="0" tIns="0" rIns="0" bIns="0" rtlCol="0" anchor="ctr"/>
          <a:lstStyle/>
          <a:p>
            <a:r>
              <a:rPr lang="en-US" sz="2667" b="1" dirty="0">
                <a:solidFill>
                  <a:srgbClr val="E8ECF4"/>
                </a:solidFill>
                <a:latin typeface="Calibri" pitchFamily="34" charset="0"/>
                <a:ea typeface="Calibri" pitchFamily="34" charset="-122"/>
                <a:cs typeface="Calibri" pitchFamily="34" charset="-120"/>
              </a:rPr>
              <a:t>Model: Random Forest Classifier</a:t>
            </a:r>
            <a:endParaRPr lang="en-US" sz="2667" dirty="0"/>
          </a:p>
        </p:txBody>
      </p:sp>
      <p:sp>
        <p:nvSpPr>
          <p:cNvPr id="4" name="Text 2">
            <a:extLst>
              <a:ext uri="{FF2B5EF4-FFF2-40B4-BE49-F238E27FC236}">
                <a16:creationId xmlns:a16="http://schemas.microsoft.com/office/drawing/2014/main" id="{96A261BC-52F7-31E1-EFCC-FAC6481379BE}"/>
              </a:ext>
            </a:extLst>
          </p:cNvPr>
          <p:cNvSpPr/>
          <p:nvPr/>
        </p:nvSpPr>
        <p:spPr>
          <a:xfrm>
            <a:off x="4267200" y="1"/>
            <a:ext cx="7559040" cy="651593"/>
          </a:xfrm>
          <a:prstGeom prst="rect">
            <a:avLst/>
          </a:prstGeom>
          <a:noFill/>
          <a:ln/>
        </p:spPr>
        <p:txBody>
          <a:bodyPr wrap="square" lIns="0" tIns="0" rIns="0" bIns="0" rtlCol="0" anchor="ctr"/>
          <a:lstStyle/>
          <a:p>
            <a:pPr algn="r"/>
            <a:r>
              <a:rPr lang="en-US" sz="1467" dirty="0">
                <a:solidFill>
                  <a:srgbClr val="8892A4"/>
                </a:solidFill>
                <a:latin typeface="Calibri" pitchFamily="34" charset="0"/>
                <a:ea typeface="Calibri" pitchFamily="34" charset="-122"/>
                <a:cs typeface="Calibri" pitchFamily="34" charset="-120"/>
              </a:rPr>
              <a:t>COVID-19 Diagnosis Prediction  | L7 Hackathon</a:t>
            </a:r>
            <a:endParaRPr lang="en-US" sz="1467" dirty="0"/>
          </a:p>
        </p:txBody>
      </p:sp>
      <p:sp>
        <p:nvSpPr>
          <p:cNvPr id="5" name="Text 3">
            <a:extLst>
              <a:ext uri="{FF2B5EF4-FFF2-40B4-BE49-F238E27FC236}">
                <a16:creationId xmlns:a16="http://schemas.microsoft.com/office/drawing/2014/main" id="{DBB631BD-FD11-4F9F-07BA-EAFA908EEA1B}"/>
              </a:ext>
            </a:extLst>
          </p:cNvPr>
          <p:cNvSpPr/>
          <p:nvPr/>
        </p:nvSpPr>
        <p:spPr>
          <a:xfrm>
            <a:off x="341376" y="679196"/>
            <a:ext cx="3535680" cy="268224"/>
          </a:xfrm>
          <a:prstGeom prst="rect">
            <a:avLst/>
          </a:prstGeom>
          <a:noFill/>
          <a:ln/>
        </p:spPr>
        <p:txBody>
          <a:bodyPr wrap="square" rtlCol="0" anchor="ctr"/>
          <a:lstStyle/>
          <a:p>
            <a:r>
              <a:rPr lang="en-US" sz="1000" b="1" kern="0" spc="267" dirty="0">
                <a:solidFill>
                  <a:srgbClr val="CC3232"/>
                </a:solidFill>
                <a:latin typeface="Calibri" pitchFamily="34" charset="0"/>
                <a:ea typeface="Calibri" pitchFamily="34" charset="-122"/>
                <a:cs typeface="Calibri" pitchFamily="34" charset="-120"/>
              </a:rPr>
              <a:t>PERFORMANCE METRICS</a:t>
            </a:r>
            <a:endParaRPr lang="en-US" sz="1000" b="1" dirty="0">
              <a:solidFill>
                <a:srgbClr val="CC3232"/>
              </a:solidFill>
            </a:endParaRPr>
          </a:p>
        </p:txBody>
      </p:sp>
      <p:sp>
        <p:nvSpPr>
          <p:cNvPr id="6" name="Shape 4">
            <a:extLst>
              <a:ext uri="{FF2B5EF4-FFF2-40B4-BE49-F238E27FC236}">
                <a16:creationId xmlns:a16="http://schemas.microsoft.com/office/drawing/2014/main" id="{A370294C-236F-1000-FFA3-9129AE9C633E}"/>
              </a:ext>
            </a:extLst>
          </p:cNvPr>
          <p:cNvSpPr/>
          <p:nvPr/>
        </p:nvSpPr>
        <p:spPr>
          <a:xfrm>
            <a:off x="329184" y="1005100"/>
            <a:ext cx="3560064" cy="1108296"/>
          </a:xfrm>
          <a:prstGeom prst="roundRect">
            <a:avLst/>
          </a:prstGeom>
          <a:solidFill>
            <a:srgbClr val="161B22"/>
          </a:solidFill>
          <a:ln w="12700">
            <a:solidFill>
              <a:srgbClr val="161B22"/>
            </a:solidFill>
            <a:prstDash val="solid"/>
          </a:ln>
        </p:spPr>
        <p:txBody>
          <a:bodyPr/>
          <a:lstStyle/>
          <a:p>
            <a:endParaRPr lang="en-GB" sz="2400"/>
          </a:p>
        </p:txBody>
      </p:sp>
      <p:sp>
        <p:nvSpPr>
          <p:cNvPr id="7" name="Text 5">
            <a:extLst>
              <a:ext uri="{FF2B5EF4-FFF2-40B4-BE49-F238E27FC236}">
                <a16:creationId xmlns:a16="http://schemas.microsoft.com/office/drawing/2014/main" id="{1E6B4381-4601-154A-2EDC-B2FE698A0C04}"/>
              </a:ext>
            </a:extLst>
          </p:cNvPr>
          <p:cNvSpPr/>
          <p:nvPr/>
        </p:nvSpPr>
        <p:spPr>
          <a:xfrm>
            <a:off x="341376" y="1080068"/>
            <a:ext cx="3535680" cy="702680"/>
          </a:xfrm>
          <a:prstGeom prst="rect">
            <a:avLst/>
          </a:prstGeom>
          <a:noFill/>
          <a:ln/>
        </p:spPr>
        <p:txBody>
          <a:bodyPr wrap="square" rtlCol="0" anchor="ctr"/>
          <a:lstStyle/>
          <a:p>
            <a:pPr algn="ctr"/>
            <a:r>
              <a:rPr lang="en-US" sz="5067" b="1" dirty="0">
                <a:solidFill>
                  <a:srgbClr val="4F8EF7"/>
                </a:solidFill>
                <a:latin typeface="Calibri" pitchFamily="34" charset="0"/>
                <a:ea typeface="Calibri" pitchFamily="34" charset="-122"/>
                <a:cs typeface="Calibri" pitchFamily="34" charset="-120"/>
              </a:rPr>
              <a:t>0.9102</a:t>
            </a:r>
            <a:endParaRPr lang="en-US" sz="5067" dirty="0"/>
          </a:p>
        </p:txBody>
      </p:sp>
      <p:sp>
        <p:nvSpPr>
          <p:cNvPr id="8" name="Text 6">
            <a:extLst>
              <a:ext uri="{FF2B5EF4-FFF2-40B4-BE49-F238E27FC236}">
                <a16:creationId xmlns:a16="http://schemas.microsoft.com/office/drawing/2014/main" id="{02EAD47F-7BC1-49F4-17CC-767DFAFDD5C5}"/>
              </a:ext>
            </a:extLst>
          </p:cNvPr>
          <p:cNvSpPr/>
          <p:nvPr/>
        </p:nvSpPr>
        <p:spPr>
          <a:xfrm>
            <a:off x="341376" y="1705140"/>
            <a:ext cx="3535680" cy="365760"/>
          </a:xfrm>
          <a:prstGeom prst="rect">
            <a:avLst/>
          </a:prstGeom>
          <a:noFill/>
          <a:ln/>
        </p:spPr>
        <p:txBody>
          <a:bodyPr wrap="square" rtlCol="0" anchor="ctr"/>
          <a:lstStyle/>
          <a:p>
            <a:pPr algn="ctr"/>
            <a:r>
              <a:rPr lang="en-US" sz="1200" dirty="0">
                <a:solidFill>
                  <a:srgbClr val="8892A4"/>
                </a:solidFill>
                <a:latin typeface="Calibri" pitchFamily="34" charset="0"/>
                <a:ea typeface="Calibri" pitchFamily="34" charset="-122"/>
                <a:cs typeface="Calibri" pitchFamily="34" charset="-120"/>
              </a:rPr>
              <a:t>ROC-AUC  | 55k Test Set | 0.25 Decision Threshold</a:t>
            </a:r>
            <a:endParaRPr lang="en-US" sz="1200" dirty="0"/>
          </a:p>
        </p:txBody>
      </p:sp>
      <p:sp>
        <p:nvSpPr>
          <p:cNvPr id="9" name="Shape 7">
            <a:extLst>
              <a:ext uri="{FF2B5EF4-FFF2-40B4-BE49-F238E27FC236}">
                <a16:creationId xmlns:a16="http://schemas.microsoft.com/office/drawing/2014/main" id="{B8EA2632-4B9F-CA85-48AB-9E878F94F1DA}"/>
              </a:ext>
            </a:extLst>
          </p:cNvPr>
          <p:cNvSpPr/>
          <p:nvPr/>
        </p:nvSpPr>
        <p:spPr>
          <a:xfrm>
            <a:off x="341376" y="2238927"/>
            <a:ext cx="827024" cy="514173"/>
          </a:xfrm>
          <a:prstGeom prst="roundRect">
            <a:avLst/>
          </a:prstGeom>
          <a:solidFill>
            <a:srgbClr val="42464D">
              <a:alpha val="90000"/>
            </a:srgbClr>
          </a:solidFill>
          <a:ln w="6350">
            <a:noFill/>
            <a:prstDash val="solid"/>
          </a:ln>
        </p:spPr>
        <p:txBody>
          <a:bodyPr/>
          <a:lstStyle/>
          <a:p>
            <a:endParaRPr lang="en-GB" sz="2400"/>
          </a:p>
        </p:txBody>
      </p:sp>
      <p:sp>
        <p:nvSpPr>
          <p:cNvPr id="10" name="Text 8">
            <a:extLst>
              <a:ext uri="{FF2B5EF4-FFF2-40B4-BE49-F238E27FC236}">
                <a16:creationId xmlns:a16="http://schemas.microsoft.com/office/drawing/2014/main" id="{DD2AFA8C-85DA-5EF9-0B83-70927DFCAA7E}"/>
              </a:ext>
            </a:extLst>
          </p:cNvPr>
          <p:cNvSpPr/>
          <p:nvPr/>
        </p:nvSpPr>
        <p:spPr>
          <a:xfrm>
            <a:off x="341376" y="2209668"/>
            <a:ext cx="827024" cy="438912"/>
          </a:xfrm>
          <a:prstGeom prst="rect">
            <a:avLst/>
          </a:prstGeom>
          <a:noFill/>
          <a:ln/>
        </p:spPr>
        <p:txBody>
          <a:bodyPr wrap="square" rtlCol="0" anchor="ctr"/>
          <a:lstStyle/>
          <a:p>
            <a:pPr algn="ctr"/>
            <a:r>
              <a:rPr lang="en-US" sz="1867" b="1" dirty="0">
                <a:solidFill>
                  <a:schemeClr val="bg1"/>
                </a:solidFill>
                <a:latin typeface="Calibri" pitchFamily="34" charset="0"/>
                <a:ea typeface="Calibri" pitchFamily="34" charset="-122"/>
                <a:cs typeface="Calibri" pitchFamily="34" charset="-120"/>
              </a:rPr>
              <a:t>0.680</a:t>
            </a:r>
            <a:endParaRPr lang="en-US" sz="1867" dirty="0">
              <a:solidFill>
                <a:schemeClr val="bg1"/>
              </a:solidFill>
            </a:endParaRPr>
          </a:p>
        </p:txBody>
      </p:sp>
      <p:sp>
        <p:nvSpPr>
          <p:cNvPr id="11" name="Text 9">
            <a:extLst>
              <a:ext uri="{FF2B5EF4-FFF2-40B4-BE49-F238E27FC236}">
                <a16:creationId xmlns:a16="http://schemas.microsoft.com/office/drawing/2014/main" id="{734A54EC-6FCA-1F91-8761-0B883692C3C7}"/>
              </a:ext>
            </a:extLst>
          </p:cNvPr>
          <p:cNvSpPr/>
          <p:nvPr/>
        </p:nvSpPr>
        <p:spPr>
          <a:xfrm>
            <a:off x="341376" y="2507577"/>
            <a:ext cx="827024" cy="268224"/>
          </a:xfrm>
          <a:prstGeom prst="rect">
            <a:avLst/>
          </a:prstGeom>
          <a:noFill/>
          <a:ln/>
        </p:spPr>
        <p:txBody>
          <a:bodyPr wrap="square" rtlCol="0" anchor="ctr"/>
          <a:lstStyle/>
          <a:p>
            <a:pPr algn="ctr"/>
            <a:r>
              <a:rPr lang="en-US" sz="1133" dirty="0">
                <a:solidFill>
                  <a:schemeClr val="bg1"/>
                </a:solidFill>
                <a:latin typeface="Calibri" pitchFamily="34" charset="0"/>
                <a:ea typeface="Calibri" pitchFamily="34" charset="-122"/>
                <a:cs typeface="Calibri" pitchFamily="34" charset="-120"/>
              </a:rPr>
              <a:t>PR-AUC</a:t>
            </a:r>
            <a:endParaRPr lang="en-US" sz="1133" dirty="0">
              <a:solidFill>
                <a:schemeClr val="bg1"/>
              </a:solidFill>
            </a:endParaRPr>
          </a:p>
        </p:txBody>
      </p:sp>
      <p:sp>
        <p:nvSpPr>
          <p:cNvPr id="22" name="Text 20">
            <a:extLst>
              <a:ext uri="{FF2B5EF4-FFF2-40B4-BE49-F238E27FC236}">
                <a16:creationId xmlns:a16="http://schemas.microsoft.com/office/drawing/2014/main" id="{A3768AF1-6D75-76AC-9C8C-0A6D1BE912F3}"/>
              </a:ext>
            </a:extLst>
          </p:cNvPr>
          <p:cNvSpPr/>
          <p:nvPr/>
        </p:nvSpPr>
        <p:spPr>
          <a:xfrm>
            <a:off x="341376" y="2846933"/>
            <a:ext cx="3535680" cy="268224"/>
          </a:xfrm>
          <a:prstGeom prst="rect">
            <a:avLst/>
          </a:prstGeom>
          <a:noFill/>
          <a:ln/>
        </p:spPr>
        <p:txBody>
          <a:bodyPr wrap="square" rtlCol="0" anchor="ctr"/>
          <a:lstStyle/>
          <a:p>
            <a:r>
              <a:rPr lang="en-US" sz="1000" b="1" kern="0" spc="267" dirty="0">
                <a:solidFill>
                  <a:srgbClr val="CC3232"/>
                </a:solidFill>
                <a:latin typeface="Calibri" pitchFamily="34" charset="0"/>
                <a:ea typeface="Calibri" pitchFamily="34" charset="-122"/>
                <a:cs typeface="Calibri" pitchFamily="34" charset="-120"/>
              </a:rPr>
              <a:t>CONFUSION MATRIX</a:t>
            </a:r>
            <a:endParaRPr lang="en-US" sz="1000" dirty="0">
              <a:solidFill>
                <a:srgbClr val="CC3232"/>
              </a:solidFill>
            </a:endParaRPr>
          </a:p>
        </p:txBody>
      </p:sp>
      <p:graphicFrame>
        <p:nvGraphicFramePr>
          <p:cNvPr id="23" name="Table 0">
            <a:extLst>
              <a:ext uri="{FF2B5EF4-FFF2-40B4-BE49-F238E27FC236}">
                <a16:creationId xmlns:a16="http://schemas.microsoft.com/office/drawing/2014/main" id="{2D3607D8-A7CF-BBDE-1293-08135C220D62}"/>
              </a:ext>
            </a:extLst>
          </p:cNvPr>
          <p:cNvGraphicFramePr>
            <a:graphicFrameLocks noGrp="1"/>
          </p:cNvGraphicFramePr>
          <p:nvPr/>
        </p:nvGraphicFramePr>
        <p:xfrm>
          <a:off x="341376" y="3139541"/>
          <a:ext cx="3535680" cy="1178560"/>
        </p:xfrm>
        <a:graphic>
          <a:graphicData uri="http://schemas.openxmlformats.org/drawingml/2006/table">
            <a:tbl>
              <a:tblPr/>
              <a:tblGrid>
                <a:gridCol w="853440">
                  <a:extLst>
                    <a:ext uri="{9D8B030D-6E8A-4147-A177-3AD203B41FA5}">
                      <a16:colId xmlns:a16="http://schemas.microsoft.com/office/drawing/2014/main" val="20000"/>
                    </a:ext>
                  </a:extLst>
                </a:gridCol>
                <a:gridCol w="1341120">
                  <a:extLst>
                    <a:ext uri="{9D8B030D-6E8A-4147-A177-3AD203B41FA5}">
                      <a16:colId xmlns:a16="http://schemas.microsoft.com/office/drawing/2014/main" val="20001"/>
                    </a:ext>
                  </a:extLst>
                </a:gridCol>
                <a:gridCol w="1341120">
                  <a:extLst>
                    <a:ext uri="{9D8B030D-6E8A-4147-A177-3AD203B41FA5}">
                      <a16:colId xmlns:a16="http://schemas.microsoft.com/office/drawing/2014/main" val="20002"/>
                    </a:ext>
                  </a:extLst>
                </a:gridCol>
              </a:tblGrid>
              <a:tr h="264160">
                <a:tc>
                  <a:txBody>
                    <a:bodyPr/>
                    <a:lstStyle/>
                    <a:p>
                      <a:pPr marL="0" indent="0" algn="ctr">
                        <a:buNone/>
                      </a:pPr>
                      <a:endParaRPr lang="en-US" sz="900" dirty="0"/>
                    </a:p>
                  </a:txBody>
                  <a:tcPr marL="121920" marR="121920" marT="60960" marB="6096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indent="0" algn="ctr">
                        <a:buNone/>
                      </a:pPr>
                      <a:r>
                        <a:rPr lang="en-US" sz="900" b="1" dirty="0">
                          <a:solidFill>
                            <a:schemeClr val="bg1"/>
                          </a:solidFill>
                        </a:rPr>
                        <a:t>Predicted Negative</a:t>
                      </a:r>
                      <a:endParaRPr lang="en-US" sz="900" dirty="0">
                        <a:solidFill>
                          <a:schemeClr val="bg1"/>
                        </a:solidFill>
                      </a:endParaRPr>
                    </a:p>
                  </a:txBody>
                  <a:tcPr marL="121920" marR="121920" marT="60960" marB="6096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161B22"/>
                    </a:solidFill>
                  </a:tcPr>
                </a:tc>
                <a:tc>
                  <a:txBody>
                    <a:bodyPr/>
                    <a:lstStyle/>
                    <a:p>
                      <a:pPr marL="0" indent="0" algn="ctr">
                        <a:buNone/>
                      </a:pPr>
                      <a:r>
                        <a:rPr lang="en-US" sz="900" b="1" dirty="0">
                          <a:solidFill>
                            <a:schemeClr val="bg1"/>
                          </a:solidFill>
                        </a:rPr>
                        <a:t>Predicted Positive</a:t>
                      </a:r>
                      <a:endParaRPr lang="en-US" sz="900" dirty="0">
                        <a:solidFill>
                          <a:schemeClr val="bg1"/>
                        </a:solidFill>
                      </a:endParaRPr>
                    </a:p>
                  </a:txBody>
                  <a:tcPr marL="121920" marR="121920" marT="60960" marB="6096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161B22"/>
                    </a:solidFill>
                  </a:tcPr>
                </a:tc>
                <a:extLst>
                  <a:ext uri="{0D108BD9-81ED-4DB2-BD59-A6C34878D82A}">
                    <a16:rowId xmlns:a16="http://schemas.microsoft.com/office/drawing/2014/main" val="10000"/>
                  </a:ext>
                </a:extLst>
              </a:tr>
              <a:tr h="447040">
                <a:tc>
                  <a:txBody>
                    <a:bodyPr/>
                    <a:lstStyle/>
                    <a:p>
                      <a:pPr marL="0" indent="0" algn="ctr">
                        <a:buNone/>
                      </a:pPr>
                      <a:r>
                        <a:rPr lang="en-US" sz="900" b="1" dirty="0">
                          <a:solidFill>
                            <a:schemeClr val="bg1"/>
                          </a:solidFill>
                        </a:rPr>
                        <a:t>Actual Negative</a:t>
                      </a:r>
                    </a:p>
                  </a:txBody>
                  <a:tcPr marL="121920" marR="121920" marT="60960" marB="6096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161B22"/>
                    </a:solidFill>
                  </a:tcPr>
                </a:tc>
                <a:tc>
                  <a:txBody>
                    <a:bodyPr/>
                    <a:lstStyle/>
                    <a:p>
                      <a:pPr marL="0" indent="0" algn="ctr">
                        <a:buNone/>
                      </a:pPr>
                      <a:r>
                        <a:rPr lang="en-US" sz="1100" b="1" dirty="0">
                          <a:solidFill>
                            <a:srgbClr val="3ECF8E"/>
                          </a:solidFill>
                        </a:rPr>
                        <a:t>True Negative</a:t>
                      </a:r>
                    </a:p>
                    <a:p>
                      <a:pPr marL="0" indent="0" algn="ctr">
                        <a:buNone/>
                      </a:pPr>
                      <a:r>
                        <a:rPr lang="en-US" sz="1100" b="1" dirty="0">
                          <a:solidFill>
                            <a:srgbClr val="3ECF8E"/>
                          </a:solidFill>
                        </a:rPr>
                        <a:t>51,090 | 92.90%</a:t>
                      </a:r>
                      <a:endParaRPr lang="en-US" sz="1100" dirty="0"/>
                    </a:p>
                  </a:txBody>
                  <a:tcPr marL="121920" marR="121920" marT="60960" marB="6096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0D2B1F"/>
                    </a:solidFill>
                  </a:tcPr>
                </a:tc>
                <a:tc>
                  <a:txBody>
                    <a:bodyPr/>
                    <a:lstStyle/>
                    <a:p>
                      <a:pPr marL="0" indent="0" algn="ctr">
                        <a:buNone/>
                      </a:pPr>
                      <a:r>
                        <a:rPr lang="en-US" sz="1100" b="1" dirty="0">
                          <a:solidFill>
                            <a:srgbClr val="F76B6B"/>
                          </a:solidFill>
                        </a:rPr>
                        <a:t>False Positive</a:t>
                      </a:r>
                    </a:p>
                    <a:p>
                      <a:pPr marL="0" indent="0" algn="ctr">
                        <a:buNone/>
                      </a:pPr>
                      <a:r>
                        <a:rPr lang="en-US" sz="1100" b="1" dirty="0">
                          <a:solidFill>
                            <a:srgbClr val="F76B6B"/>
                          </a:solidFill>
                        </a:rPr>
                        <a:t>956 | 1.74%</a:t>
                      </a:r>
                      <a:endParaRPr lang="en-US" sz="1100" dirty="0"/>
                    </a:p>
                  </a:txBody>
                  <a:tcPr marL="121920" marR="121920" marT="60960" marB="6096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2B0D0D"/>
                    </a:solidFill>
                  </a:tcPr>
                </a:tc>
                <a:extLst>
                  <a:ext uri="{0D108BD9-81ED-4DB2-BD59-A6C34878D82A}">
                    <a16:rowId xmlns:a16="http://schemas.microsoft.com/office/drawing/2014/main" val="10001"/>
                  </a:ext>
                </a:extLst>
              </a:tr>
              <a:tr h="447040">
                <a:tc>
                  <a:txBody>
                    <a:bodyPr/>
                    <a:lstStyle/>
                    <a:p>
                      <a:pPr marL="0" indent="0" algn="ctr">
                        <a:buNone/>
                      </a:pPr>
                      <a:r>
                        <a:rPr lang="en-US" sz="900" b="1" dirty="0">
                          <a:solidFill>
                            <a:schemeClr val="bg1"/>
                          </a:solidFill>
                        </a:rPr>
                        <a:t>Actual Positive</a:t>
                      </a:r>
                    </a:p>
                  </a:txBody>
                  <a:tcPr marL="121920" marR="121920" marT="60960" marB="6096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161B22"/>
                    </a:solidFill>
                  </a:tcPr>
                </a:tc>
                <a:tc>
                  <a:txBody>
                    <a:bodyPr/>
                    <a:lstStyle/>
                    <a:p>
                      <a:pPr marL="0" indent="0" algn="ctr">
                        <a:buNone/>
                      </a:pPr>
                      <a:r>
                        <a:rPr lang="en-US" sz="1100" b="1" dirty="0">
                          <a:solidFill>
                            <a:srgbClr val="F76B6B"/>
                          </a:solidFill>
                        </a:rPr>
                        <a:t>False Negative </a:t>
                      </a:r>
                    </a:p>
                    <a:p>
                      <a:pPr marL="0" indent="0" algn="ctr">
                        <a:buNone/>
                      </a:pPr>
                      <a:r>
                        <a:rPr lang="en-US" sz="1100" b="1" dirty="0">
                          <a:solidFill>
                            <a:srgbClr val="F76B6B"/>
                          </a:solidFill>
                        </a:rPr>
                        <a:t>928 | 1.69%</a:t>
                      </a:r>
                      <a:endParaRPr lang="en-US" sz="1100" dirty="0"/>
                    </a:p>
                  </a:txBody>
                  <a:tcPr marL="121920" marR="121920" marT="60960" marB="6096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2B0D0D"/>
                    </a:solidFill>
                  </a:tcPr>
                </a:tc>
                <a:tc>
                  <a:txBody>
                    <a:bodyPr/>
                    <a:lstStyle/>
                    <a:p>
                      <a:pPr marL="0" indent="0" algn="ctr">
                        <a:buNone/>
                      </a:pPr>
                      <a:r>
                        <a:rPr lang="en-US" sz="1100" b="1" dirty="0">
                          <a:solidFill>
                            <a:srgbClr val="3ECF8E"/>
                          </a:solidFill>
                        </a:rPr>
                        <a:t>True Positive</a:t>
                      </a:r>
                    </a:p>
                    <a:p>
                      <a:pPr marL="0" indent="0" algn="ctr">
                        <a:buNone/>
                      </a:pPr>
                      <a:r>
                        <a:rPr lang="en-US" sz="1100" b="1" dirty="0">
                          <a:solidFill>
                            <a:srgbClr val="3ECF8E"/>
                          </a:solidFill>
                        </a:rPr>
                        <a:t>2,018 | 92.9%</a:t>
                      </a:r>
                      <a:endParaRPr lang="en-US" sz="1100" dirty="0"/>
                    </a:p>
                  </a:txBody>
                  <a:tcPr marL="121920" marR="121920" marT="60960" marB="6096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0D2B1F"/>
                    </a:solidFill>
                  </a:tcPr>
                </a:tc>
                <a:extLst>
                  <a:ext uri="{0D108BD9-81ED-4DB2-BD59-A6C34878D82A}">
                    <a16:rowId xmlns:a16="http://schemas.microsoft.com/office/drawing/2014/main" val="10002"/>
                  </a:ext>
                </a:extLst>
              </a:tr>
            </a:tbl>
          </a:graphicData>
        </a:graphic>
      </p:graphicFrame>
      <p:sp>
        <p:nvSpPr>
          <p:cNvPr id="24" name="Shape 21">
            <a:extLst>
              <a:ext uri="{FF2B5EF4-FFF2-40B4-BE49-F238E27FC236}">
                <a16:creationId xmlns:a16="http://schemas.microsoft.com/office/drawing/2014/main" id="{7B6BD71B-E958-F6B1-0823-1578126AE061}"/>
              </a:ext>
            </a:extLst>
          </p:cNvPr>
          <p:cNvSpPr/>
          <p:nvPr/>
        </p:nvSpPr>
        <p:spPr>
          <a:xfrm>
            <a:off x="4169664" y="987552"/>
            <a:ext cx="0" cy="5632704"/>
          </a:xfrm>
          <a:prstGeom prst="line">
            <a:avLst/>
          </a:prstGeom>
          <a:noFill/>
          <a:ln w="19050">
            <a:solidFill>
              <a:srgbClr val="21262D"/>
            </a:solidFill>
            <a:prstDash val="solid"/>
          </a:ln>
        </p:spPr>
        <p:txBody>
          <a:bodyPr/>
          <a:lstStyle/>
          <a:p>
            <a:endParaRPr lang="en-GB" sz="2400"/>
          </a:p>
        </p:txBody>
      </p:sp>
      <p:sp>
        <p:nvSpPr>
          <p:cNvPr id="25" name="Text 22">
            <a:extLst>
              <a:ext uri="{FF2B5EF4-FFF2-40B4-BE49-F238E27FC236}">
                <a16:creationId xmlns:a16="http://schemas.microsoft.com/office/drawing/2014/main" id="{13AAA877-839A-FA3F-87F7-7E2DFF5927F4}"/>
              </a:ext>
            </a:extLst>
          </p:cNvPr>
          <p:cNvSpPr/>
          <p:nvPr/>
        </p:nvSpPr>
        <p:spPr>
          <a:xfrm>
            <a:off x="4413504" y="679196"/>
            <a:ext cx="3474720" cy="268224"/>
          </a:xfrm>
          <a:prstGeom prst="rect">
            <a:avLst/>
          </a:prstGeom>
          <a:noFill/>
          <a:ln/>
        </p:spPr>
        <p:txBody>
          <a:bodyPr wrap="square" rtlCol="0" anchor="ctr"/>
          <a:lstStyle/>
          <a:p>
            <a:r>
              <a:rPr lang="en-US" sz="1000" b="1" kern="0" spc="267" dirty="0">
                <a:solidFill>
                  <a:srgbClr val="CC3232"/>
                </a:solidFill>
                <a:latin typeface="Calibri" pitchFamily="34" charset="0"/>
                <a:ea typeface="Calibri" pitchFamily="34" charset="-122"/>
                <a:cs typeface="Calibri" pitchFamily="34" charset="-120"/>
              </a:rPr>
              <a:t>MODEL PARAMETERS</a:t>
            </a:r>
            <a:endParaRPr lang="en-US" sz="1000" dirty="0">
              <a:solidFill>
                <a:srgbClr val="CC3232"/>
              </a:solidFill>
            </a:endParaRPr>
          </a:p>
        </p:txBody>
      </p:sp>
      <p:grpSp>
        <p:nvGrpSpPr>
          <p:cNvPr id="126" name="Group 125">
            <a:extLst>
              <a:ext uri="{FF2B5EF4-FFF2-40B4-BE49-F238E27FC236}">
                <a16:creationId xmlns:a16="http://schemas.microsoft.com/office/drawing/2014/main" id="{2648F7D1-5D86-CB09-C85C-D078753BB2F0}"/>
              </a:ext>
            </a:extLst>
          </p:cNvPr>
          <p:cNvGrpSpPr/>
          <p:nvPr/>
        </p:nvGrpSpPr>
        <p:grpSpPr>
          <a:xfrm>
            <a:off x="4413504" y="1274064"/>
            <a:ext cx="3474720" cy="224536"/>
            <a:chOff x="3310128" y="946023"/>
            <a:chExt cx="2606040" cy="168402"/>
          </a:xfrm>
        </p:grpSpPr>
        <p:sp>
          <p:nvSpPr>
            <p:cNvPr id="26" name="Shape 23">
              <a:extLst>
                <a:ext uri="{FF2B5EF4-FFF2-40B4-BE49-F238E27FC236}">
                  <a16:creationId xmlns:a16="http://schemas.microsoft.com/office/drawing/2014/main" id="{DB502EF8-7997-894E-2531-18A48A295161}"/>
                </a:ext>
              </a:extLst>
            </p:cNvPr>
            <p:cNvSpPr/>
            <p:nvPr/>
          </p:nvSpPr>
          <p:spPr>
            <a:xfrm>
              <a:off x="3310128" y="946023"/>
              <a:ext cx="2606040" cy="168402"/>
            </a:xfrm>
            <a:prstGeom prst="snip2DiagRect">
              <a:avLst>
                <a:gd name="adj1" fmla="val 45249"/>
                <a:gd name="adj2" fmla="val 16667"/>
              </a:avLst>
            </a:prstGeom>
            <a:solidFill>
              <a:srgbClr val="66686A"/>
            </a:solidFill>
            <a:ln w="3810">
              <a:noFill/>
              <a:prstDash val="solid"/>
            </a:ln>
          </p:spPr>
          <p:txBody>
            <a:bodyPr/>
            <a:lstStyle/>
            <a:p>
              <a:endParaRPr lang="en-GB" sz="2400" dirty="0"/>
            </a:p>
          </p:txBody>
        </p:sp>
        <p:sp>
          <p:nvSpPr>
            <p:cNvPr id="27" name="Text 24">
              <a:extLst>
                <a:ext uri="{FF2B5EF4-FFF2-40B4-BE49-F238E27FC236}">
                  <a16:creationId xmlns:a16="http://schemas.microsoft.com/office/drawing/2014/main" id="{93CEB68E-F19D-6533-6EF4-EE1F66CBF5C1}"/>
                </a:ext>
              </a:extLst>
            </p:cNvPr>
            <p:cNvSpPr/>
            <p:nvPr/>
          </p:nvSpPr>
          <p:spPr>
            <a:xfrm>
              <a:off x="3401568" y="966216"/>
              <a:ext cx="1615745" cy="128016"/>
            </a:xfrm>
            <a:prstGeom prst="rect">
              <a:avLst/>
            </a:prstGeom>
            <a:noFill/>
            <a:ln/>
          </p:spPr>
          <p:txBody>
            <a:bodyPr wrap="square" rtlCol="0" anchor="ctr"/>
            <a:lstStyle/>
            <a:p>
              <a:r>
                <a:rPr lang="en-US" sz="1133" dirty="0">
                  <a:solidFill>
                    <a:schemeClr val="bg1"/>
                  </a:solidFill>
                  <a:latin typeface="Calibri" pitchFamily="34" charset="0"/>
                  <a:ea typeface="Calibri" pitchFamily="34" charset="-122"/>
                  <a:cs typeface="Calibri" pitchFamily="34" charset="-120"/>
                </a:rPr>
                <a:t>criterion</a:t>
              </a:r>
              <a:endParaRPr lang="en-US" sz="1133" dirty="0">
                <a:solidFill>
                  <a:schemeClr val="bg1"/>
                </a:solidFill>
              </a:endParaRPr>
            </a:p>
          </p:txBody>
        </p:sp>
        <p:sp>
          <p:nvSpPr>
            <p:cNvPr id="28" name="Text 25">
              <a:extLst>
                <a:ext uri="{FF2B5EF4-FFF2-40B4-BE49-F238E27FC236}">
                  <a16:creationId xmlns:a16="http://schemas.microsoft.com/office/drawing/2014/main" id="{41338BEE-FF2A-8342-241C-E41D4FAF9C3E}"/>
                </a:ext>
              </a:extLst>
            </p:cNvPr>
            <p:cNvSpPr/>
            <p:nvPr/>
          </p:nvSpPr>
          <p:spPr>
            <a:xfrm>
              <a:off x="4925873" y="966216"/>
              <a:ext cx="912114" cy="128016"/>
            </a:xfrm>
            <a:prstGeom prst="rect">
              <a:avLst/>
            </a:prstGeom>
            <a:noFill/>
            <a:ln/>
          </p:spPr>
          <p:txBody>
            <a:bodyPr wrap="square" rtlCol="0" anchor="ctr"/>
            <a:lstStyle/>
            <a:p>
              <a:pPr algn="r"/>
              <a:r>
                <a:rPr lang="en-US" sz="1133" b="1" dirty="0">
                  <a:solidFill>
                    <a:srgbClr val="E8ECF4"/>
                  </a:solidFill>
                  <a:latin typeface="Calibri" pitchFamily="34" charset="0"/>
                  <a:ea typeface="Calibri" pitchFamily="34" charset="-122"/>
                  <a:cs typeface="Calibri" pitchFamily="34" charset="-120"/>
                </a:rPr>
                <a:t>entropy</a:t>
              </a:r>
              <a:endParaRPr lang="en-US" sz="1133" dirty="0"/>
            </a:p>
          </p:txBody>
        </p:sp>
      </p:grpSp>
      <p:sp>
        <p:nvSpPr>
          <p:cNvPr id="53" name="Text 50">
            <a:extLst>
              <a:ext uri="{FF2B5EF4-FFF2-40B4-BE49-F238E27FC236}">
                <a16:creationId xmlns:a16="http://schemas.microsoft.com/office/drawing/2014/main" id="{FF62CB7B-1AD9-EE03-4424-70B5DA3DE088}"/>
              </a:ext>
            </a:extLst>
          </p:cNvPr>
          <p:cNvSpPr/>
          <p:nvPr/>
        </p:nvSpPr>
        <p:spPr>
          <a:xfrm>
            <a:off x="4413504" y="887476"/>
            <a:ext cx="3474720" cy="341376"/>
          </a:xfrm>
          <a:prstGeom prst="rect">
            <a:avLst/>
          </a:prstGeom>
          <a:noFill/>
          <a:ln/>
        </p:spPr>
        <p:txBody>
          <a:bodyPr wrap="square" rtlCol="0" anchor="ctr"/>
          <a:lstStyle/>
          <a:p>
            <a:r>
              <a:rPr lang="en-US" sz="1000" dirty="0">
                <a:latin typeface="Calibri" pitchFamily="34" charset="0"/>
                <a:ea typeface="Calibri" pitchFamily="34" charset="-122"/>
                <a:cs typeface="Calibri" pitchFamily="34" charset="-120"/>
              </a:rPr>
              <a:t>Tuned via RandomizedSearchCV  with </a:t>
            </a:r>
            <a:r>
              <a:rPr lang="en-US" sz="1000" dirty="0" err="1">
                <a:latin typeface="Calibri" pitchFamily="34" charset="0"/>
                <a:ea typeface="Calibri" pitchFamily="34" charset="-122"/>
                <a:cs typeface="Calibri" pitchFamily="34" charset="-120"/>
              </a:rPr>
              <a:t>StratifiedKFold</a:t>
            </a:r>
            <a:r>
              <a:rPr lang="en-US" sz="1000" dirty="0">
                <a:latin typeface="Calibri" pitchFamily="34" charset="0"/>
                <a:ea typeface="Calibri" pitchFamily="34" charset="-122"/>
                <a:cs typeface="Calibri" pitchFamily="34" charset="-120"/>
              </a:rPr>
              <a:t> (3 splits)  with 35 iterations</a:t>
            </a:r>
            <a:endParaRPr lang="en-US" sz="1000" dirty="0"/>
          </a:p>
        </p:txBody>
      </p:sp>
      <p:sp>
        <p:nvSpPr>
          <p:cNvPr id="57" name="Shape 54">
            <a:extLst>
              <a:ext uri="{FF2B5EF4-FFF2-40B4-BE49-F238E27FC236}">
                <a16:creationId xmlns:a16="http://schemas.microsoft.com/office/drawing/2014/main" id="{C88966F5-275C-C15C-8215-9D7E210B2A97}"/>
              </a:ext>
            </a:extLst>
          </p:cNvPr>
          <p:cNvSpPr/>
          <p:nvPr/>
        </p:nvSpPr>
        <p:spPr>
          <a:xfrm>
            <a:off x="8168640" y="1024128"/>
            <a:ext cx="0" cy="5632704"/>
          </a:xfrm>
          <a:prstGeom prst="line">
            <a:avLst/>
          </a:prstGeom>
          <a:noFill/>
          <a:ln w="19050">
            <a:solidFill>
              <a:srgbClr val="21262D"/>
            </a:solidFill>
            <a:prstDash val="solid"/>
          </a:ln>
        </p:spPr>
        <p:txBody>
          <a:bodyPr/>
          <a:lstStyle/>
          <a:p>
            <a:endParaRPr lang="en-GB" sz="2400"/>
          </a:p>
        </p:txBody>
      </p:sp>
      <p:grpSp>
        <p:nvGrpSpPr>
          <p:cNvPr id="97" name="Group 96">
            <a:extLst>
              <a:ext uri="{FF2B5EF4-FFF2-40B4-BE49-F238E27FC236}">
                <a16:creationId xmlns:a16="http://schemas.microsoft.com/office/drawing/2014/main" id="{3242B1FB-DBDF-D87E-E740-456EA947B161}"/>
              </a:ext>
            </a:extLst>
          </p:cNvPr>
          <p:cNvGrpSpPr/>
          <p:nvPr/>
        </p:nvGrpSpPr>
        <p:grpSpPr>
          <a:xfrm>
            <a:off x="4535425" y="1598909"/>
            <a:ext cx="3248559" cy="170688"/>
            <a:chOff x="3401568" y="1177671"/>
            <a:chExt cx="2436419" cy="128016"/>
          </a:xfrm>
        </p:grpSpPr>
        <p:sp>
          <p:nvSpPr>
            <p:cNvPr id="95" name="Text 24">
              <a:extLst>
                <a:ext uri="{FF2B5EF4-FFF2-40B4-BE49-F238E27FC236}">
                  <a16:creationId xmlns:a16="http://schemas.microsoft.com/office/drawing/2014/main" id="{0EB18768-7D23-8771-1C65-4C6E53C2942F}"/>
                </a:ext>
              </a:extLst>
            </p:cNvPr>
            <p:cNvSpPr/>
            <p:nvPr/>
          </p:nvSpPr>
          <p:spPr>
            <a:xfrm>
              <a:off x="3401568" y="1177671"/>
              <a:ext cx="1615745" cy="128016"/>
            </a:xfrm>
            <a:prstGeom prst="rect">
              <a:avLst/>
            </a:prstGeom>
            <a:noFill/>
            <a:ln/>
          </p:spPr>
          <p:txBody>
            <a:bodyPr wrap="square" rtlCol="0" anchor="ctr"/>
            <a:lstStyle/>
            <a:p>
              <a:r>
                <a:rPr lang="en-US" sz="1133" dirty="0">
                  <a:solidFill>
                    <a:schemeClr val="bg1"/>
                  </a:solidFill>
                  <a:latin typeface="Calibri" pitchFamily="34" charset="0"/>
                  <a:ea typeface="Calibri" pitchFamily="34" charset="-122"/>
                  <a:cs typeface="Calibri" pitchFamily="34" charset="-120"/>
                </a:rPr>
                <a:t>max_depth</a:t>
              </a:r>
            </a:p>
          </p:txBody>
        </p:sp>
        <p:sp>
          <p:nvSpPr>
            <p:cNvPr id="96" name="Text 25">
              <a:extLst>
                <a:ext uri="{FF2B5EF4-FFF2-40B4-BE49-F238E27FC236}">
                  <a16:creationId xmlns:a16="http://schemas.microsoft.com/office/drawing/2014/main" id="{89F4206C-3099-091B-058C-FCC9C5DF0220}"/>
                </a:ext>
              </a:extLst>
            </p:cNvPr>
            <p:cNvSpPr/>
            <p:nvPr/>
          </p:nvSpPr>
          <p:spPr>
            <a:xfrm>
              <a:off x="4925873" y="1177671"/>
              <a:ext cx="912114" cy="128016"/>
            </a:xfrm>
            <a:prstGeom prst="rect">
              <a:avLst/>
            </a:prstGeom>
            <a:noFill/>
            <a:ln/>
          </p:spPr>
          <p:txBody>
            <a:bodyPr wrap="square" rtlCol="0" anchor="ctr"/>
            <a:lstStyle/>
            <a:p>
              <a:pPr algn="r"/>
              <a:r>
                <a:rPr lang="en-US" sz="1133" b="1" dirty="0">
                  <a:solidFill>
                    <a:srgbClr val="E8ECF4"/>
                  </a:solidFill>
                  <a:latin typeface="Calibri" pitchFamily="34" charset="0"/>
                  <a:ea typeface="Calibri" pitchFamily="34" charset="-122"/>
                  <a:cs typeface="Calibri" pitchFamily="34" charset="-120"/>
                </a:rPr>
                <a:t>11</a:t>
              </a:r>
              <a:endParaRPr lang="en-US" sz="1133" dirty="0"/>
            </a:p>
          </p:txBody>
        </p:sp>
      </p:grpSp>
      <p:grpSp>
        <p:nvGrpSpPr>
          <p:cNvPr id="98" name="Group 97">
            <a:extLst>
              <a:ext uri="{FF2B5EF4-FFF2-40B4-BE49-F238E27FC236}">
                <a16:creationId xmlns:a16="http://schemas.microsoft.com/office/drawing/2014/main" id="{8644B714-24DC-1537-17AA-E624443E0015}"/>
              </a:ext>
            </a:extLst>
          </p:cNvPr>
          <p:cNvGrpSpPr/>
          <p:nvPr/>
        </p:nvGrpSpPr>
        <p:grpSpPr>
          <a:xfrm>
            <a:off x="4535425" y="1896831"/>
            <a:ext cx="3248559" cy="170688"/>
            <a:chOff x="3401568" y="1177671"/>
            <a:chExt cx="2436419" cy="128016"/>
          </a:xfrm>
        </p:grpSpPr>
        <p:sp>
          <p:nvSpPr>
            <p:cNvPr id="100" name="Text 24">
              <a:extLst>
                <a:ext uri="{FF2B5EF4-FFF2-40B4-BE49-F238E27FC236}">
                  <a16:creationId xmlns:a16="http://schemas.microsoft.com/office/drawing/2014/main" id="{B28BB0F0-A7FA-D0ED-B990-5FC36462A16E}"/>
                </a:ext>
              </a:extLst>
            </p:cNvPr>
            <p:cNvSpPr/>
            <p:nvPr/>
          </p:nvSpPr>
          <p:spPr>
            <a:xfrm>
              <a:off x="3401568" y="1177671"/>
              <a:ext cx="1615745" cy="128016"/>
            </a:xfrm>
            <a:prstGeom prst="rect">
              <a:avLst/>
            </a:prstGeom>
            <a:noFill/>
            <a:ln/>
          </p:spPr>
          <p:txBody>
            <a:bodyPr wrap="square" rtlCol="0" anchor="ctr"/>
            <a:lstStyle/>
            <a:p>
              <a:r>
                <a:rPr lang="en-US" sz="1133" dirty="0">
                  <a:solidFill>
                    <a:schemeClr val="bg1"/>
                  </a:solidFill>
                  <a:latin typeface="Calibri" pitchFamily="34" charset="0"/>
                  <a:ea typeface="Calibri" pitchFamily="34" charset="-122"/>
                  <a:cs typeface="Calibri" pitchFamily="34" charset="-120"/>
                </a:rPr>
                <a:t>max_features</a:t>
              </a:r>
            </a:p>
          </p:txBody>
        </p:sp>
        <p:sp>
          <p:nvSpPr>
            <p:cNvPr id="101" name="Text 25">
              <a:extLst>
                <a:ext uri="{FF2B5EF4-FFF2-40B4-BE49-F238E27FC236}">
                  <a16:creationId xmlns:a16="http://schemas.microsoft.com/office/drawing/2014/main" id="{BC456ED2-9BE2-D6D2-0E83-08CBD2DAB118}"/>
                </a:ext>
              </a:extLst>
            </p:cNvPr>
            <p:cNvSpPr/>
            <p:nvPr/>
          </p:nvSpPr>
          <p:spPr>
            <a:xfrm>
              <a:off x="4925873" y="1177671"/>
              <a:ext cx="912114" cy="128016"/>
            </a:xfrm>
            <a:prstGeom prst="rect">
              <a:avLst/>
            </a:prstGeom>
            <a:noFill/>
            <a:ln/>
          </p:spPr>
          <p:txBody>
            <a:bodyPr wrap="square" rtlCol="0" anchor="ctr"/>
            <a:lstStyle/>
            <a:p>
              <a:pPr algn="r"/>
              <a:r>
                <a:rPr lang="en-US" sz="1133" b="1" dirty="0">
                  <a:solidFill>
                    <a:srgbClr val="E8ECF4"/>
                  </a:solidFill>
                  <a:latin typeface="Calibri" pitchFamily="34" charset="0"/>
                  <a:ea typeface="Calibri" pitchFamily="34" charset="-122"/>
                  <a:cs typeface="Calibri" pitchFamily="34" charset="-120"/>
                </a:rPr>
                <a:t>18 (of 21)</a:t>
              </a:r>
              <a:endParaRPr lang="en-US" sz="1133" dirty="0"/>
            </a:p>
          </p:txBody>
        </p:sp>
      </p:grpSp>
      <p:grpSp>
        <p:nvGrpSpPr>
          <p:cNvPr id="102" name="Group 101">
            <a:extLst>
              <a:ext uri="{FF2B5EF4-FFF2-40B4-BE49-F238E27FC236}">
                <a16:creationId xmlns:a16="http://schemas.microsoft.com/office/drawing/2014/main" id="{BF45EC3D-D0E4-E9E1-4C06-28F924251013}"/>
              </a:ext>
            </a:extLst>
          </p:cNvPr>
          <p:cNvGrpSpPr/>
          <p:nvPr/>
        </p:nvGrpSpPr>
        <p:grpSpPr>
          <a:xfrm>
            <a:off x="4535425" y="2167828"/>
            <a:ext cx="3248559" cy="170688"/>
            <a:chOff x="3401568" y="1177671"/>
            <a:chExt cx="2436419" cy="128016"/>
          </a:xfrm>
        </p:grpSpPr>
        <p:sp>
          <p:nvSpPr>
            <p:cNvPr id="104" name="Text 24">
              <a:extLst>
                <a:ext uri="{FF2B5EF4-FFF2-40B4-BE49-F238E27FC236}">
                  <a16:creationId xmlns:a16="http://schemas.microsoft.com/office/drawing/2014/main" id="{03C28FA4-9975-A949-298F-F015D0188D30}"/>
                </a:ext>
              </a:extLst>
            </p:cNvPr>
            <p:cNvSpPr/>
            <p:nvPr/>
          </p:nvSpPr>
          <p:spPr>
            <a:xfrm>
              <a:off x="3401568" y="1177671"/>
              <a:ext cx="1615745" cy="128016"/>
            </a:xfrm>
            <a:prstGeom prst="rect">
              <a:avLst/>
            </a:prstGeom>
            <a:noFill/>
            <a:ln/>
          </p:spPr>
          <p:txBody>
            <a:bodyPr wrap="square" rtlCol="0" anchor="ctr"/>
            <a:lstStyle/>
            <a:p>
              <a:r>
                <a:rPr lang="en-US" sz="1133" dirty="0">
                  <a:solidFill>
                    <a:schemeClr val="bg1"/>
                  </a:solidFill>
                  <a:latin typeface="Calibri" pitchFamily="34" charset="0"/>
                  <a:ea typeface="Calibri" pitchFamily="34" charset="-122"/>
                  <a:cs typeface="Calibri" pitchFamily="34" charset="-120"/>
                </a:rPr>
                <a:t>n_estimators</a:t>
              </a:r>
            </a:p>
          </p:txBody>
        </p:sp>
        <p:sp>
          <p:nvSpPr>
            <p:cNvPr id="105" name="Text 25">
              <a:extLst>
                <a:ext uri="{FF2B5EF4-FFF2-40B4-BE49-F238E27FC236}">
                  <a16:creationId xmlns:a16="http://schemas.microsoft.com/office/drawing/2014/main" id="{241C7E2B-10D9-C5C3-46CE-ED1528C0E29F}"/>
                </a:ext>
              </a:extLst>
            </p:cNvPr>
            <p:cNvSpPr/>
            <p:nvPr/>
          </p:nvSpPr>
          <p:spPr>
            <a:xfrm>
              <a:off x="4925873" y="1177671"/>
              <a:ext cx="912114" cy="128016"/>
            </a:xfrm>
            <a:prstGeom prst="rect">
              <a:avLst/>
            </a:prstGeom>
            <a:noFill/>
            <a:ln/>
          </p:spPr>
          <p:txBody>
            <a:bodyPr wrap="square" rtlCol="0" anchor="ctr"/>
            <a:lstStyle/>
            <a:p>
              <a:pPr algn="r"/>
              <a:r>
                <a:rPr lang="en-US" sz="1133" b="1" dirty="0">
                  <a:solidFill>
                    <a:srgbClr val="E8ECF4"/>
                  </a:solidFill>
                  <a:latin typeface="Calibri" pitchFamily="34" charset="0"/>
                  <a:ea typeface="Calibri" pitchFamily="34" charset="-122"/>
                  <a:cs typeface="Calibri" pitchFamily="34" charset="-120"/>
                </a:rPr>
                <a:t>25</a:t>
              </a:r>
              <a:endParaRPr lang="en-US" sz="1133" dirty="0"/>
            </a:p>
          </p:txBody>
        </p:sp>
      </p:grpSp>
      <p:grpSp>
        <p:nvGrpSpPr>
          <p:cNvPr id="106" name="Group 105">
            <a:extLst>
              <a:ext uri="{FF2B5EF4-FFF2-40B4-BE49-F238E27FC236}">
                <a16:creationId xmlns:a16="http://schemas.microsoft.com/office/drawing/2014/main" id="{30DC4688-E40A-BE5D-BA6A-350AD9208105}"/>
              </a:ext>
            </a:extLst>
          </p:cNvPr>
          <p:cNvGrpSpPr/>
          <p:nvPr/>
        </p:nvGrpSpPr>
        <p:grpSpPr>
          <a:xfrm>
            <a:off x="4535425" y="2492673"/>
            <a:ext cx="3248559" cy="170688"/>
            <a:chOff x="3401568" y="1177671"/>
            <a:chExt cx="2436419" cy="128016"/>
          </a:xfrm>
        </p:grpSpPr>
        <p:sp>
          <p:nvSpPr>
            <p:cNvPr id="108" name="Text 24">
              <a:extLst>
                <a:ext uri="{FF2B5EF4-FFF2-40B4-BE49-F238E27FC236}">
                  <a16:creationId xmlns:a16="http://schemas.microsoft.com/office/drawing/2014/main" id="{B27F70D4-E6E7-897C-3473-AEB663563AD9}"/>
                </a:ext>
              </a:extLst>
            </p:cNvPr>
            <p:cNvSpPr/>
            <p:nvPr/>
          </p:nvSpPr>
          <p:spPr>
            <a:xfrm>
              <a:off x="3401568" y="1177671"/>
              <a:ext cx="1615745" cy="128016"/>
            </a:xfrm>
            <a:prstGeom prst="rect">
              <a:avLst/>
            </a:prstGeom>
            <a:noFill/>
            <a:ln/>
          </p:spPr>
          <p:txBody>
            <a:bodyPr wrap="square" rtlCol="0" anchor="ctr"/>
            <a:lstStyle/>
            <a:p>
              <a:r>
                <a:rPr lang="en-US" sz="1133" dirty="0">
                  <a:solidFill>
                    <a:schemeClr val="bg1"/>
                  </a:solidFill>
                  <a:latin typeface="Calibri" pitchFamily="34" charset="0"/>
                  <a:ea typeface="Calibri" pitchFamily="34" charset="-122"/>
                  <a:cs typeface="Calibri" pitchFamily="34" charset="-120"/>
                </a:rPr>
                <a:t>min_samples_leaf</a:t>
              </a:r>
            </a:p>
          </p:txBody>
        </p:sp>
        <p:sp>
          <p:nvSpPr>
            <p:cNvPr id="109" name="Text 25">
              <a:extLst>
                <a:ext uri="{FF2B5EF4-FFF2-40B4-BE49-F238E27FC236}">
                  <a16:creationId xmlns:a16="http://schemas.microsoft.com/office/drawing/2014/main" id="{1505B6D9-298F-6A22-A2C2-3A43F0800382}"/>
                </a:ext>
              </a:extLst>
            </p:cNvPr>
            <p:cNvSpPr/>
            <p:nvPr/>
          </p:nvSpPr>
          <p:spPr>
            <a:xfrm>
              <a:off x="4925873" y="1177671"/>
              <a:ext cx="912114" cy="128016"/>
            </a:xfrm>
            <a:prstGeom prst="rect">
              <a:avLst/>
            </a:prstGeom>
            <a:noFill/>
            <a:ln/>
          </p:spPr>
          <p:txBody>
            <a:bodyPr wrap="square" rtlCol="0" anchor="ctr"/>
            <a:lstStyle/>
            <a:p>
              <a:pPr algn="r"/>
              <a:r>
                <a:rPr lang="en-US" sz="1133" b="1" dirty="0">
                  <a:solidFill>
                    <a:srgbClr val="E8ECF4"/>
                  </a:solidFill>
                  <a:latin typeface="Calibri" pitchFamily="34" charset="0"/>
                  <a:ea typeface="Calibri" pitchFamily="34" charset="-122"/>
                  <a:cs typeface="Calibri" pitchFamily="34" charset="-120"/>
                </a:rPr>
                <a:t>9</a:t>
              </a:r>
              <a:endParaRPr lang="en-US" sz="1133" dirty="0"/>
            </a:p>
          </p:txBody>
        </p:sp>
      </p:grpSp>
      <p:grpSp>
        <p:nvGrpSpPr>
          <p:cNvPr id="110" name="Group 109">
            <a:extLst>
              <a:ext uri="{FF2B5EF4-FFF2-40B4-BE49-F238E27FC236}">
                <a16:creationId xmlns:a16="http://schemas.microsoft.com/office/drawing/2014/main" id="{700B4B11-5F3F-86B0-E247-C65184AB7D26}"/>
              </a:ext>
            </a:extLst>
          </p:cNvPr>
          <p:cNvGrpSpPr/>
          <p:nvPr/>
        </p:nvGrpSpPr>
        <p:grpSpPr>
          <a:xfrm>
            <a:off x="4535425" y="2790595"/>
            <a:ext cx="3248559" cy="170688"/>
            <a:chOff x="3401568" y="1177671"/>
            <a:chExt cx="2436419" cy="128016"/>
          </a:xfrm>
        </p:grpSpPr>
        <p:sp>
          <p:nvSpPr>
            <p:cNvPr id="112" name="Text 24">
              <a:extLst>
                <a:ext uri="{FF2B5EF4-FFF2-40B4-BE49-F238E27FC236}">
                  <a16:creationId xmlns:a16="http://schemas.microsoft.com/office/drawing/2014/main" id="{CBDE01A7-AD83-B0AE-4943-1AE976F74EBB}"/>
                </a:ext>
              </a:extLst>
            </p:cNvPr>
            <p:cNvSpPr/>
            <p:nvPr/>
          </p:nvSpPr>
          <p:spPr>
            <a:xfrm>
              <a:off x="3401568" y="1177671"/>
              <a:ext cx="1615745" cy="128016"/>
            </a:xfrm>
            <a:prstGeom prst="rect">
              <a:avLst/>
            </a:prstGeom>
            <a:noFill/>
            <a:ln/>
          </p:spPr>
          <p:txBody>
            <a:bodyPr wrap="square" rtlCol="0" anchor="ctr"/>
            <a:lstStyle/>
            <a:p>
              <a:r>
                <a:rPr lang="en-US" sz="1133" dirty="0">
                  <a:solidFill>
                    <a:schemeClr val="bg1"/>
                  </a:solidFill>
                  <a:latin typeface="Calibri" pitchFamily="34" charset="0"/>
                  <a:ea typeface="Calibri" pitchFamily="34" charset="-122"/>
                  <a:cs typeface="Calibri" pitchFamily="34" charset="-120"/>
                </a:rPr>
                <a:t>min_samples_split</a:t>
              </a:r>
            </a:p>
          </p:txBody>
        </p:sp>
        <p:sp>
          <p:nvSpPr>
            <p:cNvPr id="113" name="Text 25">
              <a:extLst>
                <a:ext uri="{FF2B5EF4-FFF2-40B4-BE49-F238E27FC236}">
                  <a16:creationId xmlns:a16="http://schemas.microsoft.com/office/drawing/2014/main" id="{DFFFD032-73A3-7E89-A7EE-96A13F54B82D}"/>
                </a:ext>
              </a:extLst>
            </p:cNvPr>
            <p:cNvSpPr/>
            <p:nvPr/>
          </p:nvSpPr>
          <p:spPr>
            <a:xfrm>
              <a:off x="4925873" y="1177671"/>
              <a:ext cx="912114" cy="128016"/>
            </a:xfrm>
            <a:prstGeom prst="rect">
              <a:avLst/>
            </a:prstGeom>
            <a:noFill/>
            <a:ln/>
          </p:spPr>
          <p:txBody>
            <a:bodyPr wrap="square" rtlCol="0" anchor="ctr"/>
            <a:lstStyle/>
            <a:p>
              <a:pPr algn="r"/>
              <a:r>
                <a:rPr lang="en-US" sz="1133" b="1" dirty="0">
                  <a:solidFill>
                    <a:srgbClr val="E8ECF4"/>
                  </a:solidFill>
                  <a:latin typeface="Calibri" pitchFamily="34" charset="0"/>
                  <a:ea typeface="Calibri" pitchFamily="34" charset="-122"/>
                  <a:cs typeface="Calibri" pitchFamily="34" charset="-120"/>
                </a:rPr>
                <a:t>9</a:t>
              </a:r>
              <a:endParaRPr lang="en-US" sz="1133" dirty="0"/>
            </a:p>
          </p:txBody>
        </p:sp>
      </p:grpSp>
      <p:grpSp>
        <p:nvGrpSpPr>
          <p:cNvPr id="114" name="Group 113">
            <a:extLst>
              <a:ext uri="{FF2B5EF4-FFF2-40B4-BE49-F238E27FC236}">
                <a16:creationId xmlns:a16="http://schemas.microsoft.com/office/drawing/2014/main" id="{4A5C5A5E-528B-226C-BD30-143DC444EED1}"/>
              </a:ext>
            </a:extLst>
          </p:cNvPr>
          <p:cNvGrpSpPr/>
          <p:nvPr/>
        </p:nvGrpSpPr>
        <p:grpSpPr>
          <a:xfrm>
            <a:off x="4535425" y="3088516"/>
            <a:ext cx="3248559" cy="170688"/>
            <a:chOff x="3401568" y="1177671"/>
            <a:chExt cx="2436419" cy="128016"/>
          </a:xfrm>
        </p:grpSpPr>
        <p:sp>
          <p:nvSpPr>
            <p:cNvPr id="116" name="Text 24">
              <a:extLst>
                <a:ext uri="{FF2B5EF4-FFF2-40B4-BE49-F238E27FC236}">
                  <a16:creationId xmlns:a16="http://schemas.microsoft.com/office/drawing/2014/main" id="{342C85DD-761D-E393-4E38-452A10BEF0F1}"/>
                </a:ext>
              </a:extLst>
            </p:cNvPr>
            <p:cNvSpPr/>
            <p:nvPr/>
          </p:nvSpPr>
          <p:spPr>
            <a:xfrm>
              <a:off x="3401568" y="1177671"/>
              <a:ext cx="1615745" cy="128016"/>
            </a:xfrm>
            <a:prstGeom prst="rect">
              <a:avLst/>
            </a:prstGeom>
            <a:noFill/>
            <a:ln/>
          </p:spPr>
          <p:txBody>
            <a:bodyPr wrap="square" rtlCol="0" anchor="ctr"/>
            <a:lstStyle/>
            <a:p>
              <a:r>
                <a:rPr lang="en-US" sz="1133" dirty="0">
                  <a:solidFill>
                    <a:schemeClr val="bg1"/>
                  </a:solidFill>
                  <a:latin typeface="Calibri" pitchFamily="34" charset="0"/>
                  <a:ea typeface="Calibri" pitchFamily="34" charset="-122"/>
                  <a:cs typeface="Calibri" pitchFamily="34" charset="-120"/>
                </a:rPr>
                <a:t>min_impurity_decrease</a:t>
              </a:r>
            </a:p>
          </p:txBody>
        </p:sp>
        <p:sp>
          <p:nvSpPr>
            <p:cNvPr id="117" name="Text 25">
              <a:extLst>
                <a:ext uri="{FF2B5EF4-FFF2-40B4-BE49-F238E27FC236}">
                  <a16:creationId xmlns:a16="http://schemas.microsoft.com/office/drawing/2014/main" id="{D3022CCF-BFDC-22E5-02E5-F0059E26750B}"/>
                </a:ext>
              </a:extLst>
            </p:cNvPr>
            <p:cNvSpPr/>
            <p:nvPr/>
          </p:nvSpPr>
          <p:spPr>
            <a:xfrm>
              <a:off x="4925873" y="1177671"/>
              <a:ext cx="912114" cy="128016"/>
            </a:xfrm>
            <a:prstGeom prst="rect">
              <a:avLst/>
            </a:prstGeom>
            <a:noFill/>
            <a:ln/>
          </p:spPr>
          <p:txBody>
            <a:bodyPr wrap="square" rtlCol="0" anchor="ctr"/>
            <a:lstStyle/>
            <a:p>
              <a:pPr algn="r"/>
              <a:r>
                <a:rPr lang="en-US" sz="1133" b="1" dirty="0">
                  <a:solidFill>
                    <a:schemeClr val="bg1"/>
                  </a:solidFill>
                </a:rPr>
                <a:t>0.00015</a:t>
              </a:r>
            </a:p>
          </p:txBody>
        </p:sp>
      </p:grpSp>
      <p:grpSp>
        <p:nvGrpSpPr>
          <p:cNvPr id="118" name="Group 117">
            <a:extLst>
              <a:ext uri="{FF2B5EF4-FFF2-40B4-BE49-F238E27FC236}">
                <a16:creationId xmlns:a16="http://schemas.microsoft.com/office/drawing/2014/main" id="{325F5F1B-53AB-2066-5084-3BB3EC0143EA}"/>
              </a:ext>
            </a:extLst>
          </p:cNvPr>
          <p:cNvGrpSpPr/>
          <p:nvPr/>
        </p:nvGrpSpPr>
        <p:grpSpPr>
          <a:xfrm>
            <a:off x="4535425" y="3386437"/>
            <a:ext cx="3248559" cy="170688"/>
            <a:chOff x="3401568" y="1177671"/>
            <a:chExt cx="2436419" cy="128016"/>
          </a:xfrm>
        </p:grpSpPr>
        <p:sp>
          <p:nvSpPr>
            <p:cNvPr id="120" name="Text 24">
              <a:extLst>
                <a:ext uri="{FF2B5EF4-FFF2-40B4-BE49-F238E27FC236}">
                  <a16:creationId xmlns:a16="http://schemas.microsoft.com/office/drawing/2014/main" id="{32C1697B-D4AA-1D52-2E7C-A6CA74DDAFA7}"/>
                </a:ext>
              </a:extLst>
            </p:cNvPr>
            <p:cNvSpPr/>
            <p:nvPr/>
          </p:nvSpPr>
          <p:spPr>
            <a:xfrm>
              <a:off x="3401568" y="1177671"/>
              <a:ext cx="1615745" cy="128016"/>
            </a:xfrm>
            <a:prstGeom prst="rect">
              <a:avLst/>
            </a:prstGeom>
            <a:noFill/>
            <a:ln/>
          </p:spPr>
          <p:txBody>
            <a:bodyPr wrap="square" rtlCol="0" anchor="ctr"/>
            <a:lstStyle/>
            <a:p>
              <a:r>
                <a:rPr lang="en-US" sz="1133" dirty="0">
                  <a:solidFill>
                    <a:schemeClr val="bg1"/>
                  </a:solidFill>
                  <a:latin typeface="Calibri" pitchFamily="34" charset="0"/>
                  <a:ea typeface="Calibri" pitchFamily="34" charset="-122"/>
                  <a:cs typeface="Calibri" pitchFamily="34" charset="-120"/>
                </a:rPr>
                <a:t>min_impurity_decrease</a:t>
              </a:r>
            </a:p>
          </p:txBody>
        </p:sp>
        <p:sp>
          <p:nvSpPr>
            <p:cNvPr id="121" name="Text 25">
              <a:extLst>
                <a:ext uri="{FF2B5EF4-FFF2-40B4-BE49-F238E27FC236}">
                  <a16:creationId xmlns:a16="http://schemas.microsoft.com/office/drawing/2014/main" id="{3BB2DCBA-7891-903D-98E6-8467A4C200AE}"/>
                </a:ext>
              </a:extLst>
            </p:cNvPr>
            <p:cNvSpPr/>
            <p:nvPr/>
          </p:nvSpPr>
          <p:spPr>
            <a:xfrm>
              <a:off x="4925873" y="1177671"/>
              <a:ext cx="912114" cy="128016"/>
            </a:xfrm>
            <a:prstGeom prst="rect">
              <a:avLst/>
            </a:prstGeom>
            <a:noFill/>
            <a:ln/>
          </p:spPr>
          <p:txBody>
            <a:bodyPr wrap="square" rtlCol="0" anchor="ctr"/>
            <a:lstStyle/>
            <a:p>
              <a:pPr algn="r"/>
              <a:r>
                <a:rPr lang="en-US" sz="1133" b="1" dirty="0">
                  <a:solidFill>
                    <a:schemeClr val="bg1"/>
                  </a:solidFill>
                </a:rPr>
                <a:t>0.00015</a:t>
              </a:r>
            </a:p>
          </p:txBody>
        </p:sp>
      </p:grpSp>
      <p:grpSp>
        <p:nvGrpSpPr>
          <p:cNvPr id="122" name="Group 121">
            <a:extLst>
              <a:ext uri="{FF2B5EF4-FFF2-40B4-BE49-F238E27FC236}">
                <a16:creationId xmlns:a16="http://schemas.microsoft.com/office/drawing/2014/main" id="{BE5F4BD0-14D4-2A95-117E-FA763E2BC850}"/>
              </a:ext>
            </a:extLst>
          </p:cNvPr>
          <p:cNvGrpSpPr/>
          <p:nvPr/>
        </p:nvGrpSpPr>
        <p:grpSpPr>
          <a:xfrm>
            <a:off x="4535425" y="3684355"/>
            <a:ext cx="3248559" cy="170688"/>
            <a:chOff x="3401568" y="1177671"/>
            <a:chExt cx="2436419" cy="128016"/>
          </a:xfrm>
        </p:grpSpPr>
        <p:sp>
          <p:nvSpPr>
            <p:cNvPr id="124" name="Text 24">
              <a:extLst>
                <a:ext uri="{FF2B5EF4-FFF2-40B4-BE49-F238E27FC236}">
                  <a16:creationId xmlns:a16="http://schemas.microsoft.com/office/drawing/2014/main" id="{A02A9538-4D80-DCE8-E650-1AB530A80BF7}"/>
                </a:ext>
              </a:extLst>
            </p:cNvPr>
            <p:cNvSpPr/>
            <p:nvPr/>
          </p:nvSpPr>
          <p:spPr>
            <a:xfrm>
              <a:off x="3401568" y="1177671"/>
              <a:ext cx="1757172" cy="128016"/>
            </a:xfrm>
            <a:prstGeom prst="rect">
              <a:avLst/>
            </a:prstGeom>
            <a:noFill/>
            <a:ln/>
          </p:spPr>
          <p:txBody>
            <a:bodyPr wrap="square" rtlCol="0" anchor="ctr"/>
            <a:lstStyle/>
            <a:p>
              <a:r>
                <a:rPr lang="en-US" sz="1133" dirty="0">
                  <a:solidFill>
                    <a:schemeClr val="bg1"/>
                  </a:solidFill>
                  <a:latin typeface="Calibri" pitchFamily="34" charset="0"/>
                  <a:ea typeface="Calibri" pitchFamily="34" charset="-122"/>
                  <a:cs typeface="Calibri" pitchFamily="34" charset="-120"/>
                </a:rPr>
                <a:t>RSCV Best Score on Training Data</a:t>
              </a:r>
            </a:p>
          </p:txBody>
        </p:sp>
        <p:sp>
          <p:nvSpPr>
            <p:cNvPr id="125" name="Text 25">
              <a:extLst>
                <a:ext uri="{FF2B5EF4-FFF2-40B4-BE49-F238E27FC236}">
                  <a16:creationId xmlns:a16="http://schemas.microsoft.com/office/drawing/2014/main" id="{C28F4717-C4EB-970D-042F-DE197CF4FF97}"/>
                </a:ext>
              </a:extLst>
            </p:cNvPr>
            <p:cNvSpPr/>
            <p:nvPr/>
          </p:nvSpPr>
          <p:spPr>
            <a:xfrm>
              <a:off x="4925873" y="1177671"/>
              <a:ext cx="912114" cy="128016"/>
            </a:xfrm>
            <a:prstGeom prst="rect">
              <a:avLst/>
            </a:prstGeom>
            <a:noFill/>
            <a:ln/>
          </p:spPr>
          <p:txBody>
            <a:bodyPr wrap="square" rtlCol="0" anchor="ctr"/>
            <a:lstStyle/>
            <a:p>
              <a:pPr algn="r"/>
              <a:r>
                <a:rPr lang="en-US" sz="1133" b="1" dirty="0">
                  <a:solidFill>
                    <a:srgbClr val="E8ECF4"/>
                  </a:solidFill>
                  <a:latin typeface="Calibri" pitchFamily="34" charset="0"/>
                  <a:ea typeface="Calibri" pitchFamily="34" charset="-122"/>
                  <a:cs typeface="Calibri" pitchFamily="34" charset="-120"/>
                </a:rPr>
                <a:t>0.9707</a:t>
              </a:r>
              <a:endParaRPr lang="en-US" sz="1133" dirty="0"/>
            </a:p>
          </p:txBody>
        </p:sp>
      </p:grpSp>
      <p:sp>
        <p:nvSpPr>
          <p:cNvPr id="148" name="Shape 7">
            <a:extLst>
              <a:ext uri="{FF2B5EF4-FFF2-40B4-BE49-F238E27FC236}">
                <a16:creationId xmlns:a16="http://schemas.microsoft.com/office/drawing/2014/main" id="{FCDF4931-4116-E948-02B6-72B387C696C2}"/>
              </a:ext>
            </a:extLst>
          </p:cNvPr>
          <p:cNvSpPr/>
          <p:nvPr/>
        </p:nvSpPr>
        <p:spPr>
          <a:xfrm>
            <a:off x="1249680" y="2238927"/>
            <a:ext cx="827024" cy="514173"/>
          </a:xfrm>
          <a:prstGeom prst="roundRect">
            <a:avLst/>
          </a:prstGeom>
          <a:solidFill>
            <a:srgbClr val="42464D">
              <a:alpha val="90000"/>
            </a:srgbClr>
          </a:solidFill>
          <a:ln w="6350">
            <a:noFill/>
            <a:prstDash val="solid"/>
          </a:ln>
        </p:spPr>
        <p:txBody>
          <a:bodyPr/>
          <a:lstStyle/>
          <a:p>
            <a:endParaRPr lang="en-GB" sz="2400"/>
          </a:p>
        </p:txBody>
      </p:sp>
      <p:sp>
        <p:nvSpPr>
          <p:cNvPr id="149" name="Text 8">
            <a:extLst>
              <a:ext uri="{FF2B5EF4-FFF2-40B4-BE49-F238E27FC236}">
                <a16:creationId xmlns:a16="http://schemas.microsoft.com/office/drawing/2014/main" id="{CA4B3F27-B502-1AB3-F37E-E1005D024CE8}"/>
              </a:ext>
            </a:extLst>
          </p:cNvPr>
          <p:cNvSpPr/>
          <p:nvPr/>
        </p:nvSpPr>
        <p:spPr>
          <a:xfrm>
            <a:off x="1249680" y="2209668"/>
            <a:ext cx="827024" cy="438912"/>
          </a:xfrm>
          <a:prstGeom prst="rect">
            <a:avLst/>
          </a:prstGeom>
          <a:noFill/>
          <a:ln/>
        </p:spPr>
        <p:txBody>
          <a:bodyPr wrap="square" rtlCol="0" anchor="ctr"/>
          <a:lstStyle/>
          <a:p>
            <a:pPr algn="ctr"/>
            <a:r>
              <a:rPr lang="en-US" sz="1867" b="1" dirty="0">
                <a:solidFill>
                  <a:schemeClr val="bg1"/>
                </a:solidFill>
                <a:latin typeface="Calibri" pitchFamily="34" charset="0"/>
                <a:ea typeface="Calibri" pitchFamily="34" charset="-122"/>
                <a:cs typeface="Calibri" pitchFamily="34" charset="-120"/>
              </a:rPr>
              <a:t>0.682</a:t>
            </a:r>
            <a:endParaRPr lang="en-US" sz="1867" dirty="0">
              <a:solidFill>
                <a:schemeClr val="bg1"/>
              </a:solidFill>
            </a:endParaRPr>
          </a:p>
        </p:txBody>
      </p:sp>
      <p:sp>
        <p:nvSpPr>
          <p:cNvPr id="150" name="Text 9">
            <a:extLst>
              <a:ext uri="{FF2B5EF4-FFF2-40B4-BE49-F238E27FC236}">
                <a16:creationId xmlns:a16="http://schemas.microsoft.com/office/drawing/2014/main" id="{F6E45B7F-DEBD-93A2-FF5E-9C1FA370167A}"/>
              </a:ext>
            </a:extLst>
          </p:cNvPr>
          <p:cNvSpPr/>
          <p:nvPr/>
        </p:nvSpPr>
        <p:spPr>
          <a:xfrm>
            <a:off x="1249680" y="2507577"/>
            <a:ext cx="827024" cy="268224"/>
          </a:xfrm>
          <a:prstGeom prst="rect">
            <a:avLst/>
          </a:prstGeom>
          <a:noFill/>
          <a:ln/>
        </p:spPr>
        <p:txBody>
          <a:bodyPr wrap="square" rtlCol="0" anchor="ctr"/>
          <a:lstStyle/>
          <a:p>
            <a:pPr algn="ctr"/>
            <a:r>
              <a:rPr lang="en-US" sz="1133" dirty="0">
                <a:solidFill>
                  <a:schemeClr val="bg1"/>
                </a:solidFill>
                <a:latin typeface="Calibri" pitchFamily="34" charset="0"/>
                <a:ea typeface="Calibri" pitchFamily="34" charset="-122"/>
                <a:cs typeface="Calibri" pitchFamily="34" charset="-120"/>
              </a:rPr>
              <a:t>F1 Score</a:t>
            </a:r>
            <a:endParaRPr lang="en-US" sz="1133" dirty="0">
              <a:solidFill>
                <a:schemeClr val="bg1"/>
              </a:solidFill>
            </a:endParaRPr>
          </a:p>
        </p:txBody>
      </p:sp>
      <p:sp>
        <p:nvSpPr>
          <p:cNvPr id="151" name="Shape 7">
            <a:extLst>
              <a:ext uri="{FF2B5EF4-FFF2-40B4-BE49-F238E27FC236}">
                <a16:creationId xmlns:a16="http://schemas.microsoft.com/office/drawing/2014/main" id="{B5B508DF-1525-E901-5DE1-9E7462625C36}"/>
              </a:ext>
            </a:extLst>
          </p:cNvPr>
          <p:cNvSpPr/>
          <p:nvPr/>
        </p:nvSpPr>
        <p:spPr>
          <a:xfrm>
            <a:off x="2174240" y="2238927"/>
            <a:ext cx="827024" cy="514173"/>
          </a:xfrm>
          <a:prstGeom prst="roundRect">
            <a:avLst/>
          </a:prstGeom>
          <a:solidFill>
            <a:srgbClr val="42464D">
              <a:alpha val="90000"/>
            </a:srgbClr>
          </a:solidFill>
          <a:ln w="6350">
            <a:noFill/>
            <a:prstDash val="solid"/>
          </a:ln>
        </p:spPr>
        <p:txBody>
          <a:bodyPr/>
          <a:lstStyle/>
          <a:p>
            <a:endParaRPr lang="en-GB" sz="2400"/>
          </a:p>
        </p:txBody>
      </p:sp>
      <p:sp>
        <p:nvSpPr>
          <p:cNvPr id="152" name="Text 8">
            <a:extLst>
              <a:ext uri="{FF2B5EF4-FFF2-40B4-BE49-F238E27FC236}">
                <a16:creationId xmlns:a16="http://schemas.microsoft.com/office/drawing/2014/main" id="{952D151E-C031-F79C-A79E-0B4207FA6339}"/>
              </a:ext>
            </a:extLst>
          </p:cNvPr>
          <p:cNvSpPr/>
          <p:nvPr/>
        </p:nvSpPr>
        <p:spPr>
          <a:xfrm>
            <a:off x="2174240" y="2209668"/>
            <a:ext cx="827024" cy="438912"/>
          </a:xfrm>
          <a:prstGeom prst="rect">
            <a:avLst/>
          </a:prstGeom>
          <a:noFill/>
          <a:ln/>
        </p:spPr>
        <p:txBody>
          <a:bodyPr wrap="square" rtlCol="0" anchor="ctr"/>
          <a:lstStyle/>
          <a:p>
            <a:pPr algn="ctr"/>
            <a:r>
              <a:rPr lang="en-US" sz="1867" b="1" dirty="0">
                <a:solidFill>
                  <a:schemeClr val="bg1"/>
                </a:solidFill>
                <a:latin typeface="Calibri" pitchFamily="34" charset="0"/>
                <a:ea typeface="Calibri" pitchFamily="34" charset="-122"/>
                <a:cs typeface="Calibri" pitchFamily="34" charset="-120"/>
              </a:rPr>
              <a:t>0.685</a:t>
            </a:r>
            <a:endParaRPr lang="en-US" sz="1867" dirty="0">
              <a:solidFill>
                <a:schemeClr val="bg1"/>
              </a:solidFill>
            </a:endParaRPr>
          </a:p>
        </p:txBody>
      </p:sp>
      <p:sp>
        <p:nvSpPr>
          <p:cNvPr id="153" name="Text 9">
            <a:extLst>
              <a:ext uri="{FF2B5EF4-FFF2-40B4-BE49-F238E27FC236}">
                <a16:creationId xmlns:a16="http://schemas.microsoft.com/office/drawing/2014/main" id="{C8616350-E87A-894B-DD8B-58CC2BB2CA80}"/>
              </a:ext>
            </a:extLst>
          </p:cNvPr>
          <p:cNvSpPr/>
          <p:nvPr/>
        </p:nvSpPr>
        <p:spPr>
          <a:xfrm>
            <a:off x="2174240" y="2507577"/>
            <a:ext cx="827024" cy="268224"/>
          </a:xfrm>
          <a:prstGeom prst="rect">
            <a:avLst/>
          </a:prstGeom>
          <a:noFill/>
          <a:ln/>
        </p:spPr>
        <p:txBody>
          <a:bodyPr wrap="square" rtlCol="0" anchor="ctr"/>
          <a:lstStyle/>
          <a:p>
            <a:pPr algn="ctr"/>
            <a:r>
              <a:rPr lang="en-US" sz="1133" dirty="0">
                <a:solidFill>
                  <a:schemeClr val="bg1"/>
                </a:solidFill>
                <a:latin typeface="Calibri" pitchFamily="34" charset="0"/>
                <a:ea typeface="Calibri" pitchFamily="34" charset="-122"/>
                <a:cs typeface="Calibri" pitchFamily="34" charset="-120"/>
              </a:rPr>
              <a:t>Recall</a:t>
            </a:r>
            <a:endParaRPr lang="en-US" sz="1133" dirty="0">
              <a:solidFill>
                <a:schemeClr val="bg1"/>
              </a:solidFill>
            </a:endParaRPr>
          </a:p>
        </p:txBody>
      </p:sp>
      <p:sp>
        <p:nvSpPr>
          <p:cNvPr id="154" name="Shape 7">
            <a:extLst>
              <a:ext uri="{FF2B5EF4-FFF2-40B4-BE49-F238E27FC236}">
                <a16:creationId xmlns:a16="http://schemas.microsoft.com/office/drawing/2014/main" id="{2DE19896-C6D4-D600-F668-E3111E4E044D}"/>
              </a:ext>
            </a:extLst>
          </p:cNvPr>
          <p:cNvSpPr/>
          <p:nvPr/>
        </p:nvSpPr>
        <p:spPr>
          <a:xfrm>
            <a:off x="3062224" y="2238927"/>
            <a:ext cx="827024" cy="514173"/>
          </a:xfrm>
          <a:prstGeom prst="roundRect">
            <a:avLst/>
          </a:prstGeom>
          <a:solidFill>
            <a:srgbClr val="42464D">
              <a:alpha val="90000"/>
            </a:srgbClr>
          </a:solidFill>
          <a:ln w="6350">
            <a:noFill/>
            <a:prstDash val="solid"/>
          </a:ln>
        </p:spPr>
        <p:txBody>
          <a:bodyPr/>
          <a:lstStyle/>
          <a:p>
            <a:endParaRPr lang="en-GB" sz="2400"/>
          </a:p>
        </p:txBody>
      </p:sp>
      <p:sp>
        <p:nvSpPr>
          <p:cNvPr id="155" name="Text 8">
            <a:extLst>
              <a:ext uri="{FF2B5EF4-FFF2-40B4-BE49-F238E27FC236}">
                <a16:creationId xmlns:a16="http://schemas.microsoft.com/office/drawing/2014/main" id="{4EED4004-6DC8-B38F-BABA-3BD9B8A7FE0C}"/>
              </a:ext>
            </a:extLst>
          </p:cNvPr>
          <p:cNvSpPr/>
          <p:nvPr/>
        </p:nvSpPr>
        <p:spPr>
          <a:xfrm>
            <a:off x="3062224" y="2209668"/>
            <a:ext cx="827024" cy="438912"/>
          </a:xfrm>
          <a:prstGeom prst="rect">
            <a:avLst/>
          </a:prstGeom>
          <a:noFill/>
          <a:ln/>
        </p:spPr>
        <p:txBody>
          <a:bodyPr wrap="square" rtlCol="0" anchor="ctr"/>
          <a:lstStyle/>
          <a:p>
            <a:pPr algn="ctr"/>
            <a:r>
              <a:rPr lang="en-US" sz="1867" b="1" dirty="0">
                <a:solidFill>
                  <a:srgbClr val="E8ECF4"/>
                </a:solidFill>
                <a:latin typeface="Calibri" pitchFamily="34" charset="0"/>
                <a:ea typeface="Calibri" pitchFamily="34" charset="-122"/>
                <a:cs typeface="Calibri" pitchFamily="34" charset="-120"/>
              </a:rPr>
              <a:t>0.679</a:t>
            </a:r>
            <a:endParaRPr lang="en-US" sz="1867" dirty="0"/>
          </a:p>
        </p:txBody>
      </p:sp>
      <p:sp>
        <p:nvSpPr>
          <p:cNvPr id="156" name="Text 9">
            <a:extLst>
              <a:ext uri="{FF2B5EF4-FFF2-40B4-BE49-F238E27FC236}">
                <a16:creationId xmlns:a16="http://schemas.microsoft.com/office/drawing/2014/main" id="{A30FE154-5134-E2D5-8B97-A613223182C4}"/>
              </a:ext>
            </a:extLst>
          </p:cNvPr>
          <p:cNvSpPr/>
          <p:nvPr/>
        </p:nvSpPr>
        <p:spPr>
          <a:xfrm>
            <a:off x="3062224" y="2507577"/>
            <a:ext cx="827024" cy="268224"/>
          </a:xfrm>
          <a:prstGeom prst="rect">
            <a:avLst/>
          </a:prstGeom>
          <a:noFill/>
          <a:ln/>
        </p:spPr>
        <p:txBody>
          <a:bodyPr wrap="square" rtlCol="0" anchor="ctr"/>
          <a:lstStyle/>
          <a:p>
            <a:pPr algn="ctr"/>
            <a:r>
              <a:rPr lang="en-US" sz="1133" dirty="0">
                <a:solidFill>
                  <a:schemeClr val="bg1"/>
                </a:solidFill>
                <a:latin typeface="Calibri" pitchFamily="34" charset="0"/>
                <a:ea typeface="Calibri" pitchFamily="34" charset="-122"/>
                <a:cs typeface="Calibri" pitchFamily="34" charset="-120"/>
              </a:rPr>
              <a:t>Precision</a:t>
            </a:r>
            <a:endParaRPr lang="en-US" sz="1133" dirty="0">
              <a:solidFill>
                <a:schemeClr val="bg1"/>
              </a:solidFill>
            </a:endParaRPr>
          </a:p>
        </p:txBody>
      </p:sp>
      <p:pic>
        <p:nvPicPr>
          <p:cNvPr id="1026" name="Picture 2">
            <a:extLst>
              <a:ext uri="{FF2B5EF4-FFF2-40B4-BE49-F238E27FC236}">
                <a16:creationId xmlns:a16="http://schemas.microsoft.com/office/drawing/2014/main" id="{DFABD145-7C19-C1AC-8D0B-2EC3F35AA48F}"/>
              </a:ext>
            </a:extLst>
          </p:cNvPr>
          <p:cNvPicPr>
            <a:picLocks noChangeAspect="1" noChangeArrowheads="1"/>
          </p:cNvPicPr>
          <p:nvPr/>
        </p:nvPicPr>
        <p:blipFill>
          <a:blip r:embed="rId3"/>
          <a:srcRect/>
          <a:stretch/>
        </p:blipFill>
        <p:spPr bwMode="auto">
          <a:xfrm>
            <a:off x="355776" y="4649837"/>
            <a:ext cx="3521281" cy="2006995"/>
          </a:xfrm>
          <a:prstGeom prst="rect">
            <a:avLst/>
          </a:prstGeom>
          <a:noFill/>
          <a:extLst>
            <a:ext uri="{909E8E84-426E-40DD-AFC4-6F175D3DCCD1}">
              <a14:hiddenFill xmlns:a14="http://schemas.microsoft.com/office/drawing/2010/main">
                <a:solidFill>
                  <a:srgbClr val="FFFFFF"/>
                </a:solidFill>
              </a14:hiddenFill>
            </a:ext>
          </a:extLst>
        </p:spPr>
      </p:pic>
      <p:sp>
        <p:nvSpPr>
          <p:cNvPr id="20" name="Text 20">
            <a:extLst>
              <a:ext uri="{FF2B5EF4-FFF2-40B4-BE49-F238E27FC236}">
                <a16:creationId xmlns:a16="http://schemas.microsoft.com/office/drawing/2014/main" id="{2D793D67-79BD-1CE6-5538-2544515BC1D4}"/>
              </a:ext>
            </a:extLst>
          </p:cNvPr>
          <p:cNvSpPr/>
          <p:nvPr/>
        </p:nvSpPr>
        <p:spPr>
          <a:xfrm>
            <a:off x="341376" y="4364736"/>
            <a:ext cx="3535680" cy="268224"/>
          </a:xfrm>
          <a:prstGeom prst="rect">
            <a:avLst/>
          </a:prstGeom>
          <a:noFill/>
          <a:ln/>
        </p:spPr>
        <p:txBody>
          <a:bodyPr wrap="square" rtlCol="0" anchor="ctr"/>
          <a:lstStyle/>
          <a:p>
            <a:r>
              <a:rPr lang="en-US" sz="1000" b="1" kern="0" spc="267" dirty="0">
                <a:solidFill>
                  <a:srgbClr val="CC3232"/>
                </a:solidFill>
                <a:latin typeface="Calibri" pitchFamily="34" charset="0"/>
                <a:ea typeface="Calibri" pitchFamily="34" charset="-122"/>
                <a:cs typeface="Calibri" pitchFamily="34" charset="-120"/>
              </a:rPr>
              <a:t>ROC CURVE</a:t>
            </a:r>
            <a:endParaRPr lang="en-US" sz="1000" dirty="0">
              <a:solidFill>
                <a:srgbClr val="CC3232"/>
              </a:solidFill>
            </a:endParaRPr>
          </a:p>
        </p:txBody>
      </p:sp>
      <p:sp>
        <p:nvSpPr>
          <p:cNvPr id="29" name="Rectangle: Rounded Corners 28">
            <a:extLst>
              <a:ext uri="{FF2B5EF4-FFF2-40B4-BE49-F238E27FC236}">
                <a16:creationId xmlns:a16="http://schemas.microsoft.com/office/drawing/2014/main" id="{3A37D2DD-33CC-0B05-EA53-A1DC4B0461C2}"/>
              </a:ext>
            </a:extLst>
          </p:cNvPr>
          <p:cNvSpPr/>
          <p:nvPr/>
        </p:nvSpPr>
        <p:spPr>
          <a:xfrm>
            <a:off x="1028700" y="5169409"/>
            <a:ext cx="673101" cy="177631"/>
          </a:xfrm>
          <a:prstGeom prst="roundRect">
            <a:avLst/>
          </a:prstGeom>
          <a:noFill/>
          <a:ln w="9525">
            <a:solidFill>
              <a:srgbClr val="3ECF8E"/>
            </a:solidFill>
          </a:ln>
        </p:spPr>
        <p:style>
          <a:lnRef idx="2">
            <a:schemeClr val="accent1">
              <a:shade val="15000"/>
            </a:schemeClr>
          </a:lnRef>
          <a:fillRef idx="1">
            <a:schemeClr val="accent1"/>
          </a:fillRef>
          <a:effectRef idx="0">
            <a:schemeClr val="accent1"/>
          </a:effectRef>
          <a:fontRef idx="minor">
            <a:schemeClr val="lt1"/>
          </a:fontRef>
        </p:style>
        <p:txBody>
          <a:bodyPr lIns="24000" rIns="0" rtlCol="0" anchor="ctr"/>
          <a:lstStyle/>
          <a:p>
            <a:r>
              <a:rPr lang="en-GB" sz="800" b="1" dirty="0"/>
              <a:t>0.25 threshold</a:t>
            </a:r>
          </a:p>
        </p:txBody>
      </p:sp>
      <p:sp>
        <p:nvSpPr>
          <p:cNvPr id="31" name="Rectangle: Rounded Corners 30">
            <a:extLst>
              <a:ext uri="{FF2B5EF4-FFF2-40B4-BE49-F238E27FC236}">
                <a16:creationId xmlns:a16="http://schemas.microsoft.com/office/drawing/2014/main" id="{C34A810F-D293-C3BF-4D33-D1D2D2139486}"/>
              </a:ext>
            </a:extLst>
          </p:cNvPr>
          <p:cNvSpPr/>
          <p:nvPr/>
        </p:nvSpPr>
        <p:spPr>
          <a:xfrm>
            <a:off x="1931162" y="5986273"/>
            <a:ext cx="673101" cy="177631"/>
          </a:xfrm>
          <a:prstGeom prst="roundRect">
            <a:avLst/>
          </a:prstGeom>
          <a:noFill/>
          <a:ln w="952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24000" rIns="0" rtlCol="0" anchor="ctr"/>
          <a:lstStyle/>
          <a:p>
            <a:pPr algn="ctr"/>
            <a:r>
              <a:rPr lang="en-GB" sz="800" b="1" dirty="0"/>
              <a:t>AUC = 0.910</a:t>
            </a:r>
          </a:p>
        </p:txBody>
      </p:sp>
      <p:sp>
        <p:nvSpPr>
          <p:cNvPr id="33" name="Text 22">
            <a:extLst>
              <a:ext uri="{FF2B5EF4-FFF2-40B4-BE49-F238E27FC236}">
                <a16:creationId xmlns:a16="http://schemas.microsoft.com/office/drawing/2014/main" id="{74B4EAD7-115C-53E7-B591-256788716ED8}"/>
              </a:ext>
            </a:extLst>
          </p:cNvPr>
          <p:cNvSpPr/>
          <p:nvPr/>
        </p:nvSpPr>
        <p:spPr>
          <a:xfrm>
            <a:off x="8308239" y="679196"/>
            <a:ext cx="3474720" cy="268224"/>
          </a:xfrm>
          <a:prstGeom prst="rect">
            <a:avLst/>
          </a:prstGeom>
          <a:noFill/>
          <a:ln/>
        </p:spPr>
        <p:txBody>
          <a:bodyPr wrap="square" rtlCol="0" anchor="ctr"/>
          <a:lstStyle/>
          <a:p>
            <a:r>
              <a:rPr lang="en-US" sz="1000" b="1" kern="0" spc="267" dirty="0">
                <a:solidFill>
                  <a:srgbClr val="CC3232"/>
                </a:solidFill>
                <a:latin typeface="Calibri" pitchFamily="34" charset="0"/>
                <a:ea typeface="Calibri" pitchFamily="34" charset="-122"/>
                <a:cs typeface="Calibri" pitchFamily="34" charset="-120"/>
              </a:rPr>
              <a:t>FEATURES &amp; PRE-PROCESSING</a:t>
            </a:r>
            <a:endParaRPr lang="en-US" sz="1000" dirty="0">
              <a:solidFill>
                <a:srgbClr val="CC3232"/>
              </a:solidFill>
            </a:endParaRPr>
          </a:p>
        </p:txBody>
      </p:sp>
      <p:grpSp>
        <p:nvGrpSpPr>
          <p:cNvPr id="35" name="Group 34">
            <a:extLst>
              <a:ext uri="{FF2B5EF4-FFF2-40B4-BE49-F238E27FC236}">
                <a16:creationId xmlns:a16="http://schemas.microsoft.com/office/drawing/2014/main" id="{9EC8048F-FFCC-3692-6E34-FE04D657DE7E}"/>
              </a:ext>
            </a:extLst>
          </p:cNvPr>
          <p:cNvGrpSpPr/>
          <p:nvPr/>
        </p:nvGrpSpPr>
        <p:grpSpPr>
          <a:xfrm>
            <a:off x="8361676" y="964928"/>
            <a:ext cx="3584445" cy="402336"/>
            <a:chOff x="6309360" y="723696"/>
            <a:chExt cx="2688334" cy="301752"/>
          </a:xfrm>
        </p:grpSpPr>
        <p:sp>
          <p:nvSpPr>
            <p:cNvPr id="74" name="Text 71">
              <a:extLst>
                <a:ext uri="{FF2B5EF4-FFF2-40B4-BE49-F238E27FC236}">
                  <a16:creationId xmlns:a16="http://schemas.microsoft.com/office/drawing/2014/main" id="{D67E3BDB-7E51-717D-77C8-40DBE8D64029}"/>
                </a:ext>
              </a:extLst>
            </p:cNvPr>
            <p:cNvSpPr/>
            <p:nvPr/>
          </p:nvSpPr>
          <p:spPr>
            <a:xfrm>
              <a:off x="6419087" y="842568"/>
              <a:ext cx="2578607" cy="182880"/>
            </a:xfrm>
            <a:prstGeom prst="rect">
              <a:avLst/>
            </a:prstGeom>
            <a:noFill/>
            <a:ln/>
          </p:spPr>
          <p:txBody>
            <a:bodyPr wrap="square" lIns="24000" rtlCol="0" anchor="ctr"/>
            <a:lstStyle/>
            <a:p>
              <a:r>
                <a:rPr lang="en-US" sz="1000" dirty="0">
                  <a:latin typeface="Calibri" pitchFamily="34" charset="0"/>
                  <a:ea typeface="Calibri" pitchFamily="34" charset="-122"/>
                  <a:cs typeface="Calibri" pitchFamily="34" charset="-120"/>
                </a:rPr>
                <a:t>cough, fever, sore_throat, shortness_of_breath, head_ache</a:t>
              </a:r>
              <a:endParaRPr lang="en-US" sz="1000" dirty="0"/>
            </a:p>
          </p:txBody>
        </p:sp>
        <p:sp>
          <p:nvSpPr>
            <p:cNvPr id="87" name="Shape 84">
              <a:extLst>
                <a:ext uri="{FF2B5EF4-FFF2-40B4-BE49-F238E27FC236}">
                  <a16:creationId xmlns:a16="http://schemas.microsoft.com/office/drawing/2014/main" id="{B767BE3A-572F-F985-7765-298D0277B6FA}"/>
                </a:ext>
              </a:extLst>
            </p:cNvPr>
            <p:cNvSpPr/>
            <p:nvPr/>
          </p:nvSpPr>
          <p:spPr>
            <a:xfrm>
              <a:off x="6309360" y="749807"/>
              <a:ext cx="54864" cy="271653"/>
            </a:xfrm>
            <a:prstGeom prst="rect">
              <a:avLst/>
            </a:prstGeom>
            <a:solidFill>
              <a:srgbClr val="4F8EF7"/>
            </a:solidFill>
            <a:ln w="12700">
              <a:solidFill>
                <a:srgbClr val="4F8EF7"/>
              </a:solidFill>
              <a:prstDash val="solid"/>
            </a:ln>
          </p:spPr>
          <p:txBody>
            <a:bodyPr/>
            <a:lstStyle/>
            <a:p>
              <a:endParaRPr lang="en-GB" sz="2400"/>
            </a:p>
          </p:txBody>
        </p:sp>
        <p:sp>
          <p:nvSpPr>
            <p:cNvPr id="34" name="Text 70">
              <a:extLst>
                <a:ext uri="{FF2B5EF4-FFF2-40B4-BE49-F238E27FC236}">
                  <a16:creationId xmlns:a16="http://schemas.microsoft.com/office/drawing/2014/main" id="{3EFFB37E-E1F5-D249-D227-D97143B7765D}"/>
                </a:ext>
              </a:extLst>
            </p:cNvPr>
            <p:cNvSpPr/>
            <p:nvPr/>
          </p:nvSpPr>
          <p:spPr>
            <a:xfrm>
              <a:off x="6419088" y="723696"/>
              <a:ext cx="2468880" cy="164592"/>
            </a:xfrm>
            <a:prstGeom prst="rect">
              <a:avLst/>
            </a:prstGeom>
            <a:noFill/>
            <a:ln/>
          </p:spPr>
          <p:txBody>
            <a:bodyPr wrap="square" lIns="24000" rtlCol="0" anchor="ctr"/>
            <a:lstStyle/>
            <a:p>
              <a:r>
                <a:rPr lang="en-US" sz="1133" b="1" dirty="0">
                  <a:solidFill>
                    <a:srgbClr val="66686A"/>
                  </a:solidFill>
                  <a:latin typeface="Calibri" pitchFamily="34" charset="0"/>
                  <a:ea typeface="Calibri" pitchFamily="34" charset="-122"/>
                  <a:cs typeface="Calibri" pitchFamily="34" charset="-120"/>
                </a:rPr>
                <a:t>Symptoms – Raw Boolean values</a:t>
              </a:r>
              <a:endParaRPr lang="en-US" sz="1133" dirty="0">
                <a:solidFill>
                  <a:srgbClr val="66686A"/>
                </a:solidFill>
              </a:endParaRPr>
            </a:p>
          </p:txBody>
        </p:sp>
      </p:grpSp>
      <p:grpSp>
        <p:nvGrpSpPr>
          <p:cNvPr id="36" name="Group 35">
            <a:extLst>
              <a:ext uri="{FF2B5EF4-FFF2-40B4-BE49-F238E27FC236}">
                <a16:creationId xmlns:a16="http://schemas.microsoft.com/office/drawing/2014/main" id="{7456ADD6-4513-A311-59C5-C57691D1F220}"/>
              </a:ext>
            </a:extLst>
          </p:cNvPr>
          <p:cNvGrpSpPr/>
          <p:nvPr/>
        </p:nvGrpSpPr>
        <p:grpSpPr>
          <a:xfrm>
            <a:off x="8361676" y="1472068"/>
            <a:ext cx="3584445" cy="402336"/>
            <a:chOff x="6309360" y="723696"/>
            <a:chExt cx="2688334" cy="301752"/>
          </a:xfrm>
        </p:grpSpPr>
        <p:sp>
          <p:nvSpPr>
            <p:cNvPr id="37" name="Text 71">
              <a:extLst>
                <a:ext uri="{FF2B5EF4-FFF2-40B4-BE49-F238E27FC236}">
                  <a16:creationId xmlns:a16="http://schemas.microsoft.com/office/drawing/2014/main" id="{8C503A2B-4036-D784-B3AC-7E6D9660E80B}"/>
                </a:ext>
              </a:extLst>
            </p:cNvPr>
            <p:cNvSpPr/>
            <p:nvPr/>
          </p:nvSpPr>
          <p:spPr>
            <a:xfrm>
              <a:off x="6419087" y="842568"/>
              <a:ext cx="2578607" cy="182880"/>
            </a:xfrm>
            <a:prstGeom prst="rect">
              <a:avLst/>
            </a:prstGeom>
            <a:noFill/>
            <a:ln/>
          </p:spPr>
          <p:txBody>
            <a:bodyPr wrap="square" lIns="24000" rtlCol="0" anchor="ctr"/>
            <a:lstStyle/>
            <a:p>
              <a:r>
                <a:rPr lang="en-US" sz="1000" dirty="0">
                  <a:latin typeface="Calibri" pitchFamily="34" charset="0"/>
                  <a:ea typeface="Calibri" pitchFamily="34" charset="-122"/>
                  <a:cs typeface="Calibri" pitchFamily="34" charset="-120"/>
                </a:rPr>
                <a:t>age_60_and_above, male</a:t>
              </a:r>
              <a:endParaRPr lang="en-US" sz="1000" dirty="0"/>
            </a:p>
          </p:txBody>
        </p:sp>
        <p:sp>
          <p:nvSpPr>
            <p:cNvPr id="38" name="Shape 84">
              <a:extLst>
                <a:ext uri="{FF2B5EF4-FFF2-40B4-BE49-F238E27FC236}">
                  <a16:creationId xmlns:a16="http://schemas.microsoft.com/office/drawing/2014/main" id="{EAFD2683-B7CF-62F1-43E1-C6BDAA454481}"/>
                </a:ext>
              </a:extLst>
            </p:cNvPr>
            <p:cNvSpPr/>
            <p:nvPr/>
          </p:nvSpPr>
          <p:spPr>
            <a:xfrm>
              <a:off x="6309360" y="749807"/>
              <a:ext cx="54864" cy="271653"/>
            </a:xfrm>
            <a:prstGeom prst="rect">
              <a:avLst/>
            </a:prstGeom>
            <a:solidFill>
              <a:srgbClr val="4F8EF7"/>
            </a:solidFill>
            <a:ln w="12700">
              <a:solidFill>
                <a:srgbClr val="4F8EF7"/>
              </a:solidFill>
              <a:prstDash val="solid"/>
            </a:ln>
          </p:spPr>
          <p:txBody>
            <a:bodyPr/>
            <a:lstStyle/>
            <a:p>
              <a:endParaRPr lang="en-GB" sz="2400"/>
            </a:p>
          </p:txBody>
        </p:sp>
        <p:sp>
          <p:nvSpPr>
            <p:cNvPr id="39" name="Text 70">
              <a:extLst>
                <a:ext uri="{FF2B5EF4-FFF2-40B4-BE49-F238E27FC236}">
                  <a16:creationId xmlns:a16="http://schemas.microsoft.com/office/drawing/2014/main" id="{2080845F-8991-5536-C17F-74BF43E4C9BC}"/>
                </a:ext>
              </a:extLst>
            </p:cNvPr>
            <p:cNvSpPr/>
            <p:nvPr/>
          </p:nvSpPr>
          <p:spPr>
            <a:xfrm>
              <a:off x="6419088" y="723696"/>
              <a:ext cx="2468880" cy="164592"/>
            </a:xfrm>
            <a:prstGeom prst="rect">
              <a:avLst/>
            </a:prstGeom>
            <a:noFill/>
            <a:ln/>
          </p:spPr>
          <p:txBody>
            <a:bodyPr wrap="square" lIns="24000" rtlCol="0" anchor="ctr"/>
            <a:lstStyle/>
            <a:p>
              <a:r>
                <a:rPr lang="en-US" sz="1133" b="1" dirty="0">
                  <a:solidFill>
                    <a:srgbClr val="66686A"/>
                  </a:solidFill>
                  <a:latin typeface="Calibri" pitchFamily="34" charset="0"/>
                  <a:ea typeface="Calibri" pitchFamily="34" charset="-122"/>
                  <a:cs typeface="Calibri" pitchFamily="34" charset="-120"/>
                </a:rPr>
                <a:t>Demographic - Filled nulls</a:t>
              </a:r>
              <a:endParaRPr lang="en-US" sz="1133" dirty="0">
                <a:solidFill>
                  <a:srgbClr val="66686A"/>
                </a:solidFill>
              </a:endParaRPr>
            </a:p>
          </p:txBody>
        </p:sp>
      </p:grpSp>
      <p:grpSp>
        <p:nvGrpSpPr>
          <p:cNvPr id="40" name="Group 39">
            <a:extLst>
              <a:ext uri="{FF2B5EF4-FFF2-40B4-BE49-F238E27FC236}">
                <a16:creationId xmlns:a16="http://schemas.microsoft.com/office/drawing/2014/main" id="{A3B992A0-66CB-68B5-F09D-E0AC40B4C837}"/>
              </a:ext>
            </a:extLst>
          </p:cNvPr>
          <p:cNvGrpSpPr/>
          <p:nvPr/>
        </p:nvGrpSpPr>
        <p:grpSpPr>
          <a:xfrm>
            <a:off x="8361676" y="2486348"/>
            <a:ext cx="3828283" cy="402336"/>
            <a:chOff x="6309360" y="723696"/>
            <a:chExt cx="2871212" cy="301752"/>
          </a:xfrm>
        </p:grpSpPr>
        <p:sp>
          <p:nvSpPr>
            <p:cNvPr id="41" name="Text 71">
              <a:extLst>
                <a:ext uri="{FF2B5EF4-FFF2-40B4-BE49-F238E27FC236}">
                  <a16:creationId xmlns:a16="http://schemas.microsoft.com/office/drawing/2014/main" id="{14CA6F94-5632-1B1D-C508-8B63FBBF5115}"/>
                </a:ext>
              </a:extLst>
            </p:cNvPr>
            <p:cNvSpPr/>
            <p:nvPr/>
          </p:nvSpPr>
          <p:spPr>
            <a:xfrm>
              <a:off x="6419087" y="842568"/>
              <a:ext cx="2578607" cy="182880"/>
            </a:xfrm>
            <a:prstGeom prst="rect">
              <a:avLst/>
            </a:prstGeom>
            <a:noFill/>
            <a:ln/>
          </p:spPr>
          <p:txBody>
            <a:bodyPr wrap="square" lIns="24000" rtlCol="0" anchor="ctr"/>
            <a:lstStyle/>
            <a:p>
              <a:r>
                <a:rPr lang="en-US" sz="1000" dirty="0">
                  <a:latin typeface="Calibri" pitchFamily="34" charset="0"/>
                  <a:ea typeface="Calibri" pitchFamily="34" charset="-122"/>
                  <a:cs typeface="Calibri" pitchFamily="34" charset="-120"/>
                </a:rPr>
                <a:t>contact_confirmed, abroad</a:t>
              </a:r>
              <a:endParaRPr lang="en-US" sz="1000" dirty="0"/>
            </a:p>
          </p:txBody>
        </p:sp>
        <p:sp>
          <p:nvSpPr>
            <p:cNvPr id="42" name="Shape 84">
              <a:extLst>
                <a:ext uri="{FF2B5EF4-FFF2-40B4-BE49-F238E27FC236}">
                  <a16:creationId xmlns:a16="http://schemas.microsoft.com/office/drawing/2014/main" id="{3D051AD4-6735-A7A4-8216-44D87012C3A6}"/>
                </a:ext>
              </a:extLst>
            </p:cNvPr>
            <p:cNvSpPr/>
            <p:nvPr/>
          </p:nvSpPr>
          <p:spPr>
            <a:xfrm>
              <a:off x="6309360" y="749807"/>
              <a:ext cx="54864" cy="271653"/>
            </a:xfrm>
            <a:prstGeom prst="rect">
              <a:avLst/>
            </a:prstGeom>
            <a:solidFill>
              <a:srgbClr val="4F8EF7"/>
            </a:solidFill>
            <a:ln w="12700">
              <a:solidFill>
                <a:srgbClr val="4F8EF7"/>
              </a:solidFill>
              <a:prstDash val="solid"/>
            </a:ln>
          </p:spPr>
          <p:txBody>
            <a:bodyPr/>
            <a:lstStyle/>
            <a:p>
              <a:endParaRPr lang="en-GB" sz="2400"/>
            </a:p>
          </p:txBody>
        </p:sp>
        <p:sp>
          <p:nvSpPr>
            <p:cNvPr id="43" name="Text 70">
              <a:extLst>
                <a:ext uri="{FF2B5EF4-FFF2-40B4-BE49-F238E27FC236}">
                  <a16:creationId xmlns:a16="http://schemas.microsoft.com/office/drawing/2014/main" id="{EA52083C-475B-D819-CA9A-C83C2F733FEF}"/>
                </a:ext>
              </a:extLst>
            </p:cNvPr>
            <p:cNvSpPr/>
            <p:nvPr/>
          </p:nvSpPr>
          <p:spPr>
            <a:xfrm>
              <a:off x="6419087" y="723696"/>
              <a:ext cx="2761485" cy="164592"/>
            </a:xfrm>
            <a:prstGeom prst="rect">
              <a:avLst/>
            </a:prstGeom>
            <a:noFill/>
            <a:ln/>
          </p:spPr>
          <p:txBody>
            <a:bodyPr wrap="square" lIns="24000" rtlCol="0" anchor="ctr"/>
            <a:lstStyle/>
            <a:p>
              <a:r>
                <a:rPr lang="en-US" sz="1133" b="1" dirty="0">
                  <a:solidFill>
                    <a:srgbClr val="66686A"/>
                  </a:solidFill>
                  <a:latin typeface="Calibri" pitchFamily="34" charset="0"/>
                  <a:ea typeface="Calibri" pitchFamily="34" charset="-122"/>
                  <a:cs typeface="Calibri" pitchFamily="34" charset="-120"/>
                </a:rPr>
                <a:t>Indicators - Extracted confirmed contact and abroad status</a:t>
              </a:r>
              <a:endParaRPr lang="en-US" sz="1133" dirty="0">
                <a:solidFill>
                  <a:srgbClr val="66686A"/>
                </a:solidFill>
              </a:endParaRPr>
            </a:p>
          </p:txBody>
        </p:sp>
      </p:grpSp>
      <p:grpSp>
        <p:nvGrpSpPr>
          <p:cNvPr id="44" name="Group 43">
            <a:extLst>
              <a:ext uri="{FF2B5EF4-FFF2-40B4-BE49-F238E27FC236}">
                <a16:creationId xmlns:a16="http://schemas.microsoft.com/office/drawing/2014/main" id="{3B36DCAA-42A7-75CB-D51A-0E2259CFC55F}"/>
              </a:ext>
            </a:extLst>
          </p:cNvPr>
          <p:cNvGrpSpPr/>
          <p:nvPr/>
        </p:nvGrpSpPr>
        <p:grpSpPr>
          <a:xfrm>
            <a:off x="8361676" y="2993487"/>
            <a:ext cx="3828283" cy="518303"/>
            <a:chOff x="6309360" y="711756"/>
            <a:chExt cx="2871212" cy="388727"/>
          </a:xfrm>
        </p:grpSpPr>
        <p:sp>
          <p:nvSpPr>
            <p:cNvPr id="45" name="Text 71">
              <a:extLst>
                <a:ext uri="{FF2B5EF4-FFF2-40B4-BE49-F238E27FC236}">
                  <a16:creationId xmlns:a16="http://schemas.microsoft.com/office/drawing/2014/main" id="{039F35A4-39D6-FBF7-1645-CB8CE809BDFE}"/>
                </a:ext>
              </a:extLst>
            </p:cNvPr>
            <p:cNvSpPr/>
            <p:nvPr/>
          </p:nvSpPr>
          <p:spPr>
            <a:xfrm>
              <a:off x="6419087" y="917603"/>
              <a:ext cx="2578607" cy="182880"/>
            </a:xfrm>
            <a:prstGeom prst="rect">
              <a:avLst/>
            </a:prstGeom>
            <a:noFill/>
            <a:ln/>
          </p:spPr>
          <p:txBody>
            <a:bodyPr wrap="square" lIns="24000" rtlCol="0" anchor="ctr"/>
            <a:lstStyle/>
            <a:p>
              <a:r>
                <a:rPr lang="en-US" sz="1000" dirty="0">
                  <a:latin typeface="Calibri" pitchFamily="34" charset="0"/>
                  <a:ea typeface="Calibri" pitchFamily="34" charset="-122"/>
                  <a:cs typeface="Calibri" pitchFamily="34" charset="-120"/>
                </a:rPr>
                <a:t>num_symptoms, 10x combinations of symptom features</a:t>
              </a:r>
              <a:endParaRPr lang="en-US" sz="1000" dirty="0"/>
            </a:p>
          </p:txBody>
        </p:sp>
        <p:sp>
          <p:nvSpPr>
            <p:cNvPr id="46" name="Shape 84">
              <a:extLst>
                <a:ext uri="{FF2B5EF4-FFF2-40B4-BE49-F238E27FC236}">
                  <a16:creationId xmlns:a16="http://schemas.microsoft.com/office/drawing/2014/main" id="{E1507A59-A9F7-4E46-F84B-27572B98A9DF}"/>
                </a:ext>
              </a:extLst>
            </p:cNvPr>
            <p:cNvSpPr/>
            <p:nvPr/>
          </p:nvSpPr>
          <p:spPr>
            <a:xfrm>
              <a:off x="6309360" y="711756"/>
              <a:ext cx="54864" cy="370365"/>
            </a:xfrm>
            <a:prstGeom prst="rect">
              <a:avLst/>
            </a:prstGeom>
            <a:solidFill>
              <a:srgbClr val="4F8EF7"/>
            </a:solidFill>
            <a:ln w="12700">
              <a:solidFill>
                <a:srgbClr val="4F8EF7"/>
              </a:solidFill>
              <a:prstDash val="solid"/>
            </a:ln>
          </p:spPr>
          <p:txBody>
            <a:bodyPr/>
            <a:lstStyle/>
            <a:p>
              <a:endParaRPr lang="en-GB" sz="2400"/>
            </a:p>
          </p:txBody>
        </p:sp>
        <p:sp>
          <p:nvSpPr>
            <p:cNvPr id="47" name="Text 70">
              <a:extLst>
                <a:ext uri="{FF2B5EF4-FFF2-40B4-BE49-F238E27FC236}">
                  <a16:creationId xmlns:a16="http://schemas.microsoft.com/office/drawing/2014/main" id="{38CB2D9F-4C11-72DE-FE90-A6D6BBBDC8CD}"/>
                </a:ext>
              </a:extLst>
            </p:cNvPr>
            <p:cNvSpPr/>
            <p:nvPr/>
          </p:nvSpPr>
          <p:spPr>
            <a:xfrm>
              <a:off x="6419087" y="723696"/>
              <a:ext cx="2761485" cy="164592"/>
            </a:xfrm>
            <a:prstGeom prst="rect">
              <a:avLst/>
            </a:prstGeom>
            <a:noFill/>
            <a:ln/>
          </p:spPr>
          <p:txBody>
            <a:bodyPr wrap="square" lIns="24000" rtlCol="0" anchor="ctr"/>
            <a:lstStyle/>
            <a:p>
              <a:r>
                <a:rPr lang="en-US" sz="1133" b="1" dirty="0">
                  <a:solidFill>
                    <a:srgbClr val="66686A"/>
                  </a:solidFill>
                  <a:latin typeface="Calibri" pitchFamily="34" charset="0"/>
                  <a:ea typeface="Calibri" pitchFamily="34" charset="-122"/>
                  <a:cs typeface="Calibri" pitchFamily="34" charset="-120"/>
                </a:rPr>
                <a:t>Symptom Combinations - Boolean values for each combination and a count of total symptoms</a:t>
              </a:r>
              <a:endParaRPr lang="en-US" sz="1133" dirty="0">
                <a:solidFill>
                  <a:srgbClr val="66686A"/>
                </a:solidFill>
              </a:endParaRPr>
            </a:p>
          </p:txBody>
        </p:sp>
      </p:grpSp>
      <p:grpSp>
        <p:nvGrpSpPr>
          <p:cNvPr id="48" name="Group 47">
            <a:extLst>
              <a:ext uri="{FF2B5EF4-FFF2-40B4-BE49-F238E27FC236}">
                <a16:creationId xmlns:a16="http://schemas.microsoft.com/office/drawing/2014/main" id="{8D3E2EE9-6843-4C97-57B5-C27D94F42146}"/>
              </a:ext>
            </a:extLst>
          </p:cNvPr>
          <p:cNvGrpSpPr/>
          <p:nvPr/>
        </p:nvGrpSpPr>
        <p:grpSpPr>
          <a:xfrm>
            <a:off x="8361676" y="1979208"/>
            <a:ext cx="3828283" cy="402336"/>
            <a:chOff x="6309360" y="723696"/>
            <a:chExt cx="2871212" cy="301752"/>
          </a:xfrm>
        </p:grpSpPr>
        <p:sp>
          <p:nvSpPr>
            <p:cNvPr id="49" name="Text 71">
              <a:extLst>
                <a:ext uri="{FF2B5EF4-FFF2-40B4-BE49-F238E27FC236}">
                  <a16:creationId xmlns:a16="http://schemas.microsoft.com/office/drawing/2014/main" id="{9D0AADA9-A46A-585A-6A20-6DE7B432A5B6}"/>
                </a:ext>
              </a:extLst>
            </p:cNvPr>
            <p:cNvSpPr/>
            <p:nvPr/>
          </p:nvSpPr>
          <p:spPr>
            <a:xfrm>
              <a:off x="6419087" y="842568"/>
              <a:ext cx="2578607" cy="182880"/>
            </a:xfrm>
            <a:prstGeom prst="rect">
              <a:avLst/>
            </a:prstGeom>
            <a:noFill/>
            <a:ln/>
          </p:spPr>
          <p:txBody>
            <a:bodyPr wrap="square" lIns="24000" rtlCol="0" anchor="ctr"/>
            <a:lstStyle/>
            <a:p>
              <a:r>
                <a:rPr lang="en-US" sz="1000" dirty="0">
                  <a:latin typeface="Calibri" pitchFamily="34" charset="0"/>
                  <a:ea typeface="Calibri" pitchFamily="34" charset="-122"/>
                  <a:cs typeface="Calibri" pitchFamily="34" charset="-120"/>
                </a:rPr>
                <a:t>date_ord</a:t>
              </a:r>
              <a:endParaRPr lang="en-US" sz="1000" dirty="0"/>
            </a:p>
          </p:txBody>
        </p:sp>
        <p:sp>
          <p:nvSpPr>
            <p:cNvPr id="50" name="Shape 84">
              <a:extLst>
                <a:ext uri="{FF2B5EF4-FFF2-40B4-BE49-F238E27FC236}">
                  <a16:creationId xmlns:a16="http://schemas.microsoft.com/office/drawing/2014/main" id="{4D20894E-E638-CE3D-705D-BA89DADADAEE}"/>
                </a:ext>
              </a:extLst>
            </p:cNvPr>
            <p:cNvSpPr/>
            <p:nvPr/>
          </p:nvSpPr>
          <p:spPr>
            <a:xfrm>
              <a:off x="6309360" y="749807"/>
              <a:ext cx="54864" cy="271653"/>
            </a:xfrm>
            <a:prstGeom prst="rect">
              <a:avLst/>
            </a:prstGeom>
            <a:solidFill>
              <a:srgbClr val="4F8EF7"/>
            </a:solidFill>
            <a:ln w="12700">
              <a:solidFill>
                <a:srgbClr val="4F8EF7"/>
              </a:solidFill>
              <a:prstDash val="solid"/>
            </a:ln>
          </p:spPr>
          <p:txBody>
            <a:bodyPr/>
            <a:lstStyle/>
            <a:p>
              <a:endParaRPr lang="en-GB" sz="2400"/>
            </a:p>
          </p:txBody>
        </p:sp>
        <p:sp>
          <p:nvSpPr>
            <p:cNvPr id="51" name="Text 70">
              <a:extLst>
                <a:ext uri="{FF2B5EF4-FFF2-40B4-BE49-F238E27FC236}">
                  <a16:creationId xmlns:a16="http://schemas.microsoft.com/office/drawing/2014/main" id="{10ADC43B-AF5D-03A2-7FC0-F4CED5DA6D67}"/>
                </a:ext>
              </a:extLst>
            </p:cNvPr>
            <p:cNvSpPr/>
            <p:nvPr/>
          </p:nvSpPr>
          <p:spPr>
            <a:xfrm>
              <a:off x="6419087" y="723696"/>
              <a:ext cx="2761485" cy="164592"/>
            </a:xfrm>
            <a:prstGeom prst="rect">
              <a:avLst/>
            </a:prstGeom>
            <a:noFill/>
            <a:ln/>
          </p:spPr>
          <p:txBody>
            <a:bodyPr wrap="square" lIns="24000" rtlCol="0" anchor="ctr"/>
            <a:lstStyle/>
            <a:p>
              <a:r>
                <a:rPr lang="en-US" sz="1133" b="1" dirty="0">
                  <a:solidFill>
                    <a:srgbClr val="66686A"/>
                  </a:solidFill>
                  <a:latin typeface="Calibri" pitchFamily="34" charset="0"/>
                  <a:ea typeface="Calibri" pitchFamily="34" charset="-122"/>
                  <a:cs typeface="Calibri" pitchFamily="34" charset="-120"/>
                </a:rPr>
                <a:t>Test Date - Converted to ordinal integer</a:t>
              </a:r>
              <a:endParaRPr lang="en-US" sz="1133" dirty="0">
                <a:solidFill>
                  <a:srgbClr val="66686A"/>
                </a:solidFill>
              </a:endParaRPr>
            </a:p>
          </p:txBody>
        </p:sp>
      </p:grpSp>
      <p:pic>
        <p:nvPicPr>
          <p:cNvPr id="1030" name="Picture 6">
            <a:extLst>
              <a:ext uri="{FF2B5EF4-FFF2-40B4-BE49-F238E27FC236}">
                <a16:creationId xmlns:a16="http://schemas.microsoft.com/office/drawing/2014/main" id="{EC2E0C17-DBA5-5AEE-E900-7F6A5227750A}"/>
              </a:ext>
            </a:extLst>
          </p:cNvPr>
          <p:cNvPicPr>
            <a:picLocks noChangeAspect="1" noChangeArrowheads="1"/>
          </p:cNvPicPr>
          <p:nvPr/>
        </p:nvPicPr>
        <p:blipFill>
          <a:blip r:embed="rId4"/>
          <a:srcRect/>
          <a:stretch/>
        </p:blipFill>
        <p:spPr bwMode="auto">
          <a:xfrm>
            <a:off x="8384021" y="3855043"/>
            <a:ext cx="3562100" cy="2514423"/>
          </a:xfrm>
          <a:prstGeom prst="rect">
            <a:avLst/>
          </a:prstGeom>
          <a:noFill/>
          <a:extLst>
            <a:ext uri="{909E8E84-426E-40DD-AFC4-6F175D3DCCD1}">
              <a14:hiddenFill xmlns:a14="http://schemas.microsoft.com/office/drawing/2010/main">
                <a:solidFill>
                  <a:srgbClr val="FFFFFF"/>
                </a:solidFill>
              </a14:hiddenFill>
            </a:ext>
          </a:extLst>
        </p:spPr>
      </p:pic>
      <p:sp>
        <p:nvSpPr>
          <p:cNvPr id="58" name="Text 22">
            <a:extLst>
              <a:ext uri="{FF2B5EF4-FFF2-40B4-BE49-F238E27FC236}">
                <a16:creationId xmlns:a16="http://schemas.microsoft.com/office/drawing/2014/main" id="{C6D1EB2C-9A53-9473-3664-61EBAE30B1D5}"/>
              </a:ext>
            </a:extLst>
          </p:cNvPr>
          <p:cNvSpPr/>
          <p:nvPr/>
        </p:nvSpPr>
        <p:spPr>
          <a:xfrm>
            <a:off x="8308239" y="3567949"/>
            <a:ext cx="3474720" cy="268224"/>
          </a:xfrm>
          <a:prstGeom prst="rect">
            <a:avLst/>
          </a:prstGeom>
          <a:noFill/>
          <a:ln/>
        </p:spPr>
        <p:txBody>
          <a:bodyPr wrap="square" rtlCol="0" anchor="ctr"/>
          <a:lstStyle/>
          <a:p>
            <a:r>
              <a:rPr lang="en-US" sz="1000" b="1" kern="0" spc="267" dirty="0">
                <a:solidFill>
                  <a:srgbClr val="CC3232"/>
                </a:solidFill>
                <a:latin typeface="Calibri" pitchFamily="34" charset="0"/>
                <a:ea typeface="Calibri" pitchFamily="34" charset="-122"/>
                <a:cs typeface="Calibri" pitchFamily="34" charset="-120"/>
              </a:rPr>
              <a:t>FEATURE IMPORTANCE</a:t>
            </a:r>
            <a:endParaRPr lang="en-US" sz="1000" dirty="0">
              <a:solidFill>
                <a:srgbClr val="CC3232"/>
              </a:solidFill>
            </a:endParaRPr>
          </a:p>
        </p:txBody>
      </p:sp>
      <p:sp>
        <p:nvSpPr>
          <p:cNvPr id="60" name="Text 71">
            <a:extLst>
              <a:ext uri="{FF2B5EF4-FFF2-40B4-BE49-F238E27FC236}">
                <a16:creationId xmlns:a16="http://schemas.microsoft.com/office/drawing/2014/main" id="{0FBC150C-A048-13A8-47AA-2854D4093466}"/>
              </a:ext>
            </a:extLst>
          </p:cNvPr>
          <p:cNvSpPr/>
          <p:nvPr/>
        </p:nvSpPr>
        <p:spPr>
          <a:xfrm>
            <a:off x="8388097" y="6456703"/>
            <a:ext cx="3558024" cy="243840"/>
          </a:xfrm>
          <a:prstGeom prst="rect">
            <a:avLst/>
          </a:prstGeom>
          <a:noFill/>
          <a:ln/>
        </p:spPr>
        <p:txBody>
          <a:bodyPr wrap="square" lIns="24000" rtlCol="0" anchor="ctr"/>
          <a:lstStyle/>
          <a:p>
            <a:r>
              <a:rPr lang="en-US" sz="1000" dirty="0">
                <a:latin typeface="Calibri" pitchFamily="34" charset="0"/>
                <a:ea typeface="Calibri" pitchFamily="34" charset="-122"/>
                <a:cs typeface="Calibri" pitchFamily="34" charset="-120"/>
              </a:rPr>
              <a:t>The symptom combination features are not shown as these resulted in an importance less than or equal to 0.001.</a:t>
            </a:r>
            <a:endParaRPr lang="en-US" sz="1000" dirty="0"/>
          </a:p>
        </p:txBody>
      </p:sp>
      <p:sp>
        <p:nvSpPr>
          <p:cNvPr id="61" name="Text 22">
            <a:extLst>
              <a:ext uri="{FF2B5EF4-FFF2-40B4-BE49-F238E27FC236}">
                <a16:creationId xmlns:a16="http://schemas.microsoft.com/office/drawing/2014/main" id="{568913DA-7D4C-2F14-9A32-B244C4455364}"/>
              </a:ext>
            </a:extLst>
          </p:cNvPr>
          <p:cNvSpPr/>
          <p:nvPr/>
        </p:nvSpPr>
        <p:spPr>
          <a:xfrm>
            <a:off x="4413504" y="3944787"/>
            <a:ext cx="3474720" cy="268224"/>
          </a:xfrm>
          <a:prstGeom prst="rect">
            <a:avLst/>
          </a:prstGeom>
          <a:noFill/>
          <a:ln/>
        </p:spPr>
        <p:txBody>
          <a:bodyPr wrap="square" rtlCol="0" anchor="ctr"/>
          <a:lstStyle/>
          <a:p>
            <a:r>
              <a:rPr lang="en-US" sz="1000" b="1" kern="0" spc="267" dirty="0">
                <a:solidFill>
                  <a:srgbClr val="CC3232"/>
                </a:solidFill>
                <a:latin typeface="Calibri" pitchFamily="34" charset="0"/>
                <a:ea typeface="Calibri" pitchFamily="34" charset="-122"/>
                <a:cs typeface="Calibri" pitchFamily="34" charset="-120"/>
              </a:rPr>
              <a:t>WAYS TO IMPROVE</a:t>
            </a:r>
            <a:endParaRPr lang="en-US" sz="1000" dirty="0">
              <a:solidFill>
                <a:srgbClr val="CC3232"/>
              </a:solidFill>
            </a:endParaRPr>
          </a:p>
        </p:txBody>
      </p:sp>
      <p:sp>
        <p:nvSpPr>
          <p:cNvPr id="62" name="Text 71">
            <a:extLst>
              <a:ext uri="{FF2B5EF4-FFF2-40B4-BE49-F238E27FC236}">
                <a16:creationId xmlns:a16="http://schemas.microsoft.com/office/drawing/2014/main" id="{FD55C4C1-604F-DB48-9E43-A5614541BBE1}"/>
              </a:ext>
            </a:extLst>
          </p:cNvPr>
          <p:cNvSpPr/>
          <p:nvPr/>
        </p:nvSpPr>
        <p:spPr>
          <a:xfrm>
            <a:off x="4430887" y="4111732"/>
            <a:ext cx="3558024" cy="629611"/>
          </a:xfrm>
          <a:prstGeom prst="rect">
            <a:avLst/>
          </a:prstGeom>
          <a:noFill/>
          <a:ln/>
        </p:spPr>
        <p:txBody>
          <a:bodyPr wrap="square" lIns="24000" rtlCol="0" anchor="ctr"/>
          <a:lstStyle/>
          <a:p>
            <a:r>
              <a:rPr lang="en-US" sz="1000" dirty="0">
                <a:latin typeface="Calibri" pitchFamily="34" charset="0"/>
                <a:ea typeface="Calibri" pitchFamily="34" charset="-122"/>
                <a:cs typeface="Calibri" pitchFamily="34" charset="-120"/>
              </a:rPr>
              <a:t>With only 105 iterations of the random search, these parameters work well but further searching (or a full grid search) would be useful to determine if they are the best model configuration.</a:t>
            </a:r>
            <a:endParaRPr lang="en-US" sz="1000" dirty="0"/>
          </a:p>
        </p:txBody>
      </p:sp>
      <p:cxnSp>
        <p:nvCxnSpPr>
          <p:cNvPr id="64" name="Straight Connector 63">
            <a:extLst>
              <a:ext uri="{FF2B5EF4-FFF2-40B4-BE49-F238E27FC236}">
                <a16:creationId xmlns:a16="http://schemas.microsoft.com/office/drawing/2014/main" id="{1CF657C3-1538-757C-36BF-41A4AD42FCEE}"/>
              </a:ext>
            </a:extLst>
          </p:cNvPr>
          <p:cNvCxnSpPr/>
          <p:nvPr/>
        </p:nvCxnSpPr>
        <p:spPr>
          <a:xfrm>
            <a:off x="4724400" y="4838675"/>
            <a:ext cx="2641600" cy="0"/>
          </a:xfrm>
          <a:prstGeom prst="line">
            <a:avLst/>
          </a:prstGeom>
          <a:ln w="19050">
            <a:solidFill>
              <a:srgbClr val="CC3232"/>
            </a:solidFill>
          </a:ln>
        </p:spPr>
        <p:style>
          <a:lnRef idx="1">
            <a:schemeClr val="accent1"/>
          </a:lnRef>
          <a:fillRef idx="0">
            <a:schemeClr val="accent1"/>
          </a:fillRef>
          <a:effectRef idx="0">
            <a:schemeClr val="accent1"/>
          </a:effectRef>
          <a:fontRef idx="minor">
            <a:schemeClr val="tx1"/>
          </a:fontRef>
        </p:style>
      </p:cxnSp>
      <p:sp>
        <p:nvSpPr>
          <p:cNvPr id="90" name="Text 71">
            <a:extLst>
              <a:ext uri="{FF2B5EF4-FFF2-40B4-BE49-F238E27FC236}">
                <a16:creationId xmlns:a16="http://schemas.microsoft.com/office/drawing/2014/main" id="{385AEA20-8236-033A-FC74-AA0335D9E4A5}"/>
              </a:ext>
            </a:extLst>
          </p:cNvPr>
          <p:cNvSpPr/>
          <p:nvPr/>
        </p:nvSpPr>
        <p:spPr>
          <a:xfrm>
            <a:off x="4430887" y="4936007"/>
            <a:ext cx="3558024" cy="629611"/>
          </a:xfrm>
          <a:prstGeom prst="rect">
            <a:avLst/>
          </a:prstGeom>
          <a:noFill/>
          <a:ln/>
        </p:spPr>
        <p:txBody>
          <a:bodyPr wrap="square" lIns="24000" rtlCol="0" anchor="t"/>
          <a:lstStyle/>
          <a:p>
            <a:r>
              <a:rPr lang="en-US" sz="1000" dirty="0">
                <a:latin typeface="Calibri" pitchFamily="34" charset="0"/>
                <a:ea typeface="Calibri" pitchFamily="34" charset="-122"/>
                <a:cs typeface="Calibri" pitchFamily="34" charset="-120"/>
              </a:rPr>
              <a:t>Whilst the training dataset is large at 219k samples, there is more data available which could be used to increase both the test and train dataset, or to use as an unseen validation dataset.</a:t>
            </a:r>
            <a:endParaRPr lang="en-US" sz="1000" dirty="0"/>
          </a:p>
        </p:txBody>
      </p:sp>
      <p:sp>
        <p:nvSpPr>
          <p:cNvPr id="91" name="Text 71">
            <a:extLst>
              <a:ext uri="{FF2B5EF4-FFF2-40B4-BE49-F238E27FC236}">
                <a16:creationId xmlns:a16="http://schemas.microsoft.com/office/drawing/2014/main" id="{A0600C20-F240-E69D-4188-D31E539F5E14}"/>
              </a:ext>
            </a:extLst>
          </p:cNvPr>
          <p:cNvSpPr/>
          <p:nvPr/>
        </p:nvSpPr>
        <p:spPr>
          <a:xfrm>
            <a:off x="4430887" y="5760281"/>
            <a:ext cx="3558024" cy="896551"/>
          </a:xfrm>
          <a:prstGeom prst="rect">
            <a:avLst/>
          </a:prstGeom>
          <a:noFill/>
          <a:ln/>
        </p:spPr>
        <p:txBody>
          <a:bodyPr wrap="square" lIns="24000" rtlCol="0" anchor="t"/>
          <a:lstStyle/>
          <a:p>
            <a:r>
              <a:rPr lang="en-US" sz="1000" dirty="0">
                <a:latin typeface="Calibri" pitchFamily="34" charset="0"/>
                <a:ea typeface="Calibri" pitchFamily="34" charset="-122"/>
                <a:cs typeface="Calibri" pitchFamily="34" charset="-120"/>
              </a:rPr>
              <a:t>Feature engineering: The symptom combinations were not useful for the model’s predictive power and could likely be removed to reduce the complexity. Instead, I would try adding to the training data using external features. One idea is to try to capture the seasonality of illness, through use of daily temperature data.</a:t>
            </a:r>
            <a:endParaRPr lang="en-US" sz="1000" dirty="0"/>
          </a:p>
        </p:txBody>
      </p:sp>
      <p:cxnSp>
        <p:nvCxnSpPr>
          <p:cNvPr id="92" name="Straight Connector 91">
            <a:extLst>
              <a:ext uri="{FF2B5EF4-FFF2-40B4-BE49-F238E27FC236}">
                <a16:creationId xmlns:a16="http://schemas.microsoft.com/office/drawing/2014/main" id="{1A769984-7C4F-7900-7890-504931135513}"/>
              </a:ext>
            </a:extLst>
          </p:cNvPr>
          <p:cNvCxnSpPr/>
          <p:nvPr/>
        </p:nvCxnSpPr>
        <p:spPr>
          <a:xfrm>
            <a:off x="4724400" y="5662949"/>
            <a:ext cx="2641600" cy="0"/>
          </a:xfrm>
          <a:prstGeom prst="line">
            <a:avLst/>
          </a:prstGeom>
          <a:ln w="19050">
            <a:solidFill>
              <a:srgbClr val="CC323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54727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BADA35E-2D9A-FB7E-7F5C-D8DF35FEBFC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0EEA850-3925-278B-CBE1-3CBC6B5EF1F1}"/>
              </a:ext>
            </a:extLst>
          </p:cNvPr>
          <p:cNvSpPr txBox="1"/>
          <p:nvPr/>
        </p:nvSpPr>
        <p:spPr>
          <a:xfrm>
            <a:off x="379268" y="415635"/>
            <a:ext cx="11502737" cy="2923877"/>
          </a:xfrm>
          <a:prstGeom prst="rect">
            <a:avLst/>
          </a:prstGeom>
          <a:noFill/>
        </p:spPr>
        <p:txBody>
          <a:bodyPr wrap="square" rtlCol="0">
            <a:spAutoFit/>
          </a:bodyPr>
          <a:lstStyle/>
          <a:p>
            <a:r>
              <a:rPr lang="fr-FR" sz="4400" dirty="0">
                <a:latin typeface="+mj-lt"/>
                <a:ea typeface="+mj-ea"/>
                <a:cs typeface="+mj-cs"/>
              </a:rPr>
              <a:t>XGBOOST</a:t>
            </a:r>
          </a:p>
          <a:p>
            <a:endParaRPr lang="fr-FR" sz="1400" dirty="0"/>
          </a:p>
          <a:p>
            <a:r>
              <a:rPr lang="fr-FR" sz="1400" dirty="0"/>
              <a:t>Data </a:t>
            </a:r>
            <a:r>
              <a:rPr lang="fr-FR" sz="1400" dirty="0" err="1"/>
              <a:t>cleaning</a:t>
            </a:r>
            <a:r>
              <a:rPr lang="fr-FR" sz="1400" dirty="0"/>
              <a:t> </a:t>
            </a:r>
            <a:r>
              <a:rPr lang="fr-FR" sz="1400" dirty="0" err="1"/>
              <a:t>approach</a:t>
            </a:r>
            <a:r>
              <a:rPr lang="fr-FR" sz="1400" dirty="0"/>
              <a:t> </a:t>
            </a:r>
            <a:r>
              <a:rPr lang="fr-FR" sz="1400" dirty="0" err="1"/>
              <a:t>similar</a:t>
            </a:r>
            <a:r>
              <a:rPr lang="fr-FR" sz="1400" dirty="0"/>
              <a:t> to </a:t>
            </a:r>
            <a:r>
              <a:rPr lang="fr-FR" sz="1400" dirty="0" err="1"/>
              <a:t>paper</a:t>
            </a:r>
            <a:r>
              <a:rPr lang="fr-FR" sz="1400" dirty="0"/>
              <a:t> : </a:t>
            </a:r>
          </a:p>
          <a:p>
            <a:pPr marL="285750" indent="-285750">
              <a:buFont typeface="Arial" panose="020B0604020202020204" pitchFamily="34" charset="0"/>
              <a:buChar char="•"/>
            </a:pPr>
            <a:r>
              <a:rPr lang="fr-FR" sz="1400" dirty="0"/>
              <a:t>Training data </a:t>
            </a:r>
            <a:r>
              <a:rPr lang="fr-FR" sz="1400" dirty="0" err="1"/>
              <a:t>contains</a:t>
            </a:r>
            <a:r>
              <a:rPr lang="fr-FR" sz="1400" dirty="0"/>
              <a:t> all occurrences </a:t>
            </a:r>
            <a:r>
              <a:rPr lang="fr-FR" sz="1400" dirty="0" err="1"/>
              <a:t>from</a:t>
            </a:r>
            <a:r>
              <a:rPr lang="fr-FR" sz="1400" dirty="0"/>
              <a:t> 22/03/2020 to 31/03/2020 (51814 data points) </a:t>
            </a:r>
          </a:p>
          <a:p>
            <a:pPr marL="285750" indent="-285750">
              <a:buFont typeface="Arial" panose="020B0604020202020204" pitchFamily="34" charset="0"/>
              <a:buChar char="•"/>
            </a:pPr>
            <a:r>
              <a:rPr lang="fr-FR" sz="1400" dirty="0"/>
              <a:t>Test data </a:t>
            </a:r>
            <a:r>
              <a:rPr lang="fr-FR" sz="1400" dirty="0" err="1"/>
              <a:t>contains</a:t>
            </a:r>
            <a:r>
              <a:rPr lang="fr-FR" sz="1400" dirty="0"/>
              <a:t> all occurrences </a:t>
            </a:r>
            <a:r>
              <a:rPr lang="fr-FR" sz="1400" dirty="0" err="1"/>
              <a:t>from</a:t>
            </a:r>
            <a:r>
              <a:rPr lang="fr-FR" sz="1400" dirty="0"/>
              <a:t> 01/04/2020 to 07/04/2020 (47175 data points)</a:t>
            </a:r>
          </a:p>
          <a:p>
            <a:pPr marL="285750" indent="-285750">
              <a:buFont typeface="Arial" panose="020B0604020202020204" pitchFamily="34" charset="0"/>
              <a:buChar char="•"/>
            </a:pPr>
            <a:r>
              <a:rPr lang="fr-FR" sz="1400" dirty="0"/>
              <a:t>All NaN </a:t>
            </a:r>
            <a:r>
              <a:rPr lang="fr-FR" sz="1400" dirty="0" err="1"/>
              <a:t>dropped</a:t>
            </a:r>
            <a:r>
              <a:rPr lang="fr-FR" sz="1400" dirty="0"/>
              <a:t> for XGBOOST</a:t>
            </a:r>
          </a:p>
          <a:p>
            <a:pPr marL="285750" indent="-285750">
              <a:buFont typeface="Arial" panose="020B0604020202020204" pitchFamily="34" charset="0"/>
              <a:buChar char="•"/>
            </a:pPr>
            <a:r>
              <a:rPr lang="fr-FR" sz="1400" dirty="0"/>
              <a:t>Hot </a:t>
            </a:r>
            <a:r>
              <a:rPr lang="fr-FR" sz="1400" dirty="0" err="1"/>
              <a:t>encoding</a:t>
            </a:r>
            <a:r>
              <a:rPr lang="fr-FR" sz="1400" dirty="0"/>
              <a:t> of ‘</a:t>
            </a:r>
            <a:r>
              <a:rPr lang="fr-FR" sz="1400" dirty="0" err="1"/>
              <a:t>test_indication</a:t>
            </a:r>
            <a:r>
              <a:rPr lang="fr-FR" sz="1400" dirty="0"/>
              <a:t>’ </a:t>
            </a:r>
            <a:r>
              <a:rPr lang="fr-FR" sz="1400" dirty="0" err="1"/>
              <a:t>feature</a:t>
            </a:r>
            <a:r>
              <a:rPr lang="fr-FR" sz="1400" dirty="0"/>
              <a:t> = [‘</a:t>
            </a:r>
            <a:r>
              <a:rPr lang="fr-FR" sz="1400" dirty="0" err="1"/>
              <a:t>Other</a:t>
            </a:r>
            <a:r>
              <a:rPr lang="fr-FR" sz="1400" dirty="0"/>
              <a:t>’, ‘</a:t>
            </a:r>
            <a:r>
              <a:rPr lang="fr-FR" sz="1400" dirty="0" err="1"/>
              <a:t>Abroad</a:t>
            </a:r>
            <a:r>
              <a:rPr lang="fr-FR" sz="1400" dirty="0"/>
              <a:t>’, ‘Contact’]</a:t>
            </a:r>
          </a:p>
          <a:p>
            <a:pPr marL="285750" indent="-285750">
              <a:buFont typeface="Arial" panose="020B0604020202020204" pitchFamily="34" charset="0"/>
              <a:buChar char="•"/>
            </a:pPr>
            <a:r>
              <a:rPr lang="fr-FR" sz="1400" dirty="0"/>
              <a:t>9 </a:t>
            </a:r>
            <a:r>
              <a:rPr lang="fr-FR" sz="1400" dirty="0" err="1"/>
              <a:t>features</a:t>
            </a:r>
            <a:r>
              <a:rPr lang="fr-FR" sz="1400" dirty="0"/>
              <a:t> in total :  </a:t>
            </a:r>
            <a:r>
              <a:rPr lang="en-US" sz="1400" dirty="0"/>
              <a:t>Cough, Fever, </a:t>
            </a:r>
            <a:r>
              <a:rPr lang="en-US" sz="1400" dirty="0" err="1"/>
              <a:t>sore_throat</a:t>
            </a:r>
            <a:r>
              <a:rPr lang="en-US" sz="1400" dirty="0"/>
              <a:t>, </a:t>
            </a:r>
            <a:r>
              <a:rPr lang="en-US" sz="1400" dirty="0" err="1"/>
              <a:t>shortness_of_breath</a:t>
            </a:r>
            <a:r>
              <a:rPr lang="en-US" sz="1400" dirty="0"/>
              <a:t>, </a:t>
            </a:r>
            <a:r>
              <a:rPr lang="en-US" sz="1400" dirty="0" err="1"/>
              <a:t>head_ache</a:t>
            </a:r>
            <a:r>
              <a:rPr lang="en-US" sz="1400" dirty="0"/>
              <a:t>, age_60_and_above, </a:t>
            </a:r>
            <a:r>
              <a:rPr lang="en-US" sz="1400" dirty="0" err="1"/>
              <a:t>gender_male</a:t>
            </a:r>
            <a:r>
              <a:rPr lang="en-US" sz="1400" dirty="0"/>
              <a:t>, </a:t>
            </a:r>
            <a:r>
              <a:rPr lang="en-US" sz="1400" dirty="0" err="1"/>
              <a:t>test_indication_Contact</a:t>
            </a:r>
            <a:r>
              <a:rPr lang="en-US" sz="1400" dirty="0"/>
              <a:t>, </a:t>
            </a:r>
            <a:r>
              <a:rPr lang="en-US" sz="1400" dirty="0" err="1"/>
              <a:t>test_indication_Other</a:t>
            </a:r>
            <a:endParaRPr lang="fr-FR" sz="1400" dirty="0"/>
          </a:p>
          <a:p>
            <a:endParaRPr lang="fr-FR" sz="1400" dirty="0"/>
          </a:p>
          <a:p>
            <a:endParaRPr lang="fr-FR" sz="1400" dirty="0"/>
          </a:p>
        </p:txBody>
      </p:sp>
      <p:pic>
        <p:nvPicPr>
          <p:cNvPr id="6" name="Picture 5">
            <a:extLst>
              <a:ext uri="{FF2B5EF4-FFF2-40B4-BE49-F238E27FC236}">
                <a16:creationId xmlns:a16="http://schemas.microsoft.com/office/drawing/2014/main" id="{8ED1B680-20DE-A2CE-CC53-9CE6FC4422C1}"/>
              </a:ext>
            </a:extLst>
          </p:cNvPr>
          <p:cNvPicPr>
            <a:picLocks noChangeAspect="1"/>
          </p:cNvPicPr>
          <p:nvPr/>
        </p:nvPicPr>
        <p:blipFill>
          <a:blip r:embed="rId2"/>
          <a:stretch>
            <a:fillRect/>
          </a:stretch>
        </p:blipFill>
        <p:spPr>
          <a:xfrm>
            <a:off x="636441" y="2919844"/>
            <a:ext cx="6086241" cy="3740727"/>
          </a:xfrm>
          <a:prstGeom prst="rect">
            <a:avLst/>
          </a:prstGeom>
        </p:spPr>
      </p:pic>
    </p:spTree>
    <p:extLst>
      <p:ext uri="{BB962C8B-B14F-4D97-AF65-F5344CB8AC3E}">
        <p14:creationId xmlns:p14="http://schemas.microsoft.com/office/powerpoint/2010/main" val="11817510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C8AC2-F701-B2FF-4666-7C3DD3FE997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253203E-ED69-7128-A596-7DF39A97A3D1}"/>
              </a:ext>
            </a:extLst>
          </p:cNvPr>
          <p:cNvPicPr>
            <a:picLocks noChangeAspect="1"/>
          </p:cNvPicPr>
          <p:nvPr/>
        </p:nvPicPr>
        <p:blipFill>
          <a:blip r:embed="rId2"/>
          <a:stretch>
            <a:fillRect/>
          </a:stretch>
        </p:blipFill>
        <p:spPr>
          <a:xfrm>
            <a:off x="4897618" y="649433"/>
            <a:ext cx="3631180" cy="2779568"/>
          </a:xfrm>
          <a:prstGeom prst="rect">
            <a:avLst/>
          </a:prstGeom>
        </p:spPr>
      </p:pic>
      <p:pic>
        <p:nvPicPr>
          <p:cNvPr id="7" name="Picture 6">
            <a:extLst>
              <a:ext uri="{FF2B5EF4-FFF2-40B4-BE49-F238E27FC236}">
                <a16:creationId xmlns:a16="http://schemas.microsoft.com/office/drawing/2014/main" id="{641A1A3B-38EE-A829-B7AF-5AF714B5CDA3}"/>
              </a:ext>
            </a:extLst>
          </p:cNvPr>
          <p:cNvPicPr>
            <a:picLocks noChangeAspect="1"/>
          </p:cNvPicPr>
          <p:nvPr/>
        </p:nvPicPr>
        <p:blipFill>
          <a:blip r:embed="rId3"/>
          <a:stretch>
            <a:fillRect/>
          </a:stretch>
        </p:blipFill>
        <p:spPr>
          <a:xfrm>
            <a:off x="8351861" y="544809"/>
            <a:ext cx="3729834" cy="2918192"/>
          </a:xfrm>
          <a:prstGeom prst="rect">
            <a:avLst/>
          </a:prstGeom>
        </p:spPr>
      </p:pic>
      <p:pic>
        <p:nvPicPr>
          <p:cNvPr id="9" name="Picture 8">
            <a:extLst>
              <a:ext uri="{FF2B5EF4-FFF2-40B4-BE49-F238E27FC236}">
                <a16:creationId xmlns:a16="http://schemas.microsoft.com/office/drawing/2014/main" id="{C960FBF4-3D48-4BE4-8811-6647B8746DB4}"/>
              </a:ext>
            </a:extLst>
          </p:cNvPr>
          <p:cNvPicPr>
            <a:picLocks noChangeAspect="1"/>
          </p:cNvPicPr>
          <p:nvPr/>
        </p:nvPicPr>
        <p:blipFill>
          <a:blip r:embed="rId4"/>
          <a:stretch>
            <a:fillRect/>
          </a:stretch>
        </p:blipFill>
        <p:spPr>
          <a:xfrm>
            <a:off x="5436047" y="3885325"/>
            <a:ext cx="2915814" cy="2720637"/>
          </a:xfrm>
          <a:prstGeom prst="rect">
            <a:avLst/>
          </a:prstGeom>
        </p:spPr>
      </p:pic>
      <p:grpSp>
        <p:nvGrpSpPr>
          <p:cNvPr id="13" name="Group 12">
            <a:extLst>
              <a:ext uri="{FF2B5EF4-FFF2-40B4-BE49-F238E27FC236}">
                <a16:creationId xmlns:a16="http://schemas.microsoft.com/office/drawing/2014/main" id="{DEAAA5A0-D713-1B05-C39B-DE31BEC8639F}"/>
              </a:ext>
            </a:extLst>
          </p:cNvPr>
          <p:cNvGrpSpPr/>
          <p:nvPr/>
        </p:nvGrpSpPr>
        <p:grpSpPr>
          <a:xfrm>
            <a:off x="8763795" y="3982134"/>
            <a:ext cx="3006737" cy="2754638"/>
            <a:chOff x="7505518" y="4008061"/>
            <a:chExt cx="3006737" cy="2754638"/>
          </a:xfrm>
        </p:grpSpPr>
        <p:pic>
          <p:nvPicPr>
            <p:cNvPr id="11" name="Picture 10">
              <a:extLst>
                <a:ext uri="{FF2B5EF4-FFF2-40B4-BE49-F238E27FC236}">
                  <a16:creationId xmlns:a16="http://schemas.microsoft.com/office/drawing/2014/main" id="{DE6F1772-5755-D9B5-20C7-45AC2F93103E}"/>
                </a:ext>
              </a:extLst>
            </p:cNvPr>
            <p:cNvPicPr>
              <a:picLocks noChangeAspect="1"/>
            </p:cNvPicPr>
            <p:nvPr/>
          </p:nvPicPr>
          <p:blipFill>
            <a:blip r:embed="rId5"/>
            <a:stretch>
              <a:fillRect/>
            </a:stretch>
          </p:blipFill>
          <p:spPr>
            <a:xfrm>
              <a:off x="7505518" y="4008061"/>
              <a:ext cx="3006737" cy="2754638"/>
            </a:xfrm>
            <a:prstGeom prst="rect">
              <a:avLst/>
            </a:prstGeom>
          </p:spPr>
        </p:pic>
        <p:sp>
          <p:nvSpPr>
            <p:cNvPr id="12" name="TextBox 11">
              <a:extLst>
                <a:ext uri="{FF2B5EF4-FFF2-40B4-BE49-F238E27FC236}">
                  <a16:creationId xmlns:a16="http://schemas.microsoft.com/office/drawing/2014/main" id="{62668C73-7196-898B-371C-3E4CC36C4C30}"/>
                </a:ext>
              </a:extLst>
            </p:cNvPr>
            <p:cNvSpPr txBox="1"/>
            <p:nvPr/>
          </p:nvSpPr>
          <p:spPr>
            <a:xfrm>
              <a:off x="7714209" y="4008061"/>
              <a:ext cx="2433680" cy="246221"/>
            </a:xfrm>
            <a:prstGeom prst="rect">
              <a:avLst/>
            </a:prstGeom>
            <a:noFill/>
          </p:spPr>
          <p:txBody>
            <a:bodyPr wrap="none" rtlCol="0">
              <a:spAutoFit/>
            </a:bodyPr>
            <a:lstStyle/>
            <a:p>
              <a:r>
                <a:rPr lang="fr-FR" sz="1000" dirty="0"/>
                <a:t>Confusion Matrix – </a:t>
              </a:r>
              <a:r>
                <a:rPr lang="fr-FR" sz="1000" dirty="0" err="1"/>
                <a:t>XGBoost</a:t>
              </a:r>
              <a:r>
                <a:rPr lang="fr-FR" sz="1000" dirty="0"/>
                <a:t> 0.09 </a:t>
              </a:r>
              <a:r>
                <a:rPr lang="fr-FR" sz="1000" dirty="0" err="1"/>
                <a:t>threshold</a:t>
              </a:r>
              <a:endParaRPr lang="fr-FR" sz="1000" dirty="0"/>
            </a:p>
          </p:txBody>
        </p:sp>
      </p:grpSp>
      <p:sp>
        <p:nvSpPr>
          <p:cNvPr id="14" name="TextBox 13">
            <a:extLst>
              <a:ext uri="{FF2B5EF4-FFF2-40B4-BE49-F238E27FC236}">
                <a16:creationId xmlns:a16="http://schemas.microsoft.com/office/drawing/2014/main" id="{35E4BDD7-18DB-493C-0B50-92B5487583FC}"/>
              </a:ext>
            </a:extLst>
          </p:cNvPr>
          <p:cNvSpPr txBox="1"/>
          <p:nvPr/>
        </p:nvSpPr>
        <p:spPr>
          <a:xfrm>
            <a:off x="379268" y="415635"/>
            <a:ext cx="4518350" cy="4216539"/>
          </a:xfrm>
          <a:prstGeom prst="rect">
            <a:avLst/>
          </a:prstGeom>
          <a:noFill/>
        </p:spPr>
        <p:txBody>
          <a:bodyPr wrap="square" rtlCol="0">
            <a:spAutoFit/>
          </a:bodyPr>
          <a:lstStyle/>
          <a:p>
            <a:r>
              <a:rPr lang="fr-FR" sz="4400" dirty="0">
                <a:latin typeface="+mj-lt"/>
                <a:ea typeface="+mj-ea"/>
                <a:cs typeface="+mj-cs"/>
              </a:rPr>
              <a:t>XGBOOST</a:t>
            </a:r>
          </a:p>
          <a:p>
            <a:endParaRPr lang="fr-FR" sz="1400" dirty="0"/>
          </a:p>
          <a:p>
            <a:pPr marL="285750" indent="-285750">
              <a:buFont typeface="Arial" panose="020B0604020202020204" pitchFamily="34" charset="0"/>
              <a:buChar char="•"/>
            </a:pPr>
            <a:r>
              <a:rPr lang="fr-FR" sz="1400" dirty="0" err="1"/>
              <a:t>Hyperparameters</a:t>
            </a:r>
            <a:r>
              <a:rPr lang="fr-FR" sz="1400" dirty="0"/>
              <a:t> </a:t>
            </a:r>
            <a:r>
              <a:rPr lang="fr-FR" sz="1400" dirty="0" err="1"/>
              <a:t>tunning</a:t>
            </a:r>
            <a:r>
              <a:rPr lang="fr-FR" sz="1400" dirty="0"/>
              <a:t> </a:t>
            </a:r>
            <a:r>
              <a:rPr lang="fr-FR" sz="1400" dirty="0" err="1"/>
              <a:t>with</a:t>
            </a:r>
            <a:r>
              <a:rPr lang="fr-FR" sz="1400" dirty="0"/>
              <a:t> </a:t>
            </a:r>
            <a:r>
              <a:rPr lang="fr-FR" sz="1400" dirty="0" err="1"/>
              <a:t>random</a:t>
            </a:r>
            <a:r>
              <a:rPr lang="fr-FR" sz="1400" dirty="0"/>
              <a:t> </a:t>
            </a:r>
            <a:r>
              <a:rPr lang="fr-FR" sz="1400" dirty="0" err="1"/>
              <a:t>search</a:t>
            </a:r>
            <a:endParaRPr lang="fr-FR" sz="1400" dirty="0"/>
          </a:p>
          <a:p>
            <a:pPr marL="285750" indent="-285750">
              <a:buFont typeface="Arial" panose="020B0604020202020204" pitchFamily="34" charset="0"/>
              <a:buChar char="•"/>
            </a:pPr>
            <a:r>
              <a:rPr lang="fr-FR" sz="1400" dirty="0"/>
              <a:t>Ran </a:t>
            </a:r>
            <a:r>
              <a:rPr lang="fr-FR" sz="1400" dirty="0" err="1"/>
              <a:t>with</a:t>
            </a:r>
            <a:r>
              <a:rPr lang="fr-FR" sz="1400" dirty="0"/>
              <a:t> 3 </a:t>
            </a:r>
            <a:r>
              <a:rPr lang="fr-FR" sz="1400" dirty="0" err="1"/>
              <a:t>stratifiedKfold</a:t>
            </a:r>
            <a:r>
              <a:rPr lang="fr-FR" sz="1400" dirty="0"/>
              <a:t> to optimise </a:t>
            </a:r>
            <a:r>
              <a:rPr lang="fr-FR" sz="1400" dirty="0" err="1"/>
              <a:t>roc_auc</a:t>
            </a:r>
            <a:r>
              <a:rPr lang="fr-FR" sz="1400" dirty="0"/>
              <a:t> score</a:t>
            </a:r>
          </a:p>
          <a:p>
            <a:pPr marL="285750" indent="-285750">
              <a:buFont typeface="Arial" panose="020B0604020202020204" pitchFamily="34" charset="0"/>
              <a:buChar char="•"/>
            </a:pPr>
            <a:r>
              <a:rPr lang="fr-FR" sz="1400" dirty="0"/>
              <a:t>ROC AUC score </a:t>
            </a:r>
            <a:r>
              <a:rPr lang="fr-FR" sz="1400" dirty="0" err="1"/>
              <a:t>achieved</a:t>
            </a:r>
            <a:r>
              <a:rPr lang="fr-FR" sz="1400" dirty="0"/>
              <a:t> of 0.913 </a:t>
            </a:r>
            <a:r>
              <a:rPr lang="fr-FR" sz="1400" dirty="0" err="1"/>
              <a:t>similar</a:t>
            </a:r>
            <a:r>
              <a:rPr lang="fr-FR" sz="1400" dirty="0"/>
              <a:t> to </a:t>
            </a:r>
            <a:r>
              <a:rPr lang="fr-FR" sz="1400" dirty="0" err="1"/>
              <a:t>paper</a:t>
            </a:r>
            <a:r>
              <a:rPr lang="fr-FR" sz="1400" dirty="0"/>
              <a:t> 0.9</a:t>
            </a:r>
          </a:p>
          <a:p>
            <a:pPr marL="285750" indent="-285750">
              <a:buFont typeface="Arial" panose="020B0604020202020204" pitchFamily="34" charset="0"/>
              <a:buChar char="•"/>
            </a:pPr>
            <a:r>
              <a:rPr lang="fr-FR" sz="1400" dirty="0"/>
              <a:t>AUPRC score of 0.73 </a:t>
            </a:r>
            <a:r>
              <a:rPr lang="fr-FR" sz="1400" dirty="0" err="1"/>
              <a:t>outperform</a:t>
            </a:r>
            <a:r>
              <a:rPr lang="fr-FR" sz="1400" dirty="0"/>
              <a:t> </a:t>
            </a:r>
            <a:r>
              <a:rPr lang="fr-FR" sz="1400" dirty="0" err="1"/>
              <a:t>paper</a:t>
            </a:r>
            <a:r>
              <a:rPr lang="fr-FR" sz="1400" dirty="0"/>
              <a:t> (0.66)</a:t>
            </a:r>
          </a:p>
          <a:p>
            <a:pPr marL="285750" indent="-285750">
              <a:buFont typeface="Arial" panose="020B0604020202020204" pitchFamily="34" charset="0"/>
              <a:buChar char="•"/>
            </a:pPr>
            <a:r>
              <a:rPr lang="fr-FR" sz="1400" dirty="0"/>
              <a:t>Model </a:t>
            </a:r>
            <a:r>
              <a:rPr lang="fr-FR" sz="1400" dirty="0" err="1"/>
              <a:t>is</a:t>
            </a:r>
            <a:r>
              <a:rPr lang="fr-FR" sz="1400" dirty="0"/>
              <a:t> </a:t>
            </a:r>
            <a:r>
              <a:rPr lang="fr-FR" sz="1400" dirty="0" err="1"/>
              <a:t>highly</a:t>
            </a:r>
            <a:r>
              <a:rPr lang="fr-FR" sz="1400" dirty="0"/>
              <a:t> sensitive to </a:t>
            </a:r>
            <a:r>
              <a:rPr lang="fr-FR" sz="1400" dirty="0" err="1"/>
              <a:t>threshold</a:t>
            </a:r>
            <a:r>
              <a:rPr lang="fr-FR" sz="1400" dirty="0"/>
              <a:t> </a:t>
            </a:r>
            <a:r>
              <a:rPr lang="fr-FR" sz="1400" dirty="0" err="1"/>
              <a:t>selection</a:t>
            </a:r>
            <a:r>
              <a:rPr lang="fr-FR" sz="1400" dirty="0"/>
              <a:t> </a:t>
            </a:r>
            <a:r>
              <a:rPr lang="fr-FR" sz="1400" dirty="0" err="1"/>
              <a:t>with</a:t>
            </a:r>
            <a:r>
              <a:rPr lang="fr-FR" sz="1400" dirty="0"/>
              <a:t> a </a:t>
            </a:r>
            <a:r>
              <a:rPr lang="fr-FR" sz="1400" dirty="0" err="1"/>
              <a:t>trade</a:t>
            </a:r>
            <a:r>
              <a:rPr lang="fr-FR" sz="1400" dirty="0"/>
              <a:t>-off </a:t>
            </a:r>
            <a:r>
              <a:rPr lang="fr-FR" sz="1400" dirty="0" err="1"/>
              <a:t>between</a:t>
            </a:r>
            <a:r>
              <a:rPr lang="fr-FR" sz="1400" dirty="0"/>
              <a:t> </a:t>
            </a:r>
            <a:r>
              <a:rPr lang="fr-FR" sz="1400" dirty="0" err="1"/>
              <a:t>recall</a:t>
            </a:r>
            <a:r>
              <a:rPr lang="fr-FR" sz="1400" dirty="0"/>
              <a:t> and </a:t>
            </a:r>
            <a:r>
              <a:rPr lang="fr-FR" sz="1400" dirty="0" err="1"/>
              <a:t>precision</a:t>
            </a:r>
            <a:r>
              <a:rPr lang="fr-FR" sz="1400" dirty="0"/>
              <a:t> as </a:t>
            </a:r>
            <a:r>
              <a:rPr lang="fr-FR" sz="1400" dirty="0" err="1"/>
              <a:t>shown</a:t>
            </a:r>
            <a:r>
              <a:rPr lang="fr-FR" sz="1400" dirty="0"/>
              <a:t> in the PR </a:t>
            </a:r>
            <a:r>
              <a:rPr lang="fr-FR" sz="1400" dirty="0" err="1"/>
              <a:t>curve</a:t>
            </a:r>
            <a:endParaRPr lang="fr-FR" sz="1400" dirty="0"/>
          </a:p>
          <a:p>
            <a:pPr marL="285750" indent="-285750">
              <a:buFont typeface="Arial" panose="020B0604020202020204" pitchFamily="34" charset="0"/>
              <a:buChar char="•"/>
            </a:pPr>
            <a:r>
              <a:rPr lang="fr-FR" sz="1400" dirty="0" err="1"/>
              <a:t>Lower</a:t>
            </a:r>
            <a:r>
              <a:rPr lang="fr-FR" sz="1400" dirty="0"/>
              <a:t> </a:t>
            </a:r>
            <a:r>
              <a:rPr lang="fr-FR" sz="1400" dirty="0" err="1"/>
              <a:t>threshold</a:t>
            </a:r>
            <a:r>
              <a:rPr lang="fr-FR" sz="1400" dirty="0"/>
              <a:t> </a:t>
            </a:r>
            <a:r>
              <a:rPr lang="fr-FR" sz="1400" dirty="0" err="1"/>
              <a:t>will</a:t>
            </a:r>
            <a:r>
              <a:rPr lang="fr-FR" sz="1400" dirty="0"/>
              <a:t> </a:t>
            </a:r>
            <a:r>
              <a:rPr lang="fr-FR" sz="1400" dirty="0" err="1"/>
              <a:t>increase</a:t>
            </a:r>
            <a:r>
              <a:rPr lang="fr-FR" sz="1400" dirty="0"/>
              <a:t> </a:t>
            </a:r>
            <a:r>
              <a:rPr lang="fr-FR" sz="1400" dirty="0" err="1"/>
              <a:t>recall</a:t>
            </a:r>
            <a:r>
              <a:rPr lang="fr-FR" sz="1400" dirty="0"/>
              <a:t> (up to 0.94) </a:t>
            </a:r>
            <a:r>
              <a:rPr lang="fr-FR" sz="1400" dirty="0" err="1"/>
              <a:t>which</a:t>
            </a:r>
            <a:r>
              <a:rPr lang="fr-FR" sz="1400" dirty="0"/>
              <a:t> can </a:t>
            </a:r>
            <a:r>
              <a:rPr lang="fr-FR" sz="1400" dirty="0" err="1"/>
              <a:t>be</a:t>
            </a:r>
            <a:r>
              <a:rPr lang="fr-FR" sz="1400" dirty="0"/>
              <a:t> </a:t>
            </a:r>
            <a:r>
              <a:rPr lang="fr-FR" sz="1400" dirty="0" err="1"/>
              <a:t>desirable</a:t>
            </a:r>
            <a:r>
              <a:rPr lang="fr-FR" sz="1400" dirty="0"/>
              <a:t> for </a:t>
            </a:r>
            <a:r>
              <a:rPr lang="fr-FR" sz="1400" dirty="0" err="1"/>
              <a:t>medical</a:t>
            </a:r>
            <a:r>
              <a:rPr lang="fr-FR" sz="1400" dirty="0"/>
              <a:t> screening </a:t>
            </a:r>
            <a:r>
              <a:rPr lang="fr-FR" sz="1400" dirty="0" err="1"/>
              <a:t>where</a:t>
            </a:r>
            <a:r>
              <a:rPr lang="fr-FR" sz="1400" dirty="0"/>
              <a:t> </a:t>
            </a:r>
            <a:r>
              <a:rPr lang="fr-FR" sz="1400" dirty="0" err="1"/>
              <a:t>missing</a:t>
            </a:r>
            <a:r>
              <a:rPr lang="fr-FR" sz="1400" dirty="0"/>
              <a:t> positive cases </a:t>
            </a:r>
            <a:r>
              <a:rPr lang="fr-FR" sz="1400" dirty="0" err="1"/>
              <a:t>is</a:t>
            </a:r>
            <a:r>
              <a:rPr lang="fr-FR" sz="1400" dirty="0"/>
              <a:t> </a:t>
            </a:r>
            <a:r>
              <a:rPr lang="fr-FR" sz="1400" dirty="0" err="1"/>
              <a:t>undesirable</a:t>
            </a:r>
            <a:r>
              <a:rPr lang="fr-FR" sz="1400" dirty="0"/>
              <a:t>. </a:t>
            </a:r>
          </a:p>
          <a:p>
            <a:pPr marL="285750" indent="-285750">
              <a:buFont typeface="Arial" panose="020B0604020202020204" pitchFamily="34" charset="0"/>
              <a:buChar char="•"/>
            </a:pPr>
            <a:r>
              <a:rPr lang="fr-FR" sz="1400" dirty="0" err="1"/>
              <a:t>However</a:t>
            </a:r>
            <a:r>
              <a:rPr lang="fr-FR" sz="1400" dirty="0"/>
              <a:t> </a:t>
            </a:r>
            <a:r>
              <a:rPr lang="fr-FR" sz="1400" dirty="0" err="1"/>
              <a:t>precision</a:t>
            </a:r>
            <a:r>
              <a:rPr lang="fr-FR" sz="1400" dirty="0"/>
              <a:t> </a:t>
            </a:r>
            <a:r>
              <a:rPr lang="fr-FR" sz="1400" dirty="0" err="1"/>
              <a:t>reduces</a:t>
            </a:r>
            <a:r>
              <a:rPr lang="fr-FR" sz="1400" dirty="0"/>
              <a:t> </a:t>
            </a:r>
            <a:r>
              <a:rPr lang="fr-FR" sz="1400" dirty="0" err="1"/>
              <a:t>significantly</a:t>
            </a:r>
            <a:r>
              <a:rPr lang="fr-FR" sz="1400" dirty="0"/>
              <a:t> </a:t>
            </a:r>
            <a:r>
              <a:rPr lang="fr-FR" sz="1400" dirty="0" err="1"/>
              <a:t>with</a:t>
            </a:r>
            <a:r>
              <a:rPr lang="fr-FR" sz="1400" dirty="0"/>
              <a:t> </a:t>
            </a:r>
            <a:r>
              <a:rPr lang="fr-FR" sz="1400" dirty="0" err="1"/>
              <a:t>higher</a:t>
            </a:r>
            <a:r>
              <a:rPr lang="fr-FR" sz="1400" dirty="0"/>
              <a:t> False </a:t>
            </a:r>
            <a:r>
              <a:rPr lang="fr-FR" sz="1400"/>
              <a:t>positive 59%. </a:t>
            </a:r>
            <a:endParaRPr lang="fr-FR" sz="1400" dirty="0"/>
          </a:p>
          <a:p>
            <a:pPr marL="285750" indent="-285750">
              <a:buFont typeface="Arial" panose="020B0604020202020204" pitchFamily="34" charset="0"/>
              <a:buChar char="•"/>
            </a:pPr>
            <a:endParaRPr lang="fr-FR" sz="1400" dirty="0"/>
          </a:p>
          <a:p>
            <a:pPr marL="285750" indent="-285750">
              <a:buFont typeface="Arial" panose="020B0604020202020204" pitchFamily="34" charset="0"/>
              <a:buChar char="•"/>
            </a:pPr>
            <a:endParaRPr lang="fr-FR" sz="1400" dirty="0"/>
          </a:p>
          <a:p>
            <a:endParaRPr lang="fr-FR" sz="1400" dirty="0"/>
          </a:p>
        </p:txBody>
      </p:sp>
    </p:spTree>
    <p:extLst>
      <p:ext uri="{BB962C8B-B14F-4D97-AF65-F5344CB8AC3E}">
        <p14:creationId xmlns:p14="http://schemas.microsoft.com/office/powerpoint/2010/main" val="22384729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4A0AB91-5A06-285F-D28C-A7E6FE854BFD}"/>
              </a:ext>
            </a:extLst>
          </p:cNvPr>
          <p:cNvSpPr>
            <a:spLocks noGrp="1"/>
          </p:cNvSpPr>
          <p:nvPr>
            <p:ph type="title"/>
          </p:nvPr>
        </p:nvSpPr>
        <p:spPr/>
        <p:txBody>
          <a:bodyPr/>
          <a:lstStyle/>
          <a:p>
            <a:r>
              <a:rPr lang="en-GB"/>
              <a:t>HistGradientBoostingClassifier</a:t>
            </a:r>
            <a:endParaRPr lang="en-GB" dirty="0"/>
          </a:p>
        </p:txBody>
      </p:sp>
      <p:pic>
        <p:nvPicPr>
          <p:cNvPr id="11" name="Content Placeholder 10">
            <a:extLst>
              <a:ext uri="{FF2B5EF4-FFF2-40B4-BE49-F238E27FC236}">
                <a16:creationId xmlns:a16="http://schemas.microsoft.com/office/drawing/2014/main" id="{02DC9A3D-0AB0-5293-8E77-DEC83A592B5B}"/>
              </a:ext>
            </a:extLst>
          </p:cNvPr>
          <p:cNvPicPr>
            <a:picLocks noGrp="1" noChangeAspect="1"/>
          </p:cNvPicPr>
          <p:nvPr>
            <p:ph idx="1"/>
          </p:nvPr>
        </p:nvPicPr>
        <p:blipFill>
          <a:blip r:embed="rId3"/>
          <a:stretch>
            <a:fillRect/>
          </a:stretch>
        </p:blipFill>
        <p:spPr>
          <a:xfrm>
            <a:off x="2090737" y="1905794"/>
            <a:ext cx="8010525" cy="4191000"/>
          </a:xfrm>
          <a:prstGeom prst="rect">
            <a:avLst/>
          </a:prstGeom>
        </p:spPr>
      </p:pic>
    </p:spTree>
    <p:extLst>
      <p:ext uri="{BB962C8B-B14F-4D97-AF65-F5344CB8AC3E}">
        <p14:creationId xmlns:p14="http://schemas.microsoft.com/office/powerpoint/2010/main" val="18252240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52034-C561-4CFA-F5E1-9399687F8A27}"/>
              </a:ext>
            </a:extLst>
          </p:cNvPr>
          <p:cNvSpPr>
            <a:spLocks noGrp="1"/>
          </p:cNvSpPr>
          <p:nvPr>
            <p:ph type="title"/>
          </p:nvPr>
        </p:nvSpPr>
        <p:spPr/>
        <p:txBody>
          <a:bodyPr/>
          <a:lstStyle/>
          <a:p>
            <a:r>
              <a:rPr lang="en-GB" dirty="0" err="1"/>
              <a:t>HistGBC</a:t>
            </a:r>
            <a:r>
              <a:rPr lang="en-GB" dirty="0"/>
              <a:t> Classification Report</a:t>
            </a:r>
          </a:p>
        </p:txBody>
      </p:sp>
      <p:sp>
        <p:nvSpPr>
          <p:cNvPr id="8" name="Text Placeholder 7">
            <a:extLst>
              <a:ext uri="{FF2B5EF4-FFF2-40B4-BE49-F238E27FC236}">
                <a16:creationId xmlns:a16="http://schemas.microsoft.com/office/drawing/2014/main" id="{046183BD-FD67-206E-66DE-61DAB76DA35C}"/>
              </a:ext>
            </a:extLst>
          </p:cNvPr>
          <p:cNvSpPr>
            <a:spLocks noGrp="1"/>
          </p:cNvSpPr>
          <p:nvPr>
            <p:ph type="body" idx="1"/>
          </p:nvPr>
        </p:nvSpPr>
        <p:spPr/>
        <p:txBody>
          <a:bodyPr/>
          <a:lstStyle/>
          <a:p>
            <a:r>
              <a:rPr lang="en-GB" dirty="0"/>
              <a:t>Standard Threshold = 0.5</a:t>
            </a:r>
          </a:p>
        </p:txBody>
      </p:sp>
      <p:pic>
        <p:nvPicPr>
          <p:cNvPr id="15" name="Content Placeholder 14">
            <a:extLst>
              <a:ext uri="{FF2B5EF4-FFF2-40B4-BE49-F238E27FC236}">
                <a16:creationId xmlns:a16="http://schemas.microsoft.com/office/drawing/2014/main" id="{BAB473FC-E00C-3D07-6CC3-93F597900F74}"/>
              </a:ext>
            </a:extLst>
          </p:cNvPr>
          <p:cNvPicPr>
            <a:picLocks noGrp="1" noChangeAspect="1"/>
          </p:cNvPicPr>
          <p:nvPr>
            <p:ph sz="half" idx="2"/>
          </p:nvPr>
        </p:nvPicPr>
        <p:blipFill>
          <a:blip r:embed="rId3"/>
          <a:stretch>
            <a:fillRect/>
          </a:stretch>
        </p:blipFill>
        <p:spPr>
          <a:xfrm>
            <a:off x="1027563" y="3429000"/>
            <a:ext cx="4782238" cy="1836738"/>
          </a:xfrm>
          <a:prstGeom prst="rect">
            <a:avLst/>
          </a:prstGeom>
        </p:spPr>
      </p:pic>
      <p:sp>
        <p:nvSpPr>
          <p:cNvPr id="10" name="Text Placeholder 9">
            <a:extLst>
              <a:ext uri="{FF2B5EF4-FFF2-40B4-BE49-F238E27FC236}">
                <a16:creationId xmlns:a16="http://schemas.microsoft.com/office/drawing/2014/main" id="{8AA828B1-C1DC-E63D-B349-74CCF322C716}"/>
              </a:ext>
            </a:extLst>
          </p:cNvPr>
          <p:cNvSpPr>
            <a:spLocks noGrp="1"/>
          </p:cNvSpPr>
          <p:nvPr>
            <p:ph type="body" sz="quarter" idx="3"/>
          </p:nvPr>
        </p:nvSpPr>
        <p:spPr/>
        <p:txBody>
          <a:bodyPr/>
          <a:lstStyle/>
          <a:p>
            <a:r>
              <a:rPr lang="en-GB" dirty="0"/>
              <a:t>Threshold = 0.162</a:t>
            </a:r>
          </a:p>
        </p:txBody>
      </p:sp>
      <p:pic>
        <p:nvPicPr>
          <p:cNvPr id="13" name="Content Placeholder 12">
            <a:extLst>
              <a:ext uri="{FF2B5EF4-FFF2-40B4-BE49-F238E27FC236}">
                <a16:creationId xmlns:a16="http://schemas.microsoft.com/office/drawing/2014/main" id="{A1B4B95B-8BB0-B47F-B4B2-F2B312FB375A}"/>
              </a:ext>
            </a:extLst>
          </p:cNvPr>
          <p:cNvPicPr>
            <a:picLocks noGrp="1" noChangeAspect="1"/>
          </p:cNvPicPr>
          <p:nvPr>
            <p:ph sz="quarter" idx="4"/>
          </p:nvPr>
        </p:nvPicPr>
        <p:blipFill>
          <a:blip r:embed="rId4"/>
          <a:stretch>
            <a:fillRect/>
          </a:stretch>
        </p:blipFill>
        <p:spPr>
          <a:xfrm>
            <a:off x="6369274" y="3429000"/>
            <a:ext cx="4789040" cy="1836738"/>
          </a:xfrm>
          <a:prstGeom prst="rect">
            <a:avLst/>
          </a:prstGeom>
        </p:spPr>
      </p:pic>
    </p:spTree>
    <p:extLst>
      <p:ext uri="{BB962C8B-B14F-4D97-AF65-F5344CB8AC3E}">
        <p14:creationId xmlns:p14="http://schemas.microsoft.com/office/powerpoint/2010/main" val="25255169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B42B345-4E0F-1AA2-D4BB-9016DD9B7258}"/>
              </a:ext>
            </a:extLst>
          </p:cNvPr>
          <p:cNvSpPr>
            <a:spLocks noGrp="1"/>
          </p:cNvSpPr>
          <p:nvPr>
            <p:ph type="title"/>
          </p:nvPr>
        </p:nvSpPr>
        <p:spPr/>
        <p:txBody>
          <a:bodyPr/>
          <a:lstStyle/>
          <a:p>
            <a:r>
              <a:rPr lang="en-GB" dirty="0"/>
              <a:t>Calibrated </a:t>
            </a:r>
            <a:r>
              <a:rPr lang="en-GB" dirty="0" err="1"/>
              <a:t>HistGBC</a:t>
            </a:r>
            <a:r>
              <a:rPr lang="en-GB" dirty="0"/>
              <a:t> Model</a:t>
            </a:r>
          </a:p>
        </p:txBody>
      </p:sp>
      <p:pic>
        <p:nvPicPr>
          <p:cNvPr id="16" name="Content Placeholder 15">
            <a:extLst>
              <a:ext uri="{FF2B5EF4-FFF2-40B4-BE49-F238E27FC236}">
                <a16:creationId xmlns:a16="http://schemas.microsoft.com/office/drawing/2014/main" id="{9312C0EA-40BC-A372-4D54-0CD4B3AEFF80}"/>
              </a:ext>
            </a:extLst>
          </p:cNvPr>
          <p:cNvPicPr>
            <a:picLocks noGrp="1" noChangeAspect="1"/>
          </p:cNvPicPr>
          <p:nvPr>
            <p:ph idx="1"/>
          </p:nvPr>
        </p:nvPicPr>
        <p:blipFill>
          <a:blip r:embed="rId3"/>
          <a:stretch>
            <a:fillRect/>
          </a:stretch>
        </p:blipFill>
        <p:spPr>
          <a:xfrm>
            <a:off x="3395662" y="1943894"/>
            <a:ext cx="5400675" cy="4114800"/>
          </a:xfrm>
          <a:prstGeom prst="rect">
            <a:avLst/>
          </a:prstGeom>
        </p:spPr>
      </p:pic>
    </p:spTree>
    <p:extLst>
      <p:ext uri="{BB962C8B-B14F-4D97-AF65-F5344CB8AC3E}">
        <p14:creationId xmlns:p14="http://schemas.microsoft.com/office/powerpoint/2010/main" val="3118106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B2F671D-975D-B52F-E75C-E3B9B8A08F92}"/>
              </a:ext>
            </a:extLst>
          </p:cNvPr>
          <p:cNvSpPr>
            <a:spLocks noGrp="1"/>
          </p:cNvSpPr>
          <p:nvPr>
            <p:ph type="title"/>
          </p:nvPr>
        </p:nvSpPr>
        <p:spPr/>
        <p:txBody>
          <a:bodyPr/>
          <a:lstStyle/>
          <a:p>
            <a:r>
              <a:rPr lang="en-GB" dirty="0"/>
              <a:t>Summary</a:t>
            </a:r>
          </a:p>
        </p:txBody>
      </p:sp>
      <p:graphicFrame>
        <p:nvGraphicFramePr>
          <p:cNvPr id="7" name="Content Placeholder 6">
            <a:extLst>
              <a:ext uri="{FF2B5EF4-FFF2-40B4-BE49-F238E27FC236}">
                <a16:creationId xmlns:a16="http://schemas.microsoft.com/office/drawing/2014/main" id="{E6AF949C-181B-F050-A36E-3E099AA305F4}"/>
              </a:ext>
            </a:extLst>
          </p:cNvPr>
          <p:cNvGraphicFramePr>
            <a:graphicFrameLocks noGrp="1"/>
          </p:cNvGraphicFramePr>
          <p:nvPr>
            <p:ph sz="half" idx="1"/>
            <p:extLst>
              <p:ext uri="{D42A27DB-BD31-4B8C-83A1-F6EECF244321}">
                <p14:modId xmlns:p14="http://schemas.microsoft.com/office/powerpoint/2010/main" val="1977045968"/>
              </p:ext>
            </p:extLst>
          </p:nvPr>
        </p:nvGraphicFramePr>
        <p:xfrm>
          <a:off x="838200" y="1825625"/>
          <a:ext cx="6906767" cy="2966720"/>
        </p:xfrm>
        <a:graphic>
          <a:graphicData uri="http://schemas.openxmlformats.org/drawingml/2006/table">
            <a:tbl>
              <a:tblPr firstRow="1" bandRow="1">
                <a:tableStyleId>{5C22544A-7EE6-4342-B048-85BDC9FD1C3A}</a:tableStyleId>
              </a:tblPr>
              <a:tblGrid>
                <a:gridCol w="1917619">
                  <a:extLst>
                    <a:ext uri="{9D8B030D-6E8A-4147-A177-3AD203B41FA5}">
                      <a16:colId xmlns:a16="http://schemas.microsoft.com/office/drawing/2014/main" val="2738581190"/>
                    </a:ext>
                  </a:extLst>
                </a:gridCol>
                <a:gridCol w="1151736">
                  <a:extLst>
                    <a:ext uri="{9D8B030D-6E8A-4147-A177-3AD203B41FA5}">
                      <a16:colId xmlns:a16="http://schemas.microsoft.com/office/drawing/2014/main" val="299552428"/>
                    </a:ext>
                  </a:extLst>
                </a:gridCol>
                <a:gridCol w="1151736">
                  <a:extLst>
                    <a:ext uri="{9D8B030D-6E8A-4147-A177-3AD203B41FA5}">
                      <a16:colId xmlns:a16="http://schemas.microsoft.com/office/drawing/2014/main" val="2347598490"/>
                    </a:ext>
                  </a:extLst>
                </a:gridCol>
                <a:gridCol w="886952">
                  <a:extLst>
                    <a:ext uri="{9D8B030D-6E8A-4147-A177-3AD203B41FA5}">
                      <a16:colId xmlns:a16="http://schemas.microsoft.com/office/drawing/2014/main" val="1931382527"/>
                    </a:ext>
                  </a:extLst>
                </a:gridCol>
                <a:gridCol w="899362">
                  <a:extLst>
                    <a:ext uri="{9D8B030D-6E8A-4147-A177-3AD203B41FA5}">
                      <a16:colId xmlns:a16="http://schemas.microsoft.com/office/drawing/2014/main" val="4021539650"/>
                    </a:ext>
                  </a:extLst>
                </a:gridCol>
                <a:gridCol w="899362">
                  <a:extLst>
                    <a:ext uri="{9D8B030D-6E8A-4147-A177-3AD203B41FA5}">
                      <a16:colId xmlns:a16="http://schemas.microsoft.com/office/drawing/2014/main" val="3145693617"/>
                    </a:ext>
                  </a:extLst>
                </a:gridCol>
              </a:tblGrid>
              <a:tr h="370840">
                <a:tc>
                  <a:txBody>
                    <a:bodyPr/>
                    <a:lstStyle/>
                    <a:p>
                      <a:r>
                        <a:rPr lang="en-GB" sz="1200" dirty="0"/>
                        <a:t>Model</a:t>
                      </a:r>
                    </a:p>
                  </a:txBody>
                  <a:tcPr/>
                </a:tc>
                <a:tc>
                  <a:txBody>
                    <a:bodyPr/>
                    <a:lstStyle/>
                    <a:p>
                      <a:r>
                        <a:rPr lang="en-GB" sz="1200" dirty="0"/>
                        <a:t>ROC-AUC</a:t>
                      </a:r>
                    </a:p>
                  </a:txBody>
                  <a:tcPr/>
                </a:tc>
                <a:tc>
                  <a:txBody>
                    <a:bodyPr/>
                    <a:lstStyle/>
                    <a:p>
                      <a:r>
                        <a:rPr lang="en-GB" sz="1200" dirty="0"/>
                        <a:t>PR-AUC</a:t>
                      </a:r>
                    </a:p>
                  </a:txBody>
                  <a:tcPr/>
                </a:tc>
                <a:tc>
                  <a:txBody>
                    <a:bodyPr/>
                    <a:lstStyle/>
                    <a:p>
                      <a:r>
                        <a:rPr lang="en-GB" sz="1200" dirty="0"/>
                        <a:t>False Neg</a:t>
                      </a:r>
                    </a:p>
                  </a:txBody>
                  <a:tcPr/>
                </a:tc>
                <a:tc>
                  <a:txBody>
                    <a:bodyPr/>
                    <a:lstStyle/>
                    <a:p>
                      <a:r>
                        <a:rPr lang="en-GB" sz="1200" dirty="0"/>
                        <a:t>False Pos</a:t>
                      </a:r>
                    </a:p>
                  </a:txBody>
                  <a:tcPr/>
                </a:tc>
                <a:tc>
                  <a:txBody>
                    <a:bodyPr/>
                    <a:lstStyle/>
                    <a:p>
                      <a:r>
                        <a:rPr lang="en-GB" sz="1200" dirty="0"/>
                        <a:t>Threshold</a:t>
                      </a:r>
                    </a:p>
                  </a:txBody>
                  <a:tcPr/>
                </a:tc>
                <a:extLst>
                  <a:ext uri="{0D108BD9-81ED-4DB2-BD59-A6C34878D82A}">
                    <a16:rowId xmlns:a16="http://schemas.microsoft.com/office/drawing/2014/main" val="2030281657"/>
                  </a:ext>
                </a:extLst>
              </a:tr>
              <a:tr h="370840">
                <a:tc>
                  <a:txBody>
                    <a:bodyPr/>
                    <a:lstStyle/>
                    <a:p>
                      <a:r>
                        <a:rPr lang="en-GB" sz="1200" dirty="0" err="1"/>
                        <a:t>LightGBM</a:t>
                      </a:r>
                      <a:endParaRPr lang="en-GB" sz="1200" dirty="0"/>
                    </a:p>
                  </a:txBody>
                  <a:tcPr/>
                </a:tc>
                <a:tc>
                  <a:txBody>
                    <a:bodyPr/>
                    <a:lstStyle/>
                    <a:p>
                      <a:r>
                        <a:rPr lang="en-GB" sz="1200" dirty="0"/>
                        <a:t>0.910</a:t>
                      </a:r>
                    </a:p>
                  </a:txBody>
                  <a:tcPr/>
                </a:tc>
                <a:tc>
                  <a:txBody>
                    <a:bodyPr/>
                    <a:lstStyle/>
                    <a:p>
                      <a:r>
                        <a:rPr lang="en-GB" sz="1200" dirty="0"/>
                        <a:t>0.684</a:t>
                      </a:r>
                    </a:p>
                  </a:txBody>
                  <a:tcPr/>
                </a:tc>
                <a:tc>
                  <a:txBody>
                    <a:bodyPr/>
                    <a:lstStyle/>
                    <a:p>
                      <a:r>
                        <a:rPr lang="en-GB" sz="1200" dirty="0"/>
                        <a:t>16%</a:t>
                      </a:r>
                    </a:p>
                  </a:txBody>
                  <a:tcPr/>
                </a:tc>
                <a:tc>
                  <a:txBody>
                    <a:bodyPr/>
                    <a:lstStyle/>
                    <a:p>
                      <a:r>
                        <a:rPr lang="en-GB" sz="1200" dirty="0"/>
                        <a:t>14%</a:t>
                      </a:r>
                    </a:p>
                  </a:txBody>
                  <a:tcPr/>
                </a:tc>
                <a:tc>
                  <a:txBody>
                    <a:bodyPr/>
                    <a:lstStyle/>
                    <a:p>
                      <a:r>
                        <a:rPr lang="en-GB" sz="1200" dirty="0"/>
                        <a:t>0.26</a:t>
                      </a:r>
                    </a:p>
                  </a:txBody>
                  <a:tcPr/>
                </a:tc>
                <a:extLst>
                  <a:ext uri="{0D108BD9-81ED-4DB2-BD59-A6C34878D82A}">
                    <a16:rowId xmlns:a16="http://schemas.microsoft.com/office/drawing/2014/main" val="4068790803"/>
                  </a:ext>
                </a:extLst>
              </a:tr>
              <a:tr h="370840">
                <a:tc>
                  <a:txBody>
                    <a:bodyPr/>
                    <a:lstStyle/>
                    <a:p>
                      <a:r>
                        <a:rPr lang="en-GB" sz="1200" dirty="0" err="1"/>
                        <a:t>LightGBM</a:t>
                      </a:r>
                      <a:endParaRPr lang="en-GB" sz="1200" dirty="0"/>
                    </a:p>
                  </a:txBody>
                  <a:tcPr/>
                </a:tc>
                <a:tc>
                  <a:txBody>
                    <a:bodyPr/>
                    <a:lstStyle/>
                    <a:p>
                      <a:r>
                        <a:rPr lang="en-GB" sz="1200" dirty="0"/>
                        <a:t>0.910</a:t>
                      </a:r>
                    </a:p>
                  </a:txBody>
                  <a:tcPr/>
                </a:tc>
                <a:tc>
                  <a:txBody>
                    <a:bodyPr/>
                    <a:lstStyle/>
                    <a:p>
                      <a:r>
                        <a:rPr lang="en-GB" sz="1200" dirty="0"/>
                        <a:t>0.684</a:t>
                      </a:r>
                    </a:p>
                  </a:txBody>
                  <a:tcPr/>
                </a:tc>
                <a:tc>
                  <a:txBody>
                    <a:bodyPr/>
                    <a:lstStyle/>
                    <a:p>
                      <a:r>
                        <a:rPr lang="en-GB" sz="1200" dirty="0"/>
                        <a:t>21%</a:t>
                      </a:r>
                    </a:p>
                  </a:txBody>
                  <a:tcPr/>
                </a:tc>
                <a:tc>
                  <a:txBody>
                    <a:bodyPr/>
                    <a:lstStyle/>
                    <a:p>
                      <a:r>
                        <a:rPr lang="en-GB" sz="1200" dirty="0"/>
                        <a:t>7%</a:t>
                      </a:r>
                    </a:p>
                  </a:txBody>
                  <a:tcPr/>
                </a:tc>
                <a:tc>
                  <a:txBody>
                    <a:bodyPr/>
                    <a:lstStyle/>
                    <a:p>
                      <a:r>
                        <a:rPr lang="en-GB" sz="1200" dirty="0"/>
                        <a:t>0.5</a:t>
                      </a:r>
                    </a:p>
                  </a:txBody>
                  <a:tcPr/>
                </a:tc>
                <a:extLst>
                  <a:ext uri="{0D108BD9-81ED-4DB2-BD59-A6C34878D82A}">
                    <a16:rowId xmlns:a16="http://schemas.microsoft.com/office/drawing/2014/main" val="2683095841"/>
                  </a:ext>
                </a:extLst>
              </a:tr>
              <a:tr h="370840">
                <a:tc>
                  <a:txBody>
                    <a:bodyPr/>
                    <a:lstStyle/>
                    <a:p>
                      <a:r>
                        <a:rPr lang="en-GB" sz="1200" dirty="0"/>
                        <a:t>Logistic Regression</a:t>
                      </a:r>
                    </a:p>
                  </a:txBody>
                  <a:tcPr/>
                </a:tc>
                <a:tc>
                  <a:txBody>
                    <a:bodyPr/>
                    <a:lstStyle/>
                    <a:p>
                      <a:r>
                        <a:rPr lang="en-GB" sz="1200" dirty="0"/>
                        <a:t>0.768</a:t>
                      </a:r>
                    </a:p>
                  </a:txBody>
                  <a:tcPr/>
                </a:tc>
                <a:tc>
                  <a:txBody>
                    <a:bodyPr/>
                    <a:lstStyle/>
                    <a:p>
                      <a:r>
                        <a:rPr lang="en-GB" sz="1200" dirty="0"/>
                        <a:t>0.355</a:t>
                      </a:r>
                    </a:p>
                  </a:txBody>
                  <a:tcPr/>
                </a:tc>
                <a:tc>
                  <a:txBody>
                    <a:bodyPr/>
                    <a:lstStyle/>
                    <a:p>
                      <a:r>
                        <a:rPr lang="en-GB" sz="1200" dirty="0"/>
                        <a:t>15%</a:t>
                      </a:r>
                    </a:p>
                  </a:txBody>
                  <a:tcPr/>
                </a:tc>
                <a:tc>
                  <a:txBody>
                    <a:bodyPr/>
                    <a:lstStyle/>
                    <a:p>
                      <a:r>
                        <a:rPr lang="en-GB" sz="1200" dirty="0"/>
                        <a:t>36%</a:t>
                      </a:r>
                    </a:p>
                  </a:txBody>
                  <a:tcPr/>
                </a:tc>
                <a:tc>
                  <a:txBody>
                    <a:bodyPr/>
                    <a:lstStyle/>
                    <a:p>
                      <a:r>
                        <a:rPr lang="en-GB" sz="1200" dirty="0"/>
                        <a:t>0.5</a:t>
                      </a:r>
                    </a:p>
                  </a:txBody>
                  <a:tcPr/>
                </a:tc>
                <a:extLst>
                  <a:ext uri="{0D108BD9-81ED-4DB2-BD59-A6C34878D82A}">
                    <a16:rowId xmlns:a16="http://schemas.microsoft.com/office/drawing/2014/main" val="1784238244"/>
                  </a:ext>
                </a:extLst>
              </a:tr>
              <a:tr h="370840">
                <a:tc>
                  <a:txBody>
                    <a:bodyPr/>
                    <a:lstStyle/>
                    <a:p>
                      <a:r>
                        <a:rPr lang="en-GB" sz="1200" dirty="0"/>
                        <a:t>Random Forest</a:t>
                      </a:r>
                    </a:p>
                  </a:txBody>
                  <a:tcPr/>
                </a:tc>
                <a:tc>
                  <a:txBody>
                    <a:bodyPr/>
                    <a:lstStyle/>
                    <a:p>
                      <a:r>
                        <a:rPr lang="en-GB" sz="1200" dirty="0"/>
                        <a:t>0.910</a:t>
                      </a:r>
                    </a:p>
                  </a:txBody>
                  <a:tcPr/>
                </a:tc>
                <a:tc>
                  <a:txBody>
                    <a:bodyPr/>
                    <a:lstStyle/>
                    <a:p>
                      <a:r>
                        <a:rPr lang="en-GB" sz="1200" dirty="0"/>
                        <a:t>0.68</a:t>
                      </a:r>
                    </a:p>
                  </a:txBody>
                  <a:tcPr/>
                </a:tc>
                <a:tc>
                  <a:txBody>
                    <a:bodyPr/>
                    <a:lstStyle/>
                    <a:p>
                      <a:r>
                        <a:rPr lang="en-GB" sz="1200" dirty="0"/>
                        <a:t>31.3%</a:t>
                      </a:r>
                    </a:p>
                  </a:txBody>
                  <a:tcPr/>
                </a:tc>
                <a:tc>
                  <a:txBody>
                    <a:bodyPr/>
                    <a:lstStyle/>
                    <a:p>
                      <a:r>
                        <a:rPr lang="en-GB" sz="1200" dirty="0"/>
                        <a:t>1.90%</a:t>
                      </a:r>
                    </a:p>
                  </a:txBody>
                  <a:tcPr/>
                </a:tc>
                <a:tc>
                  <a:txBody>
                    <a:bodyPr/>
                    <a:lstStyle/>
                    <a:p>
                      <a:r>
                        <a:rPr lang="en-GB" sz="1200" dirty="0"/>
                        <a:t>0.25</a:t>
                      </a:r>
                    </a:p>
                  </a:txBody>
                  <a:tcPr/>
                </a:tc>
                <a:extLst>
                  <a:ext uri="{0D108BD9-81ED-4DB2-BD59-A6C34878D82A}">
                    <a16:rowId xmlns:a16="http://schemas.microsoft.com/office/drawing/2014/main" val="1640207443"/>
                  </a:ext>
                </a:extLst>
              </a:tr>
              <a:tr h="370840">
                <a:tc>
                  <a:txBody>
                    <a:bodyPr/>
                    <a:lstStyle/>
                    <a:p>
                      <a:r>
                        <a:rPr lang="en-GB" sz="1200" dirty="0" err="1"/>
                        <a:t>XGBoost</a:t>
                      </a:r>
                      <a:endParaRPr lang="en-GB" sz="1200" dirty="0"/>
                    </a:p>
                  </a:txBody>
                  <a:tcPr/>
                </a:tc>
                <a:tc>
                  <a:txBody>
                    <a:bodyPr/>
                    <a:lstStyle/>
                    <a:p>
                      <a:r>
                        <a:rPr lang="en-GB" sz="1200" dirty="0"/>
                        <a:t>0.913</a:t>
                      </a:r>
                    </a:p>
                  </a:txBody>
                  <a:tcPr/>
                </a:tc>
                <a:tc>
                  <a:txBody>
                    <a:bodyPr/>
                    <a:lstStyle/>
                    <a:p>
                      <a:r>
                        <a:rPr lang="en-GB" sz="1200" dirty="0"/>
                        <a:t>0.73</a:t>
                      </a:r>
                    </a:p>
                  </a:txBody>
                  <a:tcPr/>
                </a:tc>
                <a:tc>
                  <a:txBody>
                    <a:bodyPr/>
                    <a:lstStyle/>
                    <a:p>
                      <a:r>
                        <a:rPr lang="en-GB" sz="1200" dirty="0"/>
                        <a:t>5.5%</a:t>
                      </a:r>
                    </a:p>
                  </a:txBody>
                  <a:tcPr/>
                </a:tc>
                <a:tc>
                  <a:txBody>
                    <a:bodyPr/>
                    <a:lstStyle/>
                    <a:p>
                      <a:r>
                        <a:rPr lang="en-GB" sz="1200" dirty="0"/>
                        <a:t>59%</a:t>
                      </a:r>
                    </a:p>
                  </a:txBody>
                  <a:tcPr/>
                </a:tc>
                <a:tc>
                  <a:txBody>
                    <a:bodyPr/>
                    <a:lstStyle/>
                    <a:p>
                      <a:r>
                        <a:rPr lang="en-GB" sz="1200" dirty="0"/>
                        <a:t>0.09</a:t>
                      </a:r>
                    </a:p>
                  </a:txBody>
                  <a:tcPr/>
                </a:tc>
                <a:extLst>
                  <a:ext uri="{0D108BD9-81ED-4DB2-BD59-A6C34878D82A}">
                    <a16:rowId xmlns:a16="http://schemas.microsoft.com/office/drawing/2014/main" val="3186888035"/>
                  </a:ext>
                </a:extLst>
              </a:tr>
              <a:tr h="370840">
                <a:tc>
                  <a:txBody>
                    <a:bodyPr/>
                    <a:lstStyle/>
                    <a:p>
                      <a:r>
                        <a:rPr lang="en-GB" sz="1200" dirty="0" err="1"/>
                        <a:t>XGBoost</a:t>
                      </a:r>
                      <a:endParaRPr lang="en-GB" sz="1200" dirty="0"/>
                    </a:p>
                  </a:txBody>
                  <a:tcPr/>
                </a:tc>
                <a:tc>
                  <a:txBody>
                    <a:bodyPr/>
                    <a:lstStyle/>
                    <a:p>
                      <a:r>
                        <a:rPr lang="en-GB" sz="1200" dirty="0"/>
                        <a:t>0.913</a:t>
                      </a:r>
                    </a:p>
                  </a:txBody>
                  <a:tcPr/>
                </a:tc>
                <a:tc>
                  <a:txBody>
                    <a:bodyPr/>
                    <a:lstStyle/>
                    <a:p>
                      <a:r>
                        <a:rPr lang="en-GB" sz="1200" dirty="0"/>
                        <a:t>0.73</a:t>
                      </a:r>
                    </a:p>
                  </a:txBody>
                  <a:tcPr/>
                </a:tc>
                <a:tc>
                  <a:txBody>
                    <a:bodyPr/>
                    <a:lstStyle/>
                    <a:p>
                      <a:r>
                        <a:rPr lang="en-GB" sz="1200" dirty="0"/>
                        <a:t>16%</a:t>
                      </a:r>
                    </a:p>
                  </a:txBody>
                  <a:tcPr/>
                </a:tc>
                <a:tc>
                  <a:txBody>
                    <a:bodyPr/>
                    <a:lstStyle/>
                    <a:p>
                      <a:r>
                        <a:rPr lang="en-GB" sz="1200" dirty="0"/>
                        <a:t>10%</a:t>
                      </a:r>
                    </a:p>
                  </a:txBody>
                  <a:tcPr/>
                </a:tc>
                <a:tc>
                  <a:txBody>
                    <a:bodyPr/>
                    <a:lstStyle/>
                    <a:p>
                      <a:r>
                        <a:rPr lang="en-GB" sz="1200" dirty="0"/>
                        <a:t>0.5</a:t>
                      </a:r>
                    </a:p>
                  </a:txBody>
                  <a:tcPr/>
                </a:tc>
                <a:extLst>
                  <a:ext uri="{0D108BD9-81ED-4DB2-BD59-A6C34878D82A}">
                    <a16:rowId xmlns:a16="http://schemas.microsoft.com/office/drawing/2014/main" val="3810082223"/>
                  </a:ext>
                </a:extLst>
              </a:tr>
              <a:tr h="370840">
                <a:tc>
                  <a:txBody>
                    <a:bodyPr/>
                    <a:lstStyle/>
                    <a:p>
                      <a:r>
                        <a:rPr lang="en-GB" sz="1200" dirty="0" err="1"/>
                        <a:t>HistGBC</a:t>
                      </a:r>
                      <a:endParaRPr lang="en-GB" sz="1200" dirty="0"/>
                    </a:p>
                  </a:txBody>
                  <a:tcPr/>
                </a:tc>
                <a:tc>
                  <a:txBody>
                    <a:bodyPr/>
                    <a:lstStyle/>
                    <a:p>
                      <a:r>
                        <a:rPr lang="en-GB" sz="1200" dirty="0"/>
                        <a:t>0.892</a:t>
                      </a:r>
                    </a:p>
                  </a:txBody>
                  <a:tcPr/>
                </a:tc>
                <a:tc>
                  <a:txBody>
                    <a:bodyPr/>
                    <a:lstStyle/>
                    <a:p>
                      <a:endParaRPr lang="en-GB" sz="1200" dirty="0"/>
                    </a:p>
                  </a:txBody>
                  <a:tcPr/>
                </a:tc>
                <a:tc>
                  <a:txBody>
                    <a:bodyPr/>
                    <a:lstStyle/>
                    <a:p>
                      <a:r>
                        <a:rPr lang="en-GB" sz="1200" dirty="0"/>
                        <a:t>0.24%</a:t>
                      </a:r>
                    </a:p>
                  </a:txBody>
                  <a:tcPr/>
                </a:tc>
                <a:tc>
                  <a:txBody>
                    <a:bodyPr/>
                    <a:lstStyle/>
                    <a:p>
                      <a:r>
                        <a:rPr lang="en-GB" sz="1200" dirty="0"/>
                        <a:t>66.95%</a:t>
                      </a:r>
                    </a:p>
                  </a:txBody>
                  <a:tcPr/>
                </a:tc>
                <a:tc>
                  <a:txBody>
                    <a:bodyPr/>
                    <a:lstStyle/>
                    <a:p>
                      <a:r>
                        <a:rPr lang="en-GB" sz="1200" dirty="0"/>
                        <a:t>0.162</a:t>
                      </a:r>
                    </a:p>
                  </a:txBody>
                  <a:tcPr/>
                </a:tc>
                <a:extLst>
                  <a:ext uri="{0D108BD9-81ED-4DB2-BD59-A6C34878D82A}">
                    <a16:rowId xmlns:a16="http://schemas.microsoft.com/office/drawing/2014/main" val="1943720989"/>
                  </a:ext>
                </a:extLst>
              </a:tr>
            </a:tbl>
          </a:graphicData>
        </a:graphic>
      </p:graphicFrame>
      <p:sp>
        <p:nvSpPr>
          <p:cNvPr id="6" name="Content Placeholder 5">
            <a:extLst>
              <a:ext uri="{FF2B5EF4-FFF2-40B4-BE49-F238E27FC236}">
                <a16:creationId xmlns:a16="http://schemas.microsoft.com/office/drawing/2014/main" id="{93AE02BF-A204-C2BD-8A3D-393DC553B28D}"/>
              </a:ext>
            </a:extLst>
          </p:cNvPr>
          <p:cNvSpPr>
            <a:spLocks noGrp="1"/>
          </p:cNvSpPr>
          <p:nvPr>
            <p:ph sz="half" idx="2"/>
          </p:nvPr>
        </p:nvSpPr>
        <p:spPr>
          <a:xfrm>
            <a:off x="7872984" y="1825625"/>
            <a:ext cx="3480816" cy="4351338"/>
          </a:xfrm>
        </p:spPr>
        <p:txBody>
          <a:bodyPr>
            <a:normAutofit fontScale="77500" lnSpcReduction="20000"/>
          </a:bodyPr>
          <a:lstStyle/>
          <a:p>
            <a:r>
              <a:rPr lang="en-GB" dirty="0"/>
              <a:t>All models performed relatively similarly.</a:t>
            </a:r>
          </a:p>
          <a:p>
            <a:r>
              <a:rPr lang="en-GB" dirty="0"/>
              <a:t>Higher difference in performance was through choice of threshold value.</a:t>
            </a:r>
          </a:p>
          <a:p>
            <a:r>
              <a:rPr lang="en-GB" dirty="0"/>
              <a:t>All are a balance of reducing false negative which is the most important as you don’t want to miss cases, while not flagging too many false positives which would create tests for negative cases.</a:t>
            </a:r>
          </a:p>
        </p:txBody>
      </p:sp>
    </p:spTree>
    <p:extLst>
      <p:ext uri="{BB962C8B-B14F-4D97-AF65-F5344CB8AC3E}">
        <p14:creationId xmlns:p14="http://schemas.microsoft.com/office/powerpoint/2010/main" val="5099502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TotalTime>
  <Words>1653</Words>
  <Application>Microsoft Office PowerPoint</Application>
  <PresentationFormat>Widescreen</PresentationFormat>
  <Paragraphs>222</Paragraphs>
  <Slides>13</Slides>
  <Notes>4</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Aptos Display</vt:lpstr>
      <vt:lpstr>Arial</vt:lpstr>
      <vt:lpstr>Calibri</vt:lpstr>
      <vt:lpstr>Office Theme</vt:lpstr>
      <vt:lpstr>COVID-19 Hackathon: Comparing different models</vt:lpstr>
      <vt:lpstr>Exploratory Data Analysis</vt:lpstr>
      <vt:lpstr>LightGBM</vt:lpstr>
      <vt:lpstr>COVID-19 Screening Using Symptom Data</vt:lpstr>
      <vt:lpstr>Handling Class Imbalance Effectively</vt:lpstr>
      <vt:lpstr>Final Outcome and Threshold Evaluation</vt:lpstr>
      <vt:lpstr>PowerPoint Presentation</vt:lpstr>
      <vt:lpstr>PowerPoint Presentation</vt:lpstr>
      <vt:lpstr>PowerPoint Presentation</vt:lpstr>
      <vt:lpstr>HistGradientBoostingClassifier</vt:lpstr>
      <vt:lpstr>HistGBC Classification Report</vt:lpstr>
      <vt:lpstr>Calibrated HistGBC Model</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Ivan Mullins</dc:creator>
  <cp:lastModifiedBy>Ivan Mullins</cp:lastModifiedBy>
  <cp:revision>7</cp:revision>
  <dcterms:created xsi:type="dcterms:W3CDTF">2026-04-22T13:08:46Z</dcterms:created>
  <dcterms:modified xsi:type="dcterms:W3CDTF">2026-04-22T15:04:30Z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516627f-5f5d-4430-8bd3-97e7ef303719_Enabled">
    <vt:lpwstr>true</vt:lpwstr>
  </property>
  <property fmtid="{D5CDD505-2E9C-101B-9397-08002B2CF9AE}" pid="3" name="MSIP_Label_5516627f-5f5d-4430-8bd3-97e7ef303719_SetDate">
    <vt:lpwstr>2026-04-22T14:48:19Z</vt:lpwstr>
  </property>
  <property fmtid="{D5CDD505-2E9C-101B-9397-08002B2CF9AE}" pid="4" name="MSIP_Label_5516627f-5f5d-4430-8bd3-97e7ef303719_Method">
    <vt:lpwstr>Privileged</vt:lpwstr>
  </property>
  <property fmtid="{D5CDD505-2E9C-101B-9397-08002B2CF9AE}" pid="5" name="MSIP_Label_5516627f-5f5d-4430-8bd3-97e7ef303719_Name">
    <vt:lpwstr>Everyone</vt:lpwstr>
  </property>
  <property fmtid="{D5CDD505-2E9C-101B-9397-08002B2CF9AE}" pid="6" name="MSIP_Label_5516627f-5f5d-4430-8bd3-97e7ef303719_SiteId">
    <vt:lpwstr>b2767241-fab5-454b-8b62-f6324650e316</vt:lpwstr>
  </property>
  <property fmtid="{D5CDD505-2E9C-101B-9397-08002B2CF9AE}" pid="7" name="MSIP_Label_5516627f-5f5d-4430-8bd3-97e7ef303719_ActionId">
    <vt:lpwstr>e253bfbc-e1b7-4fd7-9b4c-082d18aac37a</vt:lpwstr>
  </property>
  <property fmtid="{D5CDD505-2E9C-101B-9397-08002B2CF9AE}" pid="8" name="MSIP_Label_5516627f-5f5d-4430-8bd3-97e7ef303719_ContentBits">
    <vt:lpwstr>0</vt:lpwstr>
  </property>
  <property fmtid="{D5CDD505-2E9C-101B-9397-08002B2CF9AE}" pid="9" name="MSIP_Label_5516627f-5f5d-4430-8bd3-97e7ef303719_Tag">
    <vt:lpwstr>10, 0, 1, 1</vt:lpwstr>
  </property>
</Properties>
</file>