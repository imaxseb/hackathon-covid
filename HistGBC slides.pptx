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877" autoAdjust="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4E1BC-A359-4236-B85A-05BF1A4856A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6916A-F774-48C5-A8E6-EFF00CCFA9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89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My approach was to take use a randomised search to tune a </a:t>
            </a:r>
            <a:r>
              <a:rPr lang="en-GB" dirty="0" err="1"/>
              <a:t>HistGradientBoostingClassifier</a:t>
            </a:r>
            <a:r>
              <a:rPr lang="en-GB" dirty="0"/>
              <a:t> model. scikit-</a:t>
            </a:r>
            <a:r>
              <a:rPr lang="en-GB" dirty="0" err="1"/>
              <a:t>learn’s</a:t>
            </a:r>
            <a:r>
              <a:rPr lang="en-GB" dirty="0"/>
              <a:t> documentation suggests that, for datasets over ten thousand rows, a </a:t>
            </a:r>
            <a:r>
              <a:rPr lang="en-GB" dirty="0" err="1"/>
              <a:t>histrogram</a:t>
            </a:r>
            <a:r>
              <a:rPr lang="en-GB" dirty="0"/>
              <a:t>-based approach is computationally more efficient than for </a:t>
            </a:r>
            <a:r>
              <a:rPr lang="en-GB" dirty="0" err="1"/>
              <a:t>GradientBoostingClassifier</a:t>
            </a:r>
            <a:r>
              <a:rPr lang="en-GB" dirty="0"/>
              <a:t>. I trained on a </a:t>
            </a:r>
            <a:r>
              <a:rPr lang="en-GB" dirty="0" err="1"/>
              <a:t>StratifedKFold</a:t>
            </a:r>
            <a:r>
              <a:rPr lang="en-GB" dirty="0"/>
              <a:t> to use the entire dataset, but after hyperparameter tuning I refitted the best parameters using an out-of-fit cross-validation to prevent data-leakage but permit the whole dataset to be used. My AUC score was lowest of our group at 0.892, but still not far out.</a:t>
            </a:r>
          </a:p>
          <a:p>
            <a:endParaRPr lang="en-GB" dirty="0"/>
          </a:p>
          <a:p>
            <a:r>
              <a:rPr lang="en-GB" dirty="0"/>
              <a:t>Given the misleading nature of accuracy, I decided to focus solely on recall. I wrote a function to determine a desired threshold value based upon an intended recall target, here choosing 95%. This provided a more aggressive threshold of 0.162, which weights a false positive just over five times stronger than a false negative. This leads to an odd-looking confusion matrix with a very large number of false positives, but in the context of Covid screening I decided to absolutely prioritise this over accuracy and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6916A-F774-48C5-A8E6-EFF00CCFA95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5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consequential impact on the respective classification reports. Even with a standard threshold precision in the true class is low, but is reduced further when prioritising recall. An alternative method could be to prioritise a f-beta score, for some beta greater than 1, to give some weight to retaining a level of precision.</a:t>
            </a:r>
          </a:p>
          <a:p>
            <a:endParaRPr lang="en-GB" dirty="0"/>
          </a:p>
          <a:p>
            <a:r>
              <a:rPr lang="en-GB" dirty="0"/>
              <a:t>It should be noted that any choice of threshold isn’t a strictly analytical problem, and indeed requires stakeholder input. While in this case we can assume that this screening is cost-neutral for prediction/outcome pair, tuning the threshold depends on balancing the consequences of lower precision and recall scores. Choosing any arbitrary threshold thus doesn’t </a:t>
            </a:r>
            <a:r>
              <a:rPr lang="en-GB" dirty="0" err="1"/>
              <a:t>doesn’t</a:t>
            </a:r>
            <a:r>
              <a:rPr lang="en-GB" dirty="0"/>
              <a:t> change the ROC curve or the area under the curve, only at what probability level True is assigned.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HistGBC</a:t>
            </a:r>
            <a:r>
              <a:rPr lang="en-GB" dirty="0"/>
              <a:t>, as with many tree models in unsupervised learning, does have a habit of trying to push confident predictions towards extreme values. I therefore experimented with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CalibratedClassifierCV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aims to calibrate the probabilities back to something more meaningful to a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6916A-F774-48C5-A8E6-EFF00CCFA95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880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Given the previously generated out-of-fold probabilities of the True class by the model, this chart demonstrates that the model is generally over-predicting the instances of true cases. An example is how frequently the model assigns probabilities in the range 0.4-0.8 to the True class, when the observed positive rates in that rate are closer to the range of 0.05-0.4.</a:t>
            </a:r>
          </a:p>
          <a:p>
            <a:endParaRPr lang="en-GB" dirty="0"/>
          </a:p>
          <a:p>
            <a:r>
              <a:rPr lang="en-GB" dirty="0"/>
              <a:t>This converts the probabilities into something more interpretable to the stakeholder, so that a predicted model probability of 0.25 now means that “approximately 1 in 4 cases that have similar characteristics returned a positive test”. This calibration acts independently of the model performance via area under curve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6916A-F774-48C5-A8E6-EFF00CCFA95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8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4ACA-4EEF-D50D-8253-05661E9EF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A2978-620C-7FAC-3FA2-8AD5E0F27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E649-8B24-A47E-2632-B78FD6E9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34B6-74F4-68A9-2FB1-E5AFD07D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AEFD7-B91A-5E0A-03A0-96110277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58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F0B4-CC32-10C5-E7BB-5F60B905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4BBE-4130-68B0-3418-98AD135D8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24D22-51E3-33D1-96DE-3ECBC6D8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AED09-1AD6-9CC3-30DB-1AFB8A40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09C4-FDB4-6EFA-02A7-79F09A50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162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FD9C-153E-064B-5AF0-39EB05F7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4E42-AB39-F484-3377-4B4360FCA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3C3A1-884B-EDB2-2AAD-C0E01BB3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67E7-0E14-7EE0-F386-9B9DFA52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F88B-1544-1158-718B-F5AA6264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19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7CEC-850C-54EA-F52E-CD5A0B09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7AEF-F1EC-16D3-4329-C1BB3BEE8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F0822-2ABD-B230-24B2-B03B87226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8700F-463D-7CB5-8C97-1CBE1B0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7BB49-D82A-2D93-22AA-ECCD4296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DC2CE-6DB1-3A6C-CF60-48A62427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0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E97F-0B33-F199-24B8-1456BD26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839C5-6F80-E682-043B-ADCCA20B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047C6-5300-BBB7-68CE-EE37FE42B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04166-53BC-3F4B-A6BF-E3DE82B89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73827-48D6-3C1B-CA75-90F99ED50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DD28C-C9FC-6653-C4C7-E0785DE7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1F88E8-5413-2331-4EA9-0443B9326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F3EBF-9332-20D9-A900-98D4BA9B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55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8751-0F3C-2D2F-5753-377E3C31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60F4E-8D33-13BC-D592-F871411C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D5F38-AAD3-554B-FFED-90AC929D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E9BFD-F567-EDA9-4CF3-60BED3CD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01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B1F0D-36C9-70D1-355B-51022471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6B9F6-BCCC-04CB-4120-0B2E8F80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9A0E4-E809-BE02-EB14-60BB84A1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35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B189-56C2-3476-AF70-EEF90883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127C-9033-8942-87DC-3015135F6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369B8-4F30-3ACD-7DE2-69239CBDC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079C6-C8F0-E7D7-CAC1-AD5790C8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CF734-60A0-3EA1-AFBC-7BC52D40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39B3C-D059-C301-3979-2A1A2357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21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A5E8-6537-4235-510C-AB1BF1F3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6CF0C-98C1-33F1-2E69-27C6CE76E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6174A-277E-18EC-044C-29F96A384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B8D27-8E98-2FA0-4FCB-19008F03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48E2E-61F8-2B7D-E3AF-7033B3F5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A45CD-4301-C34C-3E02-3C7D8D44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48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CBD6-3130-953F-CA36-32595231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64CF-2612-C07F-D467-2BEC35C2C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CDB2-F6CE-EEC6-D584-25D1E880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E05B-700A-C6F6-08CC-B2D61279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45FF6-EC20-07D5-E6BE-6F461AD4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43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D3F3C-3563-037B-853F-D483C90A4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A38FC-25B7-89C8-258A-048DE6F1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78AC-C649-6790-0605-B21D7182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7A2F4-C67B-8C08-0CC7-ED063C95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5D39D-3E3D-DEDE-5913-ED09191E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30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A2FB2-138A-9010-56DC-922E5E39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ABE9A-7E50-49D5-FFC8-989CB04F6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8FEA7-DEC3-621A-8557-597C3A435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B83F3-96D8-4C77-98EE-136D0A471050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4E12-0CD6-0AE4-3A95-3A6A38A1D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80909-DCE9-90BD-4073-28FD8FE3F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B1F3B-E5C2-416A-899D-0758E2FBC4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31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0AB91-5A06-285F-D28C-A7E6FE85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HistGradientBoostingClassifier</a:t>
            </a:r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DC9A3D-0AB0-5293-8E77-DEC83A592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0737" y="1905794"/>
            <a:ext cx="80105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2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2034-C561-4CFA-F5E1-9399687F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HistGBC</a:t>
            </a:r>
            <a:r>
              <a:rPr lang="en-GB" dirty="0"/>
              <a:t> Classification Report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6183BD-FD67-206E-66DE-61DAB76DA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Standard Threshold = 0.5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AB473FC-E00C-3D07-6CC3-93F597900F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27563" y="3429000"/>
            <a:ext cx="4782238" cy="1836738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A828B1-C1DC-E63D-B349-74CCF322C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Threshold = 0.162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1B4B95B-8BB0-B47F-B4B2-F2B312FB37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369274" y="3429000"/>
            <a:ext cx="4789040" cy="183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1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42B345-4E0F-1AA2-D4BB-9016DD9B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Calibrated </a:t>
            </a:r>
            <a:r>
              <a:rPr lang="en-GB" dirty="0" err="1"/>
              <a:t>HistGBC</a:t>
            </a:r>
            <a:r>
              <a:rPr lang="en-GB" dirty="0"/>
              <a:t> Model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312C0EA-40BC-A372-4D54-0CD4B3AE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5662" y="1943894"/>
            <a:ext cx="54006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504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HistGradientBoostingClassifier</vt:lpstr>
      <vt:lpstr>HistGBC Classification Report</vt:lpstr>
      <vt:lpstr>Calibrated HistGBC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Blackwell Luke</dc:creator>
  <cp:lastModifiedBy>Blackwell Luke</cp:lastModifiedBy>
  <cp:revision>5</cp:revision>
  <dcterms:created xsi:type="dcterms:W3CDTF">2026-04-22T10:50:19Z</dcterms:created>
  <dcterms:modified xsi:type="dcterms:W3CDTF">2026-04-22T12:59:33Z</dcterms:modified>
</cp:coreProperties>
</file>