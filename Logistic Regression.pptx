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53B2-55AD-6B28-073E-439766C95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4D18F-537C-66CB-AB98-FEB782FF6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6131F-E3D9-7F0F-CCB6-A692379A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130D4-A964-2F0E-CD8A-FB68AAE5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6E130-CF6D-E551-4808-CFEA8D6A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08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666-4FC8-8B79-81A3-C32F3FB1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4BEC8-4729-B872-992F-D763805B9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7E67B-2B83-C824-69A7-A52229A8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46F68-9A06-5894-5404-6F69197B4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F04F1-68BA-3A98-1503-E60188BD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85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2702-85B3-D274-AF54-D4405635E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CA467-CA99-E423-7A32-F5142824C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ACDC5-150A-7AAA-9AD6-D4B19773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208F7-6C7F-023C-D216-751CC2AF6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B2CBD-3EA4-6593-C485-1416FD94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92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849A-7AD3-4AF9-C7AA-58D06C29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A12F2-F09F-CD35-EB2F-892167A72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F8821-C5E1-BE92-573D-77E79AE48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275BB-539B-3AA4-990C-076C6E06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7144B-720E-8D98-0D3F-90B75E9C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FC6B-B81B-7824-4CEC-481FA69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065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6363-AF7F-5161-C350-A748F42A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33337-DAA6-1F30-2442-C74AF52C6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2F7E3-04A0-D75E-7562-66B0D0086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C76D9-2F8B-E4B4-C784-14675DC6E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9CBC1-7F74-85A0-0C6D-29D27F689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CE493-CDC7-630D-4A6D-F055CF98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62782-685B-A0E8-4C65-48BB1387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304F4-4103-3B11-3828-42887F12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23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2F90F-0756-9C12-A1B3-67920497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D9451-AE58-4F75-A606-4DBD295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ACC41-12E2-610B-FD05-273C0A1C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8B6A2-84FD-12D6-BC48-E716BCEE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93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77BF2-EC52-F421-E634-4AAD7421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57DAA-15E9-AB50-8339-F7CB7264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E334B-88E8-EB33-7FFC-BF25E7A4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04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0E11-8A5A-B45C-55F1-EC78AEA7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4F0CC-10EA-556E-0AA7-73417F11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6276A-653F-C427-D0C3-ACAF383FB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E578B-74ED-0BBC-8DF7-9B70120E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CFCC5-A90C-8EC2-5307-9091DE5E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A87D0-B699-D58A-D19F-215AF28F9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97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A790-256B-577F-5DD5-259FB255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C2EDB-B8F0-A168-D6D1-7C8AF9DF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EE6AE-2BA1-9684-61FE-287B1F62E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29CCF-78C7-03C3-DF9C-0586E8D4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98988-DFB9-E2BF-85FF-0C22F4DA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B0283-BD59-E9C2-DE83-0F1A3CBE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81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6DFB-7E75-852B-0F48-A122B28A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518E1-075D-D0DB-74B4-92C345D0E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AA2E7-F89E-5497-2C3A-427A71FB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8EFEE-7B49-5D56-1EC3-CB629871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02F74-3CA0-F525-614E-1D81470ED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69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E89CAF-1848-A18C-1050-A3E9D091B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52554-A454-5FDA-ABE5-83DBAAA9F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791DD-2281-A085-0DB9-556A193B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1429-A5B2-CC42-61D4-F1F26797A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266FE-75FB-22BE-B761-8B3DCF25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54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E6CBE7-D3A0-DF00-1B29-7FA71E9A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C90AD-530E-CF3E-4D62-186856D64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8532-F0CA-7E9A-3B90-6178B28FA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3E70F-BDD3-47E9-BB43-DB8DB57658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D3A1C-4E89-E054-7E2D-505300C46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FAF2-4AAF-0087-41E4-8F46E53F3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C0B69-C06F-419B-885A-05E378B0236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BB992-F1C0-E0C6-3442-2F7B866A733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7863" y="66421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03323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26C4F1-FB06-7A77-DD09-6EF1072B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COVID-19 Screening Using Symptom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8A7C-6BF2-92D7-5011-8E3616B660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Problem Framing and Objective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Screening COVID-19 using self-reported symptoms to prioritize individuals for further testing or care.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Class Imbalance Challenge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Only 5.4% positive cases create difficulty in model training and evaluation due to data imbalance.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 err="1">
                <a:effectLst/>
              </a:rPr>
              <a:t>Modeling</a:t>
            </a:r>
            <a:r>
              <a:rPr lang="en-GB" b="1" dirty="0">
                <a:effectLst/>
              </a:rPr>
              <a:t> Approach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Logistic Regression chosen for interpretability and probabilistic outputs aiding healthcare decision-making.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Model Purpose and Use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Designed as a screening tool to flag potential cases, not for definitive diagnosis.</a:t>
            </a:r>
            <a:endParaRPr lang="en-GB" dirty="0"/>
          </a:p>
          <a:p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FFC19BE-E0D5-EA84-0ED3-6312063E73B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8520"/>
            <a:ext cx="5181600" cy="410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803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30E63-9C3C-D88D-F5AC-B553E3A9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Class Imbalance Effectively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7A63A-BB0F-D232-69A5-DF1E8CF27D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Preprocessing for Imbalanced Data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Target labels were cleaned and encoded into consistent binary format for accurate </a:t>
            </a:r>
            <a:r>
              <a:rPr lang="en-GB" dirty="0" err="1">
                <a:effectLst/>
              </a:rPr>
              <a:t>modeling</a:t>
            </a:r>
            <a:r>
              <a:rPr lang="en-GB" dirty="0">
                <a:effectLst/>
              </a:rPr>
              <a:t>. Feature selection focused on realistic symptom indicators available during screening.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Limitations of Accuracy Metric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Accuracy is misleading for imbalanced data as it may </a:t>
            </a:r>
            <a:r>
              <a:rPr lang="en-GB" dirty="0" err="1">
                <a:effectLst/>
              </a:rPr>
              <a:t>favor</a:t>
            </a:r>
            <a:r>
              <a:rPr lang="en-GB" dirty="0">
                <a:effectLst/>
              </a:rPr>
              <a:t> the dominant class while ignoring minority positives. Alternative metrics are necessary.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Use of Precision, Recall, and F1 Score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Evaluation focused on precision, recall, and F1-score to balance identifying positive cases with minimizing false alarms in classification.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PR-AUC as Primary Metric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PR-AUC was chosen for its suitability in ranking positive cases above negatives, with baseline reflecting positive class prevalence</a:t>
            </a:r>
            <a:endParaRPr lang="en-GB" dirty="0"/>
          </a:p>
          <a:p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8E055D-C746-72F9-17D3-4F557128A1A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" y="2291556"/>
            <a:ext cx="4733925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90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6705-2E85-46A9-DF08-E1CC44F0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Outcome and Threshold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1604E-29CF-A0F4-8E4E-93DABAF261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Threshold Evaluation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Multiple thresholds were evaluated to balance recall and precision in logistic regression outputs.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Selected Threshold Rationale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Threshold 0.5 was chosen as the operational point, balancing recall of 64% with precision of 19%.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Model Effectiveness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The model's PR-AUC exceeded baseline prevalence, confirming meaningful symptom data signal capture.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Visual Decision Support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effectLst/>
              </a:rPr>
              <a:t>Precision, recall, and F1-score are plotted to clarify the threshold selection to stakeholders.</a:t>
            </a:r>
            <a:endParaRPr lang="en-GB" dirty="0"/>
          </a:p>
          <a:p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1830CC-151A-54FA-ED03-FCE6EAA3A89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7" y="2339181"/>
            <a:ext cx="4695825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704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COVID-19 Screening Using Symptom Data</vt:lpstr>
      <vt:lpstr>Handling Class Imbalance Effectively</vt:lpstr>
      <vt:lpstr>Final Outcome and Threshold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Mullins</dc:creator>
  <cp:lastModifiedBy>Ivan Mullins</cp:lastModifiedBy>
  <cp:revision>1</cp:revision>
  <dcterms:created xsi:type="dcterms:W3CDTF">2026-04-22T12:05:48Z</dcterms:created>
  <dcterms:modified xsi:type="dcterms:W3CDTF">2026-04-22T12:11:17Z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de1571-6e3e-46cc-8858-878c59519771_Enabled">
    <vt:lpwstr>true</vt:lpwstr>
  </property>
  <property fmtid="{D5CDD505-2E9C-101B-9397-08002B2CF9AE}" pid="3" name="MSIP_Label_f1de1571-6e3e-46cc-8858-878c59519771_SetDate">
    <vt:lpwstr>2026-04-22T12:10:23Z</vt:lpwstr>
  </property>
  <property fmtid="{D5CDD505-2E9C-101B-9397-08002B2CF9AE}" pid="4" name="MSIP_Label_f1de1571-6e3e-46cc-8858-878c59519771_Method">
    <vt:lpwstr>Standard</vt:lpwstr>
  </property>
  <property fmtid="{D5CDD505-2E9C-101B-9397-08002B2CF9AE}" pid="5" name="MSIP_Label_f1de1571-6e3e-46cc-8858-878c59519771_Name">
    <vt:lpwstr>Confidential - Internal Only</vt:lpwstr>
  </property>
  <property fmtid="{D5CDD505-2E9C-101B-9397-08002B2CF9AE}" pid="6" name="MSIP_Label_f1de1571-6e3e-46cc-8858-878c59519771_SiteId">
    <vt:lpwstr>b2767241-fab5-454b-8b62-f6324650e316</vt:lpwstr>
  </property>
  <property fmtid="{D5CDD505-2E9C-101B-9397-08002B2CF9AE}" pid="7" name="MSIP_Label_f1de1571-6e3e-46cc-8858-878c59519771_ActionId">
    <vt:lpwstr>761ec185-1010-4574-87cc-70de0f79e162</vt:lpwstr>
  </property>
  <property fmtid="{D5CDD505-2E9C-101B-9397-08002B2CF9AE}" pid="8" name="MSIP_Label_f1de1571-6e3e-46cc-8858-878c59519771_ContentBits">
    <vt:lpwstr>2</vt:lpwstr>
  </property>
  <property fmtid="{D5CDD505-2E9C-101B-9397-08002B2CF9AE}" pid="9" name="MSIP_Label_f1de1571-6e3e-46cc-8858-878c59519771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</vt:lpwstr>
  </property>
</Properties>
</file>